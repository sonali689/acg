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4910328"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66928" y="566928"/>
            <a:ext cx="3840480" cy="182880"/>
          </a:xfrm>
          <a:prstGeom prst="rect">
            <a:avLst/>
          </a:prstGeom>
          <a:noFill/>
        </p:spPr>
        <p:txBody>
          <a:bodyPr wrap="square" lIns="0" rIns="0" tIns="0" bIns="0">
            <a:spAutoFit/>
          </a:bodyPr>
          <a:lstStyle/>
          <a:p>
            <a:pPr algn="l">
              <a:lnSpc>
                <a:spcPct val="115000"/>
              </a:lnSpc>
              <a:defRPr sz="850" b="1" i="0">
                <a:solidFill>
                  <a:srgbClr val="FFFFFF"/>
                </a:solidFill>
                <a:latin typeface="Poppins"/>
              </a:defRPr>
            </a:pPr>
            <a:r>
              <a:t>A C G  ·  F I L M S   &amp;   F O I L S</a:t>
            </a:r>
          </a:p>
        </p:txBody>
      </p:sp>
      <p:sp>
        <p:nvSpPr>
          <p:cNvPr id="5" name="TextBox 4"/>
          <p:cNvSpPr txBox="1"/>
          <p:nvPr/>
        </p:nvSpPr>
        <p:spPr>
          <a:xfrm>
            <a:off x="566928" y="777240"/>
            <a:ext cx="3840480" cy="201168"/>
          </a:xfrm>
          <a:prstGeom prst="rect">
            <a:avLst/>
          </a:prstGeom>
          <a:noFill/>
        </p:spPr>
        <p:txBody>
          <a:bodyPr wrap="square" lIns="0" rIns="0" tIns="0" bIns="0">
            <a:spAutoFit/>
          </a:bodyPr>
          <a:lstStyle/>
          <a:p>
            <a:pPr algn="l">
              <a:lnSpc>
                <a:spcPct val="115000"/>
              </a:lnSpc>
              <a:defRPr sz="950" b="0" i="0">
                <a:solidFill>
                  <a:srgbClr val="F5C8D0"/>
                </a:solidFill>
                <a:latin typeface="Poppins"/>
              </a:defRPr>
            </a:pPr>
            <a:r>
              <a:t>Digital &amp; AI | Procurement | Strategic Sourcing</a:t>
            </a:r>
          </a:p>
        </p:txBody>
      </p:sp>
      <p:sp>
        <p:nvSpPr>
          <p:cNvPr id="6" name="TextBox 5"/>
          <p:cNvSpPr txBox="1"/>
          <p:nvPr/>
        </p:nvSpPr>
        <p:spPr>
          <a:xfrm>
            <a:off x="530352" y="1874519"/>
            <a:ext cx="4206240" cy="914400"/>
          </a:xfrm>
          <a:prstGeom prst="rect">
            <a:avLst/>
          </a:prstGeom>
          <a:noFill/>
        </p:spPr>
        <p:txBody>
          <a:bodyPr wrap="square" lIns="0" rIns="0" tIns="0" bIns="0">
            <a:spAutoFit/>
          </a:bodyPr>
          <a:lstStyle/>
          <a:p>
            <a:pPr algn="l">
              <a:lnSpc>
                <a:spcPct val="115000"/>
              </a:lnSpc>
              <a:defRPr sz="4200" b="1" i="0">
                <a:solidFill>
                  <a:srgbClr val="FFFFFF"/>
                </a:solidFill>
                <a:latin typeface="Poppins"/>
              </a:defRPr>
            </a:pPr>
            <a:r>
              <a:t>Smart Buy</a:t>
            </a:r>
          </a:p>
        </p:txBody>
      </p:sp>
      <p:sp>
        <p:nvSpPr>
          <p:cNvPr id="7" name="TextBox 6"/>
          <p:cNvSpPr txBox="1"/>
          <p:nvPr/>
        </p:nvSpPr>
        <p:spPr>
          <a:xfrm>
            <a:off x="566928" y="2834640"/>
            <a:ext cx="3931920" cy="822960"/>
          </a:xfrm>
          <a:prstGeom prst="rect">
            <a:avLst/>
          </a:prstGeom>
          <a:noFill/>
        </p:spPr>
        <p:txBody>
          <a:bodyPr wrap="square" lIns="0" rIns="0" tIns="0" bIns="0">
            <a:spAutoFit/>
          </a:bodyPr>
          <a:lstStyle/>
          <a:p>
            <a:pPr algn="l">
              <a:lnSpc>
                <a:spcPct val="130000"/>
              </a:lnSpc>
              <a:defRPr sz="1350" b="0" i="0">
                <a:solidFill>
                  <a:srgbClr val="FBDDE2"/>
                </a:solidFill>
                <a:latin typeface="Poppins"/>
              </a:defRPr>
            </a:pPr>
            <a:r>
              <a:t>AI-based raw material price prediction</a:t>
            </a:r>
          </a:p>
          <a:p>
            <a:pPr algn="l">
              <a:lnSpc>
                <a:spcPct val="130000"/>
              </a:lnSpc>
              <a:defRPr sz="1350" b="0" i="0">
                <a:solidFill>
                  <a:srgbClr val="FBDDE2"/>
                </a:solidFill>
                <a:latin typeface="Poppins"/>
              </a:defRPr>
            </a:pPr>
            <a:r>
              <a:t>for aluminium and PVC resin</a:t>
            </a:r>
          </a:p>
        </p:txBody>
      </p:sp>
      <p:sp>
        <p:nvSpPr>
          <p:cNvPr id="8" name="TextBox 7"/>
          <p:cNvSpPr txBox="1"/>
          <p:nvPr/>
        </p:nvSpPr>
        <p:spPr>
          <a:xfrm>
            <a:off x="566928" y="3931920"/>
            <a:ext cx="3931920" cy="594360"/>
          </a:xfrm>
          <a:prstGeom prst="rect">
            <a:avLst/>
          </a:prstGeom>
          <a:noFill/>
        </p:spPr>
        <p:txBody>
          <a:bodyPr wrap="square" lIns="0" rIns="0" tIns="0" bIns="0">
            <a:spAutoFit/>
          </a:bodyPr>
          <a:lstStyle/>
          <a:p>
            <a:pPr algn="l">
              <a:lnSpc>
                <a:spcPct val="130000"/>
              </a:lnSpc>
              <a:defRPr sz="1050" b="1" i="0">
                <a:solidFill>
                  <a:srgbClr val="FFFFFF"/>
                </a:solidFill>
                <a:latin typeface="Poppins"/>
              </a:defRPr>
            </a:pPr>
            <a:r>
              <a:t>A 6-month forward pricing and decision system</a:t>
            </a:r>
          </a:p>
          <a:p>
            <a:pPr algn="l">
              <a:lnSpc>
                <a:spcPct val="130000"/>
              </a:lnSpc>
              <a:defRPr sz="1050" b="1" i="0">
                <a:solidFill>
                  <a:srgbClr val="FFFFFF"/>
                </a:solidFill>
                <a:latin typeface="Poppins"/>
              </a:defRPr>
            </a:pPr>
            <a:r>
              <a:t>that tells buyers when to buy ahead, buy normal,</a:t>
            </a:r>
          </a:p>
          <a:p>
            <a:pPr algn="l">
              <a:lnSpc>
                <a:spcPct val="130000"/>
              </a:lnSpc>
              <a:defRPr sz="1050" b="1" i="0">
                <a:solidFill>
                  <a:srgbClr val="FFFFFF"/>
                </a:solidFill>
                <a:latin typeface="Poppins"/>
              </a:defRPr>
            </a:pPr>
            <a:r>
              <a:t>or defer — net of carrying cost.</a:t>
            </a:r>
          </a:p>
        </p:txBody>
      </p:sp>
      <p:sp>
        <p:nvSpPr>
          <p:cNvPr id="9" name="TextBox 8"/>
          <p:cNvSpPr txBox="1"/>
          <p:nvPr/>
        </p:nvSpPr>
        <p:spPr>
          <a:xfrm>
            <a:off x="566928" y="5760720"/>
            <a:ext cx="3931920" cy="219456"/>
          </a:xfrm>
          <a:prstGeom prst="rect">
            <a:avLst/>
          </a:prstGeom>
          <a:noFill/>
        </p:spPr>
        <p:txBody>
          <a:bodyPr wrap="square" lIns="0" rIns="0" tIns="0" bIns="0">
            <a:spAutoFit/>
          </a:bodyPr>
          <a:lstStyle/>
          <a:p>
            <a:pPr algn="l">
              <a:lnSpc>
                <a:spcPct val="115000"/>
              </a:lnSpc>
              <a:defRPr sz="950" b="1" i="0">
                <a:solidFill>
                  <a:srgbClr val="FFFFFF"/>
                </a:solidFill>
                <a:latin typeface="Poppins"/>
              </a:defRPr>
            </a:pPr>
            <a:r>
              <a:t>Round 2  ·  Technology Category</a:t>
            </a:r>
          </a:p>
        </p:txBody>
      </p:sp>
      <p:sp>
        <p:nvSpPr>
          <p:cNvPr id="10" name="TextBox 9"/>
          <p:cNvSpPr txBox="1"/>
          <p:nvPr/>
        </p:nvSpPr>
        <p:spPr>
          <a:xfrm>
            <a:off x="566928" y="5998464"/>
            <a:ext cx="3931920" cy="219456"/>
          </a:xfrm>
          <a:prstGeom prst="rect">
            <a:avLst/>
          </a:prstGeom>
          <a:noFill/>
        </p:spPr>
        <p:txBody>
          <a:bodyPr wrap="square" lIns="0" rIns="0" tIns="0" bIns="0">
            <a:spAutoFit/>
          </a:bodyPr>
          <a:lstStyle/>
          <a:p>
            <a:pPr algn="l">
              <a:lnSpc>
                <a:spcPct val="115000"/>
              </a:lnSpc>
              <a:defRPr sz="900" b="0" i="0">
                <a:solidFill>
                  <a:srgbClr val="F5C8D0"/>
                </a:solidFill>
                <a:latin typeface="Poppins"/>
              </a:defRPr>
            </a:pPr>
            <a:r>
              <a:t>Validated prototype  ·  September 2026</a:t>
            </a:r>
          </a:p>
        </p:txBody>
      </p:sp>
      <p:sp>
        <p:nvSpPr>
          <p:cNvPr id="11" name="TextBox 10"/>
          <p:cNvSpPr txBox="1"/>
          <p:nvPr/>
        </p:nvSpPr>
        <p:spPr>
          <a:xfrm>
            <a:off x="5440680" y="566928"/>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T H E   B U S I N E S S   I M P A C T</a:t>
            </a:r>
          </a:p>
        </p:txBody>
      </p:sp>
      <p:sp>
        <p:nvSpPr>
          <p:cNvPr id="12" name="TextBox 11"/>
          <p:cNvSpPr txBox="1"/>
          <p:nvPr/>
        </p:nvSpPr>
        <p:spPr>
          <a:xfrm>
            <a:off x="5440680" y="804672"/>
            <a:ext cx="6263640" cy="914400"/>
          </a:xfrm>
          <a:prstGeom prst="rect">
            <a:avLst/>
          </a:prstGeom>
          <a:noFill/>
        </p:spPr>
        <p:txBody>
          <a:bodyPr wrap="square" lIns="0" rIns="0" tIns="0" bIns="0">
            <a:spAutoFit/>
          </a:bodyPr>
          <a:lstStyle/>
          <a:p>
            <a:pPr algn="l">
              <a:lnSpc>
                <a:spcPct val="135000"/>
              </a:lnSpc>
              <a:defRPr sz="1050" b="0" i="0">
                <a:solidFill>
                  <a:srgbClr val="4A4D55"/>
                </a:solidFill>
                <a:latin typeface="Poppins"/>
              </a:defRPr>
            </a:pPr>
            <a:r>
              <a:t>Aluminium and PVC resin are roughly 70% of manufacturing cost for pharmaceutical blister packs. A 1% move in RM price is ~0.7% of total manufacturing cost. Today, both are bought on judgement with no forward view of price.</a:t>
            </a:r>
          </a:p>
        </p:txBody>
      </p:sp>
      <p:cxnSp>
        <p:nvCxnSpPr>
          <p:cNvPr id="13" name="Connector 12"/>
          <p:cNvCxnSpPr/>
          <p:nvPr/>
        </p:nvCxnSpPr>
        <p:spPr>
          <a:xfrm>
            <a:off x="544068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4068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Poppins"/>
              </a:defRPr>
            </a:pPr>
            <a:r>
              <a:t>₹1.68 Cr</a:t>
            </a:r>
          </a:p>
        </p:txBody>
      </p:sp>
      <p:sp>
        <p:nvSpPr>
          <p:cNvPr id="15" name="TextBox 14"/>
          <p:cNvSpPr txBox="1"/>
          <p:nvPr/>
        </p:nvSpPr>
        <p:spPr>
          <a:xfrm>
            <a:off x="544068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PVC saving per ₹100 Cr of annual</a:t>
            </a:r>
          </a:p>
          <a:p>
            <a:pPr algn="l">
              <a:lnSpc>
                <a:spcPct val="122000"/>
              </a:lnSpc>
              <a:defRPr sz="760" b="0" i="0">
                <a:solidFill>
                  <a:srgbClr val="7C8089"/>
                </a:solidFill>
                <a:latin typeface="Poppins"/>
              </a:defRPr>
            </a:pPr>
            <a:r>
              <a:t>spend, net of carrying cost</a:t>
            </a:r>
          </a:p>
        </p:txBody>
      </p:sp>
      <p:cxnSp>
        <p:nvCxnSpPr>
          <p:cNvPr id="16" name="Connector 15"/>
          <p:cNvCxnSpPr/>
          <p:nvPr/>
        </p:nvCxnSpPr>
        <p:spPr>
          <a:xfrm>
            <a:off x="7635240" y="1965960"/>
            <a:ext cx="19659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35240" y="2048255"/>
            <a:ext cx="1965960" cy="347472"/>
          </a:xfrm>
          <a:prstGeom prst="rect">
            <a:avLst/>
          </a:prstGeom>
          <a:noFill/>
        </p:spPr>
        <p:txBody>
          <a:bodyPr wrap="square" lIns="0" rIns="0" tIns="0" bIns="0">
            <a:spAutoFit/>
          </a:bodyPr>
          <a:lstStyle/>
          <a:p>
            <a:pPr algn="l">
              <a:lnSpc>
                <a:spcPct val="115000"/>
              </a:lnSpc>
              <a:defRPr sz="2000" b="1" i="0">
                <a:solidFill>
                  <a:srgbClr val="C8102E"/>
                </a:solidFill>
                <a:latin typeface="Poppins"/>
              </a:defRPr>
            </a:pPr>
            <a:r>
              <a:t>71%</a:t>
            </a:r>
          </a:p>
        </p:txBody>
      </p:sp>
      <p:sp>
        <p:nvSpPr>
          <p:cNvPr id="18" name="TextBox 17"/>
          <p:cNvSpPr txBox="1"/>
          <p:nvPr/>
        </p:nvSpPr>
        <p:spPr>
          <a:xfrm>
            <a:off x="7635240" y="2520695"/>
            <a:ext cx="196596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aluminium directional accuracy</a:t>
            </a:r>
          </a:p>
          <a:p>
            <a:pPr algn="l">
              <a:lnSpc>
                <a:spcPct val="122000"/>
              </a:lnSpc>
              <a:defRPr sz="760" b="0" i="0">
                <a:solidFill>
                  <a:srgbClr val="7C8089"/>
                </a:solidFill>
                <a:latin typeface="Poppins"/>
              </a:defRPr>
            </a:pPr>
            <a:r>
              <a:t>at three months, against a 62% gate</a:t>
            </a:r>
          </a:p>
        </p:txBody>
      </p:sp>
      <p:cxnSp>
        <p:nvCxnSpPr>
          <p:cNvPr id="19" name="Connector 18"/>
          <p:cNvCxnSpPr/>
          <p:nvPr/>
        </p:nvCxnSpPr>
        <p:spPr>
          <a:xfrm>
            <a:off x="9829800" y="1965960"/>
            <a:ext cx="18745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829800" y="2048255"/>
            <a:ext cx="1874519" cy="347472"/>
          </a:xfrm>
          <a:prstGeom prst="rect">
            <a:avLst/>
          </a:prstGeom>
          <a:noFill/>
        </p:spPr>
        <p:txBody>
          <a:bodyPr wrap="square" lIns="0" rIns="0" tIns="0" bIns="0">
            <a:spAutoFit/>
          </a:bodyPr>
          <a:lstStyle/>
          <a:p>
            <a:pPr algn="l">
              <a:lnSpc>
                <a:spcPct val="115000"/>
              </a:lnSpc>
              <a:defRPr sz="2000" b="1" i="0">
                <a:solidFill>
                  <a:srgbClr val="C8102E"/>
                </a:solidFill>
                <a:latin typeface="Poppins"/>
              </a:defRPr>
            </a:pPr>
            <a:r>
              <a:t>−0.5 d</a:t>
            </a:r>
          </a:p>
        </p:txBody>
      </p:sp>
      <p:sp>
        <p:nvSpPr>
          <p:cNvPr id="21" name="TextBox 20"/>
          <p:cNvSpPr txBox="1"/>
          <p:nvPr/>
        </p:nvSpPr>
        <p:spPr>
          <a:xfrm>
            <a:off x="9829800" y="2520695"/>
            <a:ext cx="1874519"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PVC inventory days reduced</a:t>
            </a:r>
          </a:p>
          <a:p>
            <a:pPr algn="l">
              <a:lnSpc>
                <a:spcPct val="122000"/>
              </a:lnSpc>
              <a:defRPr sz="760" b="0" i="0">
                <a:solidFill>
                  <a:srgbClr val="7C8089"/>
                </a:solidFill>
                <a:latin typeface="Poppins"/>
              </a:defRPr>
            </a:pPr>
            <a:r>
              <a:t>while saving money, not adding stock</a:t>
            </a:r>
          </a:p>
        </p:txBody>
      </p:sp>
      <p:cxnSp>
        <p:nvCxnSpPr>
          <p:cNvPr id="22" name="Connector 21"/>
          <p:cNvCxnSpPr/>
          <p:nvPr/>
        </p:nvCxnSpPr>
        <p:spPr>
          <a:xfrm>
            <a:off x="5440680" y="32918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40680" y="34290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W H A T   R O U N D   2   P R O V E S</a:t>
            </a:r>
          </a:p>
        </p:txBody>
      </p:sp>
      <p:sp>
        <p:nvSpPr>
          <p:cNvPr id="24" name="TextBox 23"/>
          <p:cNvSpPr txBox="1"/>
          <p:nvPr/>
        </p:nvSpPr>
        <p:spPr>
          <a:xfrm>
            <a:off x="5440680" y="3657600"/>
            <a:ext cx="6263640" cy="1097280"/>
          </a:xfrm>
          <a:prstGeom prst="rect">
            <a:avLst/>
          </a:prstGeom>
          <a:noFill/>
        </p:spPr>
        <p:txBody>
          <a:bodyPr wrap="square" lIns="0" rIns="0" tIns="0" bIns="0">
            <a:spAutoFit/>
          </a:bodyPr>
          <a:lstStyle/>
          <a:p>
            <a:pPr algn="l">
              <a:lnSpc>
                <a:spcPct val="135000"/>
              </a:lnSpc>
              <a:defRPr sz="950" b="0" i="0">
                <a:solidFill>
                  <a:srgbClr val="4A4D55"/>
                </a:solidFill>
                <a:latin typeface="Poppins"/>
              </a:defRPr>
            </a:pPr>
            <a:r>
              <a:t>Round 1 set thresholds before modelling and claimed no numbers. This round executes the system on historical data: 66 leak-free rolling-origin folds from 2018 to 2024, covering COVID, the supply-chain crisis, and the Ukraine commodity spike. Eight model families scored against a naïve baseline, a 66-month buying replay in rupees, and a working decision dashboard. We report every pre-set gate unchanged — including the ones we missed.</a:t>
            </a:r>
          </a:p>
        </p:txBody>
      </p:sp>
      <p:cxnSp>
        <p:nvCxnSpPr>
          <p:cNvPr id="25" name="Connector 24"/>
          <p:cNvCxnSpPr/>
          <p:nvPr/>
        </p:nvCxnSpPr>
        <p:spPr>
          <a:xfrm>
            <a:off x="5440680" y="4892040"/>
            <a:ext cx="62636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40680" y="5029200"/>
            <a:ext cx="6309360"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T E A M</a:t>
            </a:r>
          </a:p>
        </p:txBody>
      </p:sp>
      <p:graphicFrame>
        <p:nvGraphicFramePr>
          <p:cNvPr id="27" name="Table 26"/>
          <p:cNvGraphicFramePr>
            <a:graphicFrameLocks noGrp="1"/>
          </p:cNvGraphicFramePr>
          <p:nvPr/>
        </p:nvGraphicFramePr>
        <p:xfrm>
          <a:off x="5440680" y="5257800"/>
          <a:ext cx="6263640" cy="1261872"/>
        </p:xfrm>
        <a:graphic>
          <a:graphicData uri="http://schemas.openxmlformats.org/drawingml/2006/table">
            <a:tbl>
              <a:tblPr>
                <a:tableStyleId>{5C22544A-7EE6-4342-B048-85BDC9FD1C3A}</a:tableStyleId>
              </a:tblPr>
              <a:tblGrid>
                <a:gridCol w="1463040"/>
                <a:gridCol w="4800600"/>
              </a:tblGrid>
              <a:tr h="237744">
                <a:tc>
                  <a:txBody>
                    <a:bodyPr/>
                    <a:lstStyle/>
                    <a:p>
                      <a:pPr algn="l">
                        <a:defRPr sz="760" b="1">
                          <a:solidFill>
                            <a:srgbClr val="FFFFFF"/>
                          </a:solidFill>
                          <a:latin typeface="Poppins"/>
                        </a:defRPr>
                      </a:pPr>
                      <a:r>
                        <a:t>Team</a:t>
                      </a:r>
                    </a:p>
                  </a:txBody>
                  <a:tcPr marL="54864" marR="54864" marT="18288" marB="18288" anchor="ctr">
                    <a:solidFill>
                      <a:srgbClr val="C8102E"/>
                    </a:solidFill>
                  </a:tcPr>
                </a:tc>
                <a:tc>
                  <a:txBody>
                    <a:bodyPr/>
                    <a:lstStyle/>
                    <a:p>
                      <a:pPr algn="l">
                        <a:defRPr sz="760" b="1">
                          <a:solidFill>
                            <a:srgbClr val="FFFFFF"/>
                          </a:solidFill>
                          <a:latin typeface="Poppins"/>
                        </a:defRPr>
                      </a:pPr>
                      <a:r>
                        <a:t>Case Scouts</a:t>
                      </a:r>
                    </a:p>
                  </a:txBody>
                  <a:tcPr marL="54864" marR="54864" marT="18288" marB="18288" anchor="ctr">
                    <a:solidFill>
                      <a:srgbClr val="C8102E"/>
                    </a:solidFill>
                  </a:tcPr>
                </a:tc>
              </a:tr>
              <a:tr h="256032">
                <a:tc>
                  <a:txBody>
                    <a:bodyPr/>
                    <a:lstStyle/>
                    <a:p>
                      <a:pPr algn="l">
                        <a:defRPr sz="800" b="0">
                          <a:solidFill>
                            <a:srgbClr val="4A4D55"/>
                          </a:solidFill>
                          <a:latin typeface="Poppins"/>
                        </a:defRPr>
                      </a:pPr>
                      <a:r>
                        <a:t>Members</a:t>
                      </a:r>
                    </a:p>
                  </a:txBody>
                  <a:tcPr marL="54864" marR="54864" marT="13716" marB="13716" anchor="ctr">
                    <a:solidFill>
                      <a:srgbClr val="FFFFFF"/>
                    </a:solidFill>
                  </a:tcPr>
                </a:tc>
                <a:tc>
                  <a:txBody>
                    <a:bodyPr/>
                    <a:lstStyle/>
                    <a:p>
                      <a:pPr algn="l">
                        <a:defRPr sz="800" b="0">
                          <a:solidFill>
                            <a:srgbClr val="4A4D55"/>
                          </a:solidFill>
                          <a:latin typeface="Poppins"/>
                        </a:defRPr>
                      </a:pPr>
                      <a:r>
                        <a:t>Himanshu Mahale, Rudransh Verma, Sonali Kumari</a:t>
                      </a:r>
                    </a:p>
                  </a:txBody>
                  <a:tcPr marL="54864" marR="54864" marT="13716" marB="13716" anchor="ctr">
                    <a:solidFill>
                      <a:srgbClr val="FFFFFF"/>
                    </a:solidFill>
                  </a:tcPr>
                </a:tc>
              </a:tr>
              <a:tr h="256032">
                <a:tc>
                  <a:txBody>
                    <a:bodyPr/>
                    <a:lstStyle/>
                    <a:p>
                      <a:pPr algn="l">
                        <a:defRPr sz="800" b="0">
                          <a:solidFill>
                            <a:srgbClr val="4A4D55"/>
                          </a:solidFill>
                          <a:latin typeface="Poppins"/>
                        </a:defRPr>
                      </a:pPr>
                      <a:r>
                        <a:t>Institute</a:t>
                      </a:r>
                    </a:p>
                  </a:txBody>
                  <a:tcPr marL="54864" marR="54864" marT="13716" marB="13716" anchor="ctr">
                    <a:solidFill>
                      <a:srgbClr val="FFFFFF"/>
                    </a:solidFill>
                  </a:tcPr>
                </a:tc>
                <a:tc>
                  <a:txBody>
                    <a:bodyPr/>
                    <a:lstStyle/>
                    <a:p>
                      <a:pPr algn="l">
                        <a:defRPr sz="800" b="0">
                          <a:solidFill>
                            <a:srgbClr val="4A4D55"/>
                          </a:solidFill>
                          <a:latin typeface="Poppins"/>
                        </a:defRPr>
                      </a:pPr>
                      <a:r>
                        <a:t>Indian Institute of Technology Kanpur, 2026</a:t>
                      </a:r>
                    </a:p>
                  </a:txBody>
                  <a:tcPr marL="54864" marR="54864" marT="13716" marB="13716" anchor="ctr">
                    <a:solidFill>
                      <a:srgbClr val="FFFFFF"/>
                    </a:solidFill>
                  </a:tcPr>
                </a:tc>
              </a:tr>
              <a:tr h="256032">
                <a:tc>
                  <a:txBody>
                    <a:bodyPr/>
                    <a:lstStyle/>
                    <a:p>
                      <a:pPr algn="l">
                        <a:defRPr sz="800" b="0">
                          <a:solidFill>
                            <a:srgbClr val="4A4D55"/>
                          </a:solidFill>
                          <a:latin typeface="Poppins"/>
                        </a:defRPr>
                      </a:pPr>
                      <a:r>
                        <a:t>Contact</a:t>
                      </a:r>
                    </a:p>
                  </a:txBody>
                  <a:tcPr marL="54864" marR="54864" marT="13716" marB="13716" anchor="ctr">
                    <a:solidFill>
                      <a:srgbClr val="FFFFFF"/>
                    </a:solidFill>
                  </a:tcPr>
                </a:tc>
                <a:tc>
                  <a:txBody>
                    <a:bodyPr/>
                    <a:lstStyle/>
                    <a:p>
                      <a:pPr algn="l">
                        <a:defRPr sz="800" b="0">
                          <a:solidFill>
                            <a:srgbClr val="4A4D55"/>
                          </a:solidFill>
                          <a:latin typeface="Poppins"/>
                        </a:defRPr>
                      </a:pPr>
                      <a:r>
                        <a:t>sonali23@iitk.ac.in,  +91 87899 84718</a:t>
                      </a:r>
                    </a:p>
                  </a:txBody>
                  <a:tcPr marL="54864" marR="54864" marT="13716" marB="13716" anchor="ctr">
                    <a:solidFill>
                      <a:srgbClr val="FFFFFF"/>
                    </a:solidFill>
                  </a:tcPr>
                </a:tc>
              </a:tr>
              <a:tr h="256032">
                <a:tc>
                  <a:txBody>
                    <a:bodyPr/>
                    <a:lstStyle/>
                    <a:p>
                      <a:pPr algn="l">
                        <a:defRPr sz="800" b="0">
                          <a:solidFill>
                            <a:srgbClr val="4A4D55"/>
                          </a:solidFill>
                          <a:latin typeface="Poppins"/>
                        </a:defRPr>
                      </a:pPr>
                      <a:r>
                        <a:t>Prototype</a:t>
                      </a:r>
                    </a:p>
                  </a:txBody>
                  <a:tcPr marL="54864" marR="54864" marT="13716" marB="13716" anchor="ctr">
                    <a:solidFill>
                      <a:srgbClr val="FFFFFF"/>
                    </a:solidFill>
                  </a:tcPr>
                </a:tc>
                <a:tc>
                  <a:txBody>
                    <a:bodyPr/>
                    <a:lstStyle/>
                    <a:p>
                      <a:pPr algn="l">
                        <a:defRPr sz="800" b="0">
                          <a:solidFill>
                            <a:srgbClr val="4A4D55"/>
                          </a:solidFill>
                          <a:latin typeface="Poppins"/>
                        </a:defRPr>
                      </a:pPr>
                      <a:r>
                        <a:t>Live dashboard, 15-slide deck, reproducible pipeline</a:t>
                      </a:r>
                    </a:p>
                  </a:txBody>
                  <a:tcPr marL="54864" marR="54864" marT="13716" marB="13716" anchor="ctr">
                    <a:solidFill>
                      <a:srgbClr val="FFFFFF"/>
                    </a:solidFill>
                  </a:tcPr>
                </a:tc>
              </a:tr>
            </a:tbl>
          </a:graphicData>
        </a:graphic>
      </p:graphicFrame>
      <p:sp>
        <p:nvSpPr>
          <p:cNvPr id="28" name="TextBox 27"/>
          <p:cNvSpPr txBox="1"/>
          <p:nvPr/>
        </p:nvSpPr>
        <p:spPr>
          <a:xfrm>
            <a:off x="5440680" y="6144768"/>
            <a:ext cx="6263640" cy="274320"/>
          </a:xfrm>
          <a:prstGeom prst="rect">
            <a:avLst/>
          </a:prstGeom>
          <a:noFill/>
        </p:spPr>
        <p:txBody>
          <a:bodyPr wrap="square" lIns="0" rIns="0" tIns="0" bIns="0">
            <a:spAutoFit/>
          </a:bodyPr>
          <a:lstStyle/>
          <a:p>
            <a:pPr algn="l">
              <a:lnSpc>
                <a:spcPct val="115000"/>
              </a:lnSpc>
              <a:defRPr sz="600" b="0" i="0">
                <a:solidFill>
                  <a:srgbClr val="7C8089"/>
                </a:solidFill>
                <a:latin typeface="Poppins"/>
              </a:defRPr>
            </a:pPr>
            <a:r>
              <a:t>Problem statement: "Smart Buy – AI based Raw Material Price Prediction", ACG Films &amp; Foils, Digital &amp; AI | Procurement | Strategic Sourcing.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30352"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Problem</a:t>
            </a:r>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2  ·  P R O B L E M</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Aluminium and PVC resin are about 70% of manufacturing cost, and today both are bought</a:t>
            </a:r>
          </a:p>
          <a:p>
            <a:pPr algn="l">
              <a:lnSpc>
                <a:spcPct val="112000"/>
              </a:lnSpc>
              <a:defRPr sz="1700" b="1" i="0">
                <a:solidFill>
                  <a:srgbClr val="16181D"/>
                </a:solidFill>
                <a:latin typeface="Poppins"/>
              </a:defRPr>
            </a:pPr>
            <a:r>
              <a:t>on judgement with no view of where prices are going</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How buying works today, and where it breaks</a:t>
            </a:r>
          </a:p>
        </p:txBody>
      </p:sp>
      <p:sp>
        <p:nvSpPr>
          <p:cNvPr id="15" name="Rectangle 14"/>
          <p:cNvSpPr/>
          <p:nvPr/>
        </p:nvSpPr>
        <p:spPr>
          <a:xfrm>
            <a:off x="502920"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94360"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1</a:t>
            </a:r>
          </a:p>
        </p:txBody>
      </p:sp>
      <p:sp>
        <p:nvSpPr>
          <p:cNvPr id="17" name="TextBox 16"/>
          <p:cNvSpPr txBox="1"/>
          <p:nvPr/>
        </p:nvSpPr>
        <p:spPr>
          <a:xfrm>
            <a:off x="813816"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Demand forecast</a:t>
            </a:r>
          </a:p>
        </p:txBody>
      </p:sp>
      <p:sp>
        <p:nvSpPr>
          <p:cNvPr id="18" name="TextBox 17"/>
          <p:cNvSpPr txBox="1"/>
          <p:nvPr/>
        </p:nvSpPr>
        <p:spPr>
          <a:xfrm>
            <a:off x="594360"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Sales forecast, agreed with Operations</a:t>
            </a:r>
          </a:p>
        </p:txBody>
      </p:sp>
      <p:sp>
        <p:nvSpPr>
          <p:cNvPr id="19" name="TextBox 18"/>
          <p:cNvSpPr txBox="1"/>
          <p:nvPr/>
        </p:nvSpPr>
        <p:spPr>
          <a:xfrm>
            <a:off x="594360"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Poppins"/>
              </a:defRPr>
            </a:pPr>
            <a:r>
              <a:t>⚠  Manual, macro-level, built from past sales.</a:t>
            </a:r>
          </a:p>
        </p:txBody>
      </p:sp>
      <p:sp>
        <p:nvSpPr>
          <p:cNvPr id="20" name="Rectangle 19"/>
          <p:cNvSpPr/>
          <p:nvPr/>
        </p:nvSpPr>
        <p:spPr>
          <a:xfrm>
            <a:off x="2002536"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093976"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2</a:t>
            </a:r>
          </a:p>
        </p:txBody>
      </p:sp>
      <p:sp>
        <p:nvSpPr>
          <p:cNvPr id="22" name="TextBox 21"/>
          <p:cNvSpPr txBox="1"/>
          <p:nvPr/>
        </p:nvSpPr>
        <p:spPr>
          <a:xfrm>
            <a:off x="2313432"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RM requirement</a:t>
            </a:r>
          </a:p>
        </p:txBody>
      </p:sp>
      <p:sp>
        <p:nvSpPr>
          <p:cNvPr id="23" name="TextBox 22"/>
          <p:cNvSpPr txBox="1"/>
          <p:nvPr/>
        </p:nvSpPr>
        <p:spPr>
          <a:xfrm>
            <a:off x="2093976"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Worked out from the Bill of Materials</a:t>
            </a:r>
          </a:p>
        </p:txBody>
      </p:sp>
      <p:sp>
        <p:nvSpPr>
          <p:cNvPr id="24" name="Rectangle 23"/>
          <p:cNvSpPr/>
          <p:nvPr/>
        </p:nvSpPr>
        <p:spPr>
          <a:xfrm>
            <a:off x="3502152"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593592"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3</a:t>
            </a:r>
          </a:p>
        </p:txBody>
      </p:sp>
      <p:sp>
        <p:nvSpPr>
          <p:cNvPr id="26" name="TextBox 25"/>
          <p:cNvSpPr txBox="1"/>
          <p:nvPr/>
        </p:nvSpPr>
        <p:spPr>
          <a:xfrm>
            <a:off x="3813048"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Inventory check</a:t>
            </a:r>
          </a:p>
        </p:txBody>
      </p:sp>
      <p:sp>
        <p:nvSpPr>
          <p:cNvPr id="27" name="TextBox 26"/>
          <p:cNvSpPr txBox="1"/>
          <p:nvPr/>
        </p:nvSpPr>
        <p:spPr>
          <a:xfrm>
            <a:off x="3593592"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On-hand plus in-transit raw material</a:t>
            </a:r>
          </a:p>
        </p:txBody>
      </p:sp>
      <p:sp>
        <p:nvSpPr>
          <p:cNvPr id="28" name="TextBox 27"/>
          <p:cNvSpPr txBox="1"/>
          <p:nvPr/>
        </p:nvSpPr>
        <p:spPr>
          <a:xfrm>
            <a:off x="3593592"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Poppins"/>
              </a:defRPr>
            </a:pPr>
            <a:r>
              <a:t>⚠  No forecast exists for either material.</a:t>
            </a:r>
          </a:p>
        </p:txBody>
      </p:sp>
      <p:sp>
        <p:nvSpPr>
          <p:cNvPr id="29" name="Rectangle 28"/>
          <p:cNvSpPr/>
          <p:nvPr/>
        </p:nvSpPr>
        <p:spPr>
          <a:xfrm>
            <a:off x="5001768" y="2084831"/>
            <a:ext cx="1389888" cy="841248"/>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93207" y="2157984"/>
            <a:ext cx="274320" cy="274320"/>
          </a:xfrm>
          <a:prstGeom prst="rect">
            <a:avLst/>
          </a:prstGeom>
          <a:noFill/>
        </p:spPr>
        <p:txBody>
          <a:bodyPr wrap="square" lIns="0" rIns="0" tIns="0" bIns="0">
            <a:spAutoFit/>
          </a:bodyPr>
          <a:lstStyle/>
          <a:p>
            <a:pPr algn="l">
              <a:lnSpc>
                <a:spcPct val="115000"/>
              </a:lnSpc>
              <a:defRPr sz="1500" b="1" i="0">
                <a:solidFill>
                  <a:srgbClr val="C8102E"/>
                </a:solidFill>
                <a:latin typeface="Poppins"/>
              </a:defRPr>
            </a:pPr>
            <a:r>
              <a:t>4</a:t>
            </a:r>
          </a:p>
        </p:txBody>
      </p:sp>
      <p:sp>
        <p:nvSpPr>
          <p:cNvPr id="31" name="TextBox 30"/>
          <p:cNvSpPr txBox="1"/>
          <p:nvPr/>
        </p:nvSpPr>
        <p:spPr>
          <a:xfrm>
            <a:off x="5312664" y="2212848"/>
            <a:ext cx="1005840" cy="219456"/>
          </a:xfrm>
          <a:prstGeom prst="rect">
            <a:avLst/>
          </a:prstGeom>
          <a:noFill/>
        </p:spPr>
        <p:txBody>
          <a:bodyPr wrap="square" lIns="0" rIns="0" tIns="0" bIns="0">
            <a:spAutoFit/>
          </a:bodyPr>
          <a:lstStyle/>
          <a:p>
            <a:pPr algn="l">
              <a:lnSpc>
                <a:spcPct val="115000"/>
              </a:lnSpc>
              <a:defRPr sz="860" b="1" i="0">
                <a:solidFill>
                  <a:srgbClr val="16181D"/>
                </a:solidFill>
                <a:latin typeface="Poppins"/>
              </a:defRPr>
            </a:pPr>
            <a:r>
              <a:t>Buying decision</a:t>
            </a:r>
          </a:p>
        </p:txBody>
      </p:sp>
      <p:sp>
        <p:nvSpPr>
          <p:cNvPr id="32" name="TextBox 31"/>
          <p:cNvSpPr txBox="1"/>
          <p:nvPr/>
        </p:nvSpPr>
        <p:spPr>
          <a:xfrm>
            <a:off x="5093207" y="2468880"/>
            <a:ext cx="1207008" cy="41148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When, how much, at what price. PO placed.</a:t>
            </a:r>
          </a:p>
        </p:txBody>
      </p:sp>
      <p:sp>
        <p:nvSpPr>
          <p:cNvPr id="33" name="TextBox 32"/>
          <p:cNvSpPr txBox="1"/>
          <p:nvPr/>
        </p:nvSpPr>
        <p:spPr>
          <a:xfrm>
            <a:off x="5093207" y="2980944"/>
            <a:ext cx="1207008" cy="457200"/>
          </a:xfrm>
          <a:prstGeom prst="rect">
            <a:avLst/>
          </a:prstGeom>
          <a:noFill/>
        </p:spPr>
        <p:txBody>
          <a:bodyPr wrap="square" lIns="0" rIns="0" tIns="0" bIns="0">
            <a:spAutoFit/>
          </a:bodyPr>
          <a:lstStyle/>
          <a:p>
            <a:pPr algn="l">
              <a:lnSpc>
                <a:spcPct val="120000"/>
              </a:lnSpc>
              <a:defRPr sz="680" b="0" i="0">
                <a:solidFill>
                  <a:srgbClr val="C8102E"/>
                </a:solidFill>
                <a:latin typeface="Poppins"/>
              </a:defRPr>
            </a:pPr>
            <a:r>
              <a:t>⚠  A personal call each month. Not repeatable.</a:t>
            </a:r>
          </a:p>
        </p:txBody>
      </p:sp>
      <p:cxnSp>
        <p:nvCxnSpPr>
          <p:cNvPr id="34" name="Connector 33"/>
          <p:cNvCxnSpPr/>
          <p:nvPr/>
        </p:nvCxnSpPr>
        <p:spPr>
          <a:xfrm>
            <a:off x="502920" y="3611880"/>
            <a:ext cx="57607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2920" y="3749039"/>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Prices move a lot, and fast</a:t>
            </a:r>
          </a:p>
        </p:txBody>
      </p:sp>
      <p:sp>
        <p:nvSpPr>
          <p:cNvPr id="36" name="TextBox 35"/>
          <p:cNvSpPr txBox="1"/>
          <p:nvPr/>
        </p:nvSpPr>
        <p:spPr>
          <a:xfrm>
            <a:off x="502920" y="4023360"/>
            <a:ext cx="5760720" cy="914400"/>
          </a:xfrm>
          <a:prstGeom prst="rect">
            <a:avLst/>
          </a:prstGeom>
          <a:noFill/>
        </p:spPr>
        <p:txBody>
          <a:bodyPr wrap="square" lIns="0" rIns="0" tIns="0" bIns="0">
            <a:spAutoFit/>
          </a:bodyPr>
          <a:lstStyle/>
          <a:p>
            <a:pPr algn="l">
              <a:lnSpc>
                <a:spcPct val="130000"/>
              </a:lnSpc>
              <a:defRPr sz="860" b="0" i="0">
                <a:solidFill>
                  <a:srgbClr val="4A4D55"/>
                </a:solidFill>
                <a:latin typeface="Poppins"/>
              </a:defRPr>
            </a:pPr>
            <a:r>
              <a:t>Aluminium went from about $1,450/t (April 2020) to $3,985/t (March 2022) and back to about $2,250/t in 2023: a 2.7× swing in under two years. PVC roughly doubled in Asia in 2020–21 on US force majeures and freight, then gave most of it back by 2023.</a:t>
            </a:r>
          </a:p>
        </p:txBody>
      </p:sp>
      <p:sp>
        <p:nvSpPr>
          <p:cNvPr id="37" name="TextBox 36"/>
          <p:cNvSpPr txBox="1"/>
          <p:nvPr/>
        </p:nvSpPr>
        <p:spPr>
          <a:xfrm>
            <a:off x="502920" y="4846320"/>
            <a:ext cx="57607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actually moves the price</a:t>
            </a:r>
          </a:p>
        </p:txBody>
      </p:sp>
      <p:sp>
        <p:nvSpPr>
          <p:cNvPr id="38" name="TextBox 37"/>
          <p:cNvSpPr txBox="1"/>
          <p:nvPr/>
        </p:nvSpPr>
        <p:spPr>
          <a:xfrm>
            <a:off x="502920" y="513892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39" name="TextBox 38"/>
          <p:cNvSpPr txBox="1"/>
          <p:nvPr/>
        </p:nvSpPr>
        <p:spPr>
          <a:xfrm>
            <a:off x="621792" y="513892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Exchange rate. Imported material is priced in US$; USD/INR moves landed cost directly.</a:t>
            </a:r>
          </a:p>
        </p:txBody>
      </p:sp>
      <p:sp>
        <p:nvSpPr>
          <p:cNvPr id="40" name="TextBox 39"/>
          <p:cNvSpPr txBox="1"/>
          <p:nvPr/>
        </p:nvSpPr>
        <p:spPr>
          <a:xfrm>
            <a:off x="502920" y="534466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41" name="TextBox 40"/>
          <p:cNvSpPr txBox="1"/>
          <p:nvPr/>
        </p:nvSpPr>
        <p:spPr>
          <a:xfrm>
            <a:off x="621792" y="534466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Crude and energy. Crude, naphtha and ethylene for PVC; coal, gas and power for smelting.</a:t>
            </a:r>
          </a:p>
        </p:txBody>
      </p:sp>
      <p:sp>
        <p:nvSpPr>
          <p:cNvPr id="42" name="TextBox 41"/>
          <p:cNvSpPr txBox="1"/>
          <p:nvPr/>
        </p:nvSpPr>
        <p:spPr>
          <a:xfrm>
            <a:off x="502920" y="555040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43" name="TextBox 42"/>
          <p:cNvSpPr txBox="1"/>
          <p:nvPr/>
        </p:nvSpPr>
        <p:spPr>
          <a:xfrm>
            <a:off x="621792" y="555040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Geopolitics and trade policy. Sanctions, tariffs, anti-dumping duties, export controls.</a:t>
            </a:r>
          </a:p>
        </p:txBody>
      </p:sp>
      <p:sp>
        <p:nvSpPr>
          <p:cNvPr id="44" name="TextBox 43"/>
          <p:cNvSpPr txBox="1"/>
          <p:nvPr/>
        </p:nvSpPr>
        <p:spPr>
          <a:xfrm>
            <a:off x="502920" y="5756148"/>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45" name="TextBox 44"/>
          <p:cNvSpPr txBox="1"/>
          <p:nvPr/>
        </p:nvSpPr>
        <p:spPr>
          <a:xfrm>
            <a:off x="621792" y="5756148"/>
            <a:ext cx="56418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Freight and import duties. Container and bulk rates; CBIC tariff and DGTR notifications.</a:t>
            </a:r>
          </a:p>
        </p:txBody>
      </p:sp>
      <p:sp>
        <p:nvSpPr>
          <p:cNvPr id="46" name="TextBox 45"/>
          <p:cNvSpPr txBox="1"/>
          <p:nvPr/>
        </p:nvSpPr>
        <p:spPr>
          <a:xfrm>
            <a:off x="502920" y="5961888"/>
            <a:ext cx="576072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None of this shows up in a forecast built from past sales.</a:t>
            </a:r>
          </a:p>
        </p:txBody>
      </p:sp>
      <p:sp>
        <p:nvSpPr>
          <p:cNvPr id="47" name="TextBox 46"/>
          <p:cNvSpPr txBox="1"/>
          <p:nvPr/>
        </p:nvSpPr>
        <p:spPr>
          <a:xfrm>
            <a:off x="6675120" y="1783080"/>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it costs the business</a:t>
            </a:r>
          </a:p>
        </p:txBody>
      </p:sp>
      <p:sp>
        <p:nvSpPr>
          <p:cNvPr id="48" name="TextBox 47"/>
          <p:cNvSpPr txBox="1"/>
          <p:nvPr/>
        </p:nvSpPr>
        <p:spPr>
          <a:xfrm>
            <a:off x="6675120" y="2084831"/>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Higher raw material spend</a:t>
            </a:r>
          </a:p>
        </p:txBody>
      </p:sp>
      <p:sp>
        <p:nvSpPr>
          <p:cNvPr id="49" name="TextBox 48"/>
          <p:cNvSpPr txBox="1"/>
          <p:nvPr/>
        </p:nvSpPr>
        <p:spPr>
          <a:xfrm>
            <a:off x="6675120" y="2267712"/>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buying into rising markets with no timing advantage</a:t>
            </a:r>
          </a:p>
        </p:txBody>
      </p:sp>
      <p:sp>
        <p:nvSpPr>
          <p:cNvPr id="50" name="TextBox 49"/>
          <p:cNvSpPr txBox="1"/>
          <p:nvPr/>
        </p:nvSpPr>
        <p:spPr>
          <a:xfrm>
            <a:off x="6675120" y="2560320"/>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More inventory days</a:t>
            </a:r>
          </a:p>
        </p:txBody>
      </p:sp>
      <p:sp>
        <p:nvSpPr>
          <p:cNvPr id="51" name="TextBox 50"/>
          <p:cNvSpPr txBox="1"/>
          <p:nvPr/>
        </p:nvSpPr>
        <p:spPr>
          <a:xfrm>
            <a:off x="6675120" y="2743200"/>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over-buying as insurance against price surprises</a:t>
            </a:r>
          </a:p>
        </p:txBody>
      </p:sp>
      <p:sp>
        <p:nvSpPr>
          <p:cNvPr id="52" name="TextBox 51"/>
          <p:cNvSpPr txBox="1"/>
          <p:nvPr/>
        </p:nvSpPr>
        <p:spPr>
          <a:xfrm>
            <a:off x="6675120" y="3035808"/>
            <a:ext cx="498348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More working capital</a:t>
            </a:r>
          </a:p>
        </p:txBody>
      </p:sp>
      <p:sp>
        <p:nvSpPr>
          <p:cNvPr id="53" name="TextBox 52"/>
          <p:cNvSpPr txBox="1"/>
          <p:nvPr/>
        </p:nvSpPr>
        <p:spPr>
          <a:xfrm>
            <a:off x="6675120" y="3218688"/>
            <a:ext cx="4983480" cy="274320"/>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cash tied up in stock, premiums and in-transit material</a:t>
            </a:r>
          </a:p>
        </p:txBody>
      </p:sp>
      <p:sp>
        <p:nvSpPr>
          <p:cNvPr id="54" name="TextBox 53"/>
          <p:cNvSpPr txBox="1"/>
          <p:nvPr/>
        </p:nvSpPr>
        <p:spPr>
          <a:xfrm>
            <a:off x="6675120" y="3584448"/>
            <a:ext cx="498348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With a 70% share, a 1% move in raw material price is roughly 0.7% of total</a:t>
            </a:r>
          </a:p>
          <a:p>
            <a:pPr algn="l">
              <a:lnSpc>
                <a:spcPct val="125000"/>
              </a:lnSpc>
              <a:defRPr sz="740" b="1" i="0">
                <a:solidFill>
                  <a:srgbClr val="C8102E"/>
                </a:solidFill>
                <a:latin typeface="Poppins"/>
              </a:defRPr>
            </a:pPr>
            <a:r>
              <a:t>manufacturing cost.</a:t>
            </a:r>
          </a:p>
        </p:txBody>
      </p:sp>
      <p:cxnSp>
        <p:nvCxnSpPr>
          <p:cNvPr id="55" name="Connector 54"/>
          <p:cNvCxnSpPr/>
          <p:nvPr/>
        </p:nvCxnSpPr>
        <p:spPr>
          <a:xfrm>
            <a:off x="6675120" y="4041648"/>
            <a:ext cx="49834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675120" y="4187952"/>
            <a:ext cx="49834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Smart Buy now demonstrates</a:t>
            </a:r>
          </a:p>
        </p:txBody>
      </p:sp>
      <p:graphicFrame>
        <p:nvGraphicFramePr>
          <p:cNvPr id="57" name="Table 56"/>
          <p:cNvGraphicFramePr>
            <a:graphicFrameLocks noGrp="1"/>
          </p:cNvGraphicFramePr>
          <p:nvPr/>
        </p:nvGraphicFramePr>
        <p:xfrm>
          <a:off x="6675120" y="4462272"/>
          <a:ext cx="4983480" cy="1389888"/>
        </p:xfrm>
        <a:graphic>
          <a:graphicData uri="http://schemas.openxmlformats.org/drawingml/2006/table">
            <a:tbl>
              <a:tblPr>
                <a:tableStyleId>{5C22544A-7EE6-4342-B048-85BDC9FD1C3A}</a:tableStyleId>
              </a:tblPr>
              <a:tblGrid>
                <a:gridCol w="2103120"/>
                <a:gridCol w="2880360"/>
              </a:tblGrid>
              <a:tr h="237744">
                <a:tc>
                  <a:txBody>
                    <a:bodyPr/>
                    <a:lstStyle/>
                    <a:p>
                      <a:pPr algn="l">
                        <a:defRPr sz="680" b="1">
                          <a:solidFill>
                            <a:srgbClr val="FFFFFF"/>
                          </a:solidFill>
                          <a:latin typeface="Poppins"/>
                        </a:defRPr>
                      </a:pPr>
                      <a:r>
                        <a:t>Round 1 gap</a:t>
                      </a:r>
                    </a:p>
                  </a:txBody>
                  <a:tcPr marL="54864" marR="54864" marT="18288" marB="18288" anchor="ctr">
                    <a:solidFill>
                      <a:srgbClr val="C8102E"/>
                    </a:solidFill>
                  </a:tcPr>
                </a:tc>
                <a:tc>
                  <a:txBody>
                    <a:bodyPr/>
                    <a:lstStyle/>
                    <a:p>
                      <a:pPr algn="r">
                        <a:defRPr sz="680" b="1">
                          <a:solidFill>
                            <a:srgbClr val="FFFFFF"/>
                          </a:solidFill>
                          <a:latin typeface="Poppins"/>
                        </a:defRPr>
                      </a:pPr>
                      <a:r>
                        <a:t>Round 2 evidence</a:t>
                      </a:r>
                    </a:p>
                  </a:txBody>
                  <a:tcPr marL="54864" marR="54864" marT="18288" marB="18288" anchor="ctr">
                    <a:solidFill>
                      <a:srgbClr val="C8102E"/>
                    </a:solidFill>
                  </a:tcPr>
                </a:tc>
              </a:tr>
              <a:tr h="384048">
                <a:tc>
                  <a:txBody>
                    <a:bodyPr/>
                    <a:lstStyle/>
                    <a:p>
                      <a:pPr algn="l">
                        <a:defRPr sz="740" b="0">
                          <a:solidFill>
                            <a:srgbClr val="4A4D55"/>
                          </a:solidFill>
                          <a:latin typeface="Poppins"/>
                        </a:defRPr>
                      </a:pPr>
                      <a:r>
                        <a:t>Backward-looking, subjective timing</a:t>
                      </a:r>
                    </a:p>
                  </a:txBody>
                  <a:tcPr marL="54864" marR="54864" marT="13716" marB="13716" anchor="ctr">
                    <a:solidFill>
                      <a:srgbClr val="FFFFFF"/>
                    </a:solidFill>
                  </a:tcPr>
                </a:tc>
                <a:tc>
                  <a:txBody>
                    <a:bodyPr/>
                    <a:lstStyle/>
                    <a:p>
                      <a:pPr algn="r">
                        <a:defRPr sz="740" b="1">
                          <a:solidFill>
                            <a:srgbClr val="4A4D55"/>
                          </a:solidFill>
                          <a:latin typeface="Poppins"/>
                        </a:defRPr>
                      </a:pPr>
                      <a:r>
                        <a:t>Six-month forecast, 71% / 64% directional accuracy at h=3</a:t>
                      </a:r>
                    </a:p>
                  </a:txBody>
                  <a:tcPr marL="54864" marR="54864" marT="13716" marB="13716" anchor="ctr">
                    <a:solidFill>
                      <a:srgbClr val="FFFFFF"/>
                    </a:solidFill>
                  </a:tcPr>
                </a:tc>
              </a:tr>
              <a:tr h="384048">
                <a:tc>
                  <a:txBody>
                    <a:bodyPr/>
                    <a:lstStyle/>
                    <a:p>
                      <a:pPr algn="l">
                        <a:defRPr sz="740" b="0">
                          <a:solidFill>
                            <a:srgbClr val="4A4D55"/>
                          </a:solidFill>
                          <a:latin typeface="Poppins"/>
                        </a:defRPr>
                      </a:pPr>
                      <a:r>
                        <a:t>No accuracy tracking</a:t>
                      </a:r>
                    </a:p>
                  </a:txBody>
                  <a:tcPr marL="54864" marR="54864" marT="13716" marB="13716" anchor="ctr">
                    <a:solidFill>
                      <a:srgbClr val="FFFFFF"/>
                    </a:solidFill>
                  </a:tcPr>
                </a:tc>
                <a:tc>
                  <a:txBody>
                    <a:bodyPr/>
                    <a:lstStyle/>
                    <a:p>
                      <a:pPr algn="r">
                        <a:defRPr sz="740" b="1">
                          <a:solidFill>
                            <a:srgbClr val="4A4D55"/>
                          </a:solidFill>
                          <a:latin typeface="Poppins"/>
                        </a:defRPr>
                      </a:pPr>
                      <a:r>
                        <a:t>9.4% / 12.9% skill over naïve, DM p = 0.0409 / 0.082</a:t>
                      </a:r>
                    </a:p>
                  </a:txBody>
                  <a:tcPr marL="54864" marR="54864" marT="13716" marB="13716" anchor="ctr">
                    <a:solidFill>
                      <a:srgbClr val="FFFFFF"/>
                    </a:solidFill>
                  </a:tcPr>
                </a:tc>
              </a:tr>
              <a:tr h="384048">
                <a:tc>
                  <a:txBody>
                    <a:bodyPr/>
                    <a:lstStyle/>
                    <a:p>
                      <a:pPr algn="l">
                        <a:defRPr sz="740" b="0">
                          <a:solidFill>
                            <a:srgbClr val="4A4D55"/>
                          </a:solidFill>
                          <a:latin typeface="Poppins"/>
                        </a:defRPr>
                      </a:pPr>
                      <a:r>
                        <a:t>"When, how much, what price" by judgement</a:t>
                      </a:r>
                    </a:p>
                  </a:txBody>
                  <a:tcPr marL="54864" marR="54864" marT="13716" marB="13716" anchor="ctr">
                    <a:solidFill>
                      <a:srgbClr val="FFFFFF"/>
                    </a:solidFill>
                  </a:tcPr>
                </a:tc>
                <a:tc>
                  <a:txBody>
                    <a:bodyPr/>
                    <a:lstStyle/>
                    <a:p>
                      <a:pPr algn="r">
                        <a:defRPr sz="740" b="1">
                          <a:solidFill>
                            <a:srgbClr val="4A4D55"/>
                          </a:solidFill>
                          <a:latin typeface="Poppins"/>
                        </a:defRPr>
                      </a:pPr>
                      <a:r>
                        <a:t>Buy / defer rule replayed over 66 months: +1.68% net on PVC</a:t>
                      </a:r>
                    </a:p>
                  </a:txBody>
                  <a:tcPr marL="54864" marR="54864" marT="13716" marB="13716" anchor="ctr">
                    <a:solidFill>
                      <a:srgbClr val="FFFFFF"/>
                    </a:solidFill>
                  </a:tcPr>
                </a:tc>
              </a:tr>
            </a:tbl>
          </a:graphicData>
        </a:graphic>
      </p:graphicFrame>
      <p:sp>
        <p:nvSpPr>
          <p:cNvPr id="58" name="TextBox 57"/>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ACG, "Smart Buy – AI based Raw Material Price Prediction", problem statement. [2] World Bank, Commodity Price Data (Pink Sheet), monthly. [3] Prices and skill figures are walk-forward results from this submission's pipeline, not illustrations.</a:t>
            </a:r>
          </a:p>
        </p:txBody>
      </p:sp>
      <p:sp>
        <p:nvSpPr>
          <p:cNvPr id="59" name="TextBox 58"/>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3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Both prices sit at the end of a physical chain, and every link in that chain</a:t>
            </a:r>
          </a:p>
          <a:p>
            <a:pPr algn="l">
              <a:lnSpc>
                <a:spcPct val="112000"/>
              </a:lnSpc>
              <a:defRPr sz="1700" b="1" i="0">
                <a:solidFill>
                  <a:srgbClr val="16181D"/>
                </a:solidFill>
                <a:latin typeface="Poppins"/>
              </a:defRPr>
            </a:pPr>
            <a:r>
              <a:t>is tracked from public data</a:t>
            </a:r>
          </a:p>
        </p:txBody>
      </p:sp>
      <p:sp>
        <p:nvSpPr>
          <p:cNvPr id="14" name="TextBox 13"/>
          <p:cNvSpPr txBox="1"/>
          <p:nvPr/>
        </p:nvSpPr>
        <p:spPr>
          <a:xfrm>
            <a:off x="502920" y="178308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a:t>
            </a:r>
          </a:p>
        </p:txBody>
      </p:sp>
      <p:sp>
        <p:nvSpPr>
          <p:cNvPr id="15" name="Rectangle 14"/>
          <p:cNvSpPr/>
          <p:nvPr/>
        </p:nvSpPr>
        <p:spPr>
          <a:xfrm>
            <a:off x="50292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Bauxite</a:t>
            </a:r>
          </a:p>
        </p:txBody>
      </p:sp>
      <p:sp>
        <p:nvSpPr>
          <p:cNvPr id="17" name="TextBox 16"/>
          <p:cNvSpPr txBox="1"/>
          <p:nvPr/>
        </p:nvSpPr>
        <p:spPr>
          <a:xfrm>
            <a:off x="53949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Guinea and Australia</a:t>
            </a:r>
          </a:p>
          <a:p>
            <a:pPr algn="ctr">
              <a:lnSpc>
                <a:spcPct val="120000"/>
              </a:lnSpc>
              <a:defRPr sz="660" b="0" i="0">
                <a:solidFill>
                  <a:srgbClr val="7C8089"/>
                </a:solidFill>
                <a:latin typeface="Poppins"/>
              </a:defRPr>
            </a:pPr>
            <a:r>
              <a:t>supply, export policy</a:t>
            </a:r>
          </a:p>
        </p:txBody>
      </p:sp>
      <p:sp>
        <p:nvSpPr>
          <p:cNvPr id="18" name="TextBox 17"/>
          <p:cNvSpPr txBox="1"/>
          <p:nvPr/>
        </p:nvSpPr>
        <p:spPr>
          <a:xfrm>
            <a:off x="1965960"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19" name="Rectangle 18"/>
          <p:cNvSpPr/>
          <p:nvPr/>
        </p:nvSpPr>
        <p:spPr>
          <a:xfrm>
            <a:off x="2130552"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212848"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Alumina</a:t>
            </a:r>
          </a:p>
        </p:txBody>
      </p:sp>
      <p:sp>
        <p:nvSpPr>
          <p:cNvPr id="21" name="TextBox 20"/>
          <p:cNvSpPr txBox="1"/>
          <p:nvPr/>
        </p:nvSpPr>
        <p:spPr>
          <a:xfrm>
            <a:off x="2167128"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4 t bauxite →</a:t>
            </a:r>
          </a:p>
          <a:p>
            <a:pPr algn="ctr">
              <a:lnSpc>
                <a:spcPct val="120000"/>
              </a:lnSpc>
              <a:defRPr sz="660" b="0" i="0">
                <a:solidFill>
                  <a:srgbClr val="7C8089"/>
                </a:solidFill>
                <a:latin typeface="Poppins"/>
              </a:defRPr>
            </a:pPr>
            <a:r>
              <a:t>2 t alumina → 1 t metal</a:t>
            </a:r>
          </a:p>
        </p:txBody>
      </p:sp>
      <p:sp>
        <p:nvSpPr>
          <p:cNvPr id="22" name="TextBox 21"/>
          <p:cNvSpPr txBox="1"/>
          <p:nvPr/>
        </p:nvSpPr>
        <p:spPr>
          <a:xfrm>
            <a:off x="3593592"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23" name="Rectangle 22"/>
          <p:cNvSpPr/>
          <p:nvPr/>
        </p:nvSpPr>
        <p:spPr>
          <a:xfrm>
            <a:off x="3758184"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40480"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Smelter energy</a:t>
            </a:r>
          </a:p>
        </p:txBody>
      </p:sp>
      <p:sp>
        <p:nvSpPr>
          <p:cNvPr id="25" name="TextBox 24"/>
          <p:cNvSpPr txBox="1"/>
          <p:nvPr/>
        </p:nvSpPr>
        <p:spPr>
          <a:xfrm>
            <a:off x="3794760"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coal, gas and power:</a:t>
            </a:r>
          </a:p>
          <a:p>
            <a:pPr algn="ctr">
              <a:lnSpc>
                <a:spcPct val="120000"/>
              </a:lnSpc>
              <a:defRPr sz="660" b="0" i="0">
                <a:solidFill>
                  <a:srgbClr val="7C8089"/>
                </a:solidFill>
                <a:latin typeface="Poppins"/>
              </a:defRPr>
            </a:pPr>
            <a:r>
              <a:t>the largest cash cost</a:t>
            </a:r>
          </a:p>
        </p:txBody>
      </p:sp>
      <p:sp>
        <p:nvSpPr>
          <p:cNvPr id="26" name="TextBox 25"/>
          <p:cNvSpPr txBox="1"/>
          <p:nvPr/>
        </p:nvSpPr>
        <p:spPr>
          <a:xfrm>
            <a:off x="5221224"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27" name="Rectangle 26"/>
          <p:cNvSpPr/>
          <p:nvPr/>
        </p:nvSpPr>
        <p:spPr>
          <a:xfrm>
            <a:off x="5385816" y="2075688"/>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68112" y="216712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Poppins"/>
              </a:defRPr>
            </a:pPr>
            <a:r>
              <a:t>LME price</a:t>
            </a:r>
          </a:p>
          <a:p>
            <a:pPr algn="ctr">
              <a:lnSpc>
                <a:spcPct val="115000"/>
              </a:lnSpc>
              <a:defRPr sz="819" b="1" i="0">
                <a:solidFill>
                  <a:srgbClr val="FFFFFF"/>
                </a:solidFill>
                <a:latin typeface="Poppins"/>
              </a:defRPr>
            </a:pPr>
            <a:r>
              <a:t>and stocks</a:t>
            </a:r>
          </a:p>
        </p:txBody>
      </p:sp>
      <p:sp>
        <p:nvSpPr>
          <p:cNvPr id="29" name="TextBox 28"/>
          <p:cNvSpPr txBox="1"/>
          <p:nvPr/>
        </p:nvSpPr>
        <p:spPr>
          <a:xfrm>
            <a:off x="5422392"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financialised; stocks</a:t>
            </a:r>
          </a:p>
          <a:p>
            <a:pPr algn="ctr">
              <a:lnSpc>
                <a:spcPct val="120000"/>
              </a:lnSpc>
              <a:defRPr sz="660" b="0" i="0">
                <a:solidFill>
                  <a:srgbClr val="7C8089"/>
                </a:solidFill>
                <a:latin typeface="Poppins"/>
              </a:defRPr>
            </a:pPr>
            <a:r>
              <a:t>signal tightness</a:t>
            </a:r>
          </a:p>
        </p:txBody>
      </p:sp>
      <p:sp>
        <p:nvSpPr>
          <p:cNvPr id="30" name="TextBox 29"/>
          <p:cNvSpPr txBox="1"/>
          <p:nvPr/>
        </p:nvSpPr>
        <p:spPr>
          <a:xfrm>
            <a:off x="6848856"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31" name="Rectangle 30"/>
          <p:cNvSpPr/>
          <p:nvPr/>
        </p:nvSpPr>
        <p:spPr>
          <a:xfrm>
            <a:off x="7013448"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95744"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Premium, FX,</a:t>
            </a:r>
          </a:p>
          <a:p>
            <a:pPr algn="ctr">
              <a:lnSpc>
                <a:spcPct val="115000"/>
              </a:lnSpc>
              <a:defRPr sz="819" b="1" i="0">
                <a:solidFill>
                  <a:srgbClr val="16181D"/>
                </a:solidFill>
                <a:latin typeface="Poppins"/>
              </a:defRPr>
            </a:pPr>
            <a:r>
              <a:t>duty, freight</a:t>
            </a:r>
          </a:p>
        </p:txBody>
      </p:sp>
      <p:sp>
        <p:nvSpPr>
          <p:cNvPr id="33" name="TextBox 32"/>
          <p:cNvSpPr txBox="1"/>
          <p:nvPr/>
        </p:nvSpPr>
        <p:spPr>
          <a:xfrm>
            <a:off x="7050024"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USD/INR, CBIC tariff,</a:t>
            </a:r>
          </a:p>
          <a:p>
            <a:pPr algn="ctr">
              <a:lnSpc>
                <a:spcPct val="120000"/>
              </a:lnSpc>
              <a:defRPr sz="660" b="0" i="0">
                <a:solidFill>
                  <a:srgbClr val="7C8089"/>
                </a:solidFill>
                <a:latin typeface="Poppins"/>
              </a:defRPr>
            </a:pPr>
            <a:r>
              <a:t>logistics</a:t>
            </a:r>
          </a:p>
        </p:txBody>
      </p:sp>
      <p:sp>
        <p:nvSpPr>
          <p:cNvPr id="34" name="TextBox 33"/>
          <p:cNvSpPr txBox="1"/>
          <p:nvPr/>
        </p:nvSpPr>
        <p:spPr>
          <a:xfrm>
            <a:off x="8476488" y="224028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35" name="Rectangle 34"/>
          <p:cNvSpPr/>
          <p:nvPr/>
        </p:nvSpPr>
        <p:spPr>
          <a:xfrm>
            <a:off x="8641080" y="2075688"/>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723376" y="216712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Landed India</a:t>
            </a:r>
          </a:p>
          <a:p>
            <a:pPr algn="ctr">
              <a:lnSpc>
                <a:spcPct val="115000"/>
              </a:lnSpc>
              <a:defRPr sz="819" b="1" i="0">
                <a:solidFill>
                  <a:srgbClr val="16181D"/>
                </a:solidFill>
                <a:latin typeface="Poppins"/>
              </a:defRPr>
            </a:pPr>
            <a:r>
              <a:t>price</a:t>
            </a:r>
          </a:p>
        </p:txBody>
      </p:sp>
      <p:sp>
        <p:nvSpPr>
          <p:cNvPr id="37" name="TextBox 36"/>
          <p:cNvSpPr txBox="1"/>
          <p:nvPr/>
        </p:nvSpPr>
        <p:spPr>
          <a:xfrm>
            <a:off x="8677656" y="2642615"/>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what ACG</a:t>
            </a:r>
          </a:p>
          <a:p>
            <a:pPr algn="ctr">
              <a:lnSpc>
                <a:spcPct val="120000"/>
              </a:lnSpc>
              <a:defRPr sz="660" b="0" i="0">
                <a:solidFill>
                  <a:srgbClr val="7C8089"/>
                </a:solidFill>
                <a:latin typeface="Poppins"/>
              </a:defRPr>
            </a:pPr>
            <a:r>
              <a:t>actually pays</a:t>
            </a:r>
          </a:p>
        </p:txBody>
      </p:sp>
      <p:sp>
        <p:nvSpPr>
          <p:cNvPr id="38" name="TextBox 37"/>
          <p:cNvSpPr txBox="1"/>
          <p:nvPr/>
        </p:nvSpPr>
        <p:spPr>
          <a:xfrm>
            <a:off x="502920" y="3246120"/>
            <a:ext cx="11155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resin</a:t>
            </a:r>
          </a:p>
        </p:txBody>
      </p:sp>
      <p:sp>
        <p:nvSpPr>
          <p:cNvPr id="39" name="Rectangle 38"/>
          <p:cNvSpPr/>
          <p:nvPr/>
        </p:nvSpPr>
        <p:spPr>
          <a:xfrm>
            <a:off x="50292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521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Crude (Brent)</a:t>
            </a:r>
          </a:p>
        </p:txBody>
      </p:sp>
      <p:sp>
        <p:nvSpPr>
          <p:cNvPr id="41" name="TextBox 40"/>
          <p:cNvSpPr txBox="1"/>
          <p:nvPr/>
        </p:nvSpPr>
        <p:spPr>
          <a:xfrm>
            <a:off x="53949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sets the whole</a:t>
            </a:r>
          </a:p>
          <a:p>
            <a:pPr algn="ctr">
              <a:lnSpc>
                <a:spcPct val="120000"/>
              </a:lnSpc>
              <a:defRPr sz="660" b="0" i="0">
                <a:solidFill>
                  <a:srgbClr val="7C8089"/>
                </a:solidFill>
                <a:latin typeface="Poppins"/>
              </a:defRPr>
            </a:pPr>
            <a:r>
              <a:t>feedstock chain</a:t>
            </a:r>
          </a:p>
        </p:txBody>
      </p:sp>
      <p:sp>
        <p:nvSpPr>
          <p:cNvPr id="42" name="TextBox 41"/>
          <p:cNvSpPr txBox="1"/>
          <p:nvPr/>
        </p:nvSpPr>
        <p:spPr>
          <a:xfrm>
            <a:off x="1965960"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43" name="Rectangle 42"/>
          <p:cNvSpPr/>
          <p:nvPr/>
        </p:nvSpPr>
        <p:spPr>
          <a:xfrm>
            <a:off x="2130552"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212848"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Naphtha</a:t>
            </a:r>
          </a:p>
        </p:txBody>
      </p:sp>
      <p:sp>
        <p:nvSpPr>
          <p:cNvPr id="45" name="TextBox 44"/>
          <p:cNvSpPr txBox="1"/>
          <p:nvPr/>
        </p:nvSpPr>
        <p:spPr>
          <a:xfrm>
            <a:off x="2167128"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Asian cracker</a:t>
            </a:r>
          </a:p>
          <a:p>
            <a:pPr algn="ctr">
              <a:lnSpc>
                <a:spcPct val="120000"/>
              </a:lnSpc>
              <a:defRPr sz="660" b="0" i="0">
                <a:solidFill>
                  <a:srgbClr val="7C8089"/>
                </a:solidFill>
                <a:latin typeface="Poppins"/>
              </a:defRPr>
            </a:pPr>
            <a:r>
              <a:t>feedstock</a:t>
            </a:r>
          </a:p>
        </p:txBody>
      </p:sp>
      <p:sp>
        <p:nvSpPr>
          <p:cNvPr id="46" name="TextBox 45"/>
          <p:cNvSpPr txBox="1"/>
          <p:nvPr/>
        </p:nvSpPr>
        <p:spPr>
          <a:xfrm>
            <a:off x="3593592"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47" name="Rectangle 46"/>
          <p:cNvSpPr/>
          <p:nvPr/>
        </p:nvSpPr>
        <p:spPr>
          <a:xfrm>
            <a:off x="3758184"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3840480"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Ethylene</a:t>
            </a:r>
          </a:p>
        </p:txBody>
      </p:sp>
      <p:sp>
        <p:nvSpPr>
          <p:cNvPr id="49" name="TextBox 48"/>
          <p:cNvSpPr txBox="1"/>
          <p:nvPr/>
        </p:nvSpPr>
        <p:spPr>
          <a:xfrm>
            <a:off x="3794760"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plus chlorine</a:t>
            </a:r>
          </a:p>
          <a:p>
            <a:pPr algn="ctr">
              <a:lnSpc>
                <a:spcPct val="120000"/>
              </a:lnSpc>
              <a:defRPr sz="660" b="0" i="0">
                <a:solidFill>
                  <a:srgbClr val="7C8089"/>
                </a:solidFill>
                <a:latin typeface="Poppins"/>
              </a:defRPr>
            </a:pPr>
            <a:r>
              <a:t>gives EDC</a:t>
            </a:r>
          </a:p>
        </p:txBody>
      </p:sp>
      <p:sp>
        <p:nvSpPr>
          <p:cNvPr id="50" name="TextBox 49"/>
          <p:cNvSpPr txBox="1"/>
          <p:nvPr/>
        </p:nvSpPr>
        <p:spPr>
          <a:xfrm>
            <a:off x="5221224"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51" name="Rectangle 50"/>
          <p:cNvSpPr/>
          <p:nvPr/>
        </p:nvSpPr>
        <p:spPr>
          <a:xfrm>
            <a:off x="5385816"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5468112"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VCM / EDC</a:t>
            </a:r>
          </a:p>
        </p:txBody>
      </p:sp>
      <p:sp>
        <p:nvSpPr>
          <p:cNvPr id="53" name="TextBox 52"/>
          <p:cNvSpPr txBox="1"/>
          <p:nvPr/>
        </p:nvSpPr>
        <p:spPr>
          <a:xfrm>
            <a:off x="5422392"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the direct</a:t>
            </a:r>
          </a:p>
          <a:p>
            <a:pPr algn="ctr">
              <a:lnSpc>
                <a:spcPct val="120000"/>
              </a:lnSpc>
              <a:defRPr sz="660" b="0" i="0">
                <a:solidFill>
                  <a:srgbClr val="7C8089"/>
                </a:solidFill>
                <a:latin typeface="Poppins"/>
              </a:defRPr>
            </a:pPr>
            <a:r>
              <a:t>monomer input</a:t>
            </a:r>
          </a:p>
        </p:txBody>
      </p:sp>
      <p:sp>
        <p:nvSpPr>
          <p:cNvPr id="54" name="TextBox 53"/>
          <p:cNvSpPr txBox="1"/>
          <p:nvPr/>
        </p:nvSpPr>
        <p:spPr>
          <a:xfrm>
            <a:off x="6848856"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55" name="Rectangle 54"/>
          <p:cNvSpPr/>
          <p:nvPr/>
        </p:nvSpPr>
        <p:spPr>
          <a:xfrm>
            <a:off x="7013448" y="3538727"/>
            <a:ext cx="1463040" cy="5120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095744" y="3630168"/>
            <a:ext cx="1298448" cy="329184"/>
          </a:xfrm>
          <a:prstGeom prst="rect">
            <a:avLst/>
          </a:prstGeom>
          <a:noFill/>
        </p:spPr>
        <p:txBody>
          <a:bodyPr wrap="square" lIns="0" rIns="0" tIns="0" bIns="0">
            <a:spAutoFit/>
          </a:bodyPr>
          <a:lstStyle/>
          <a:p>
            <a:pPr algn="ctr">
              <a:lnSpc>
                <a:spcPct val="115000"/>
              </a:lnSpc>
              <a:defRPr sz="819" b="1" i="0">
                <a:solidFill>
                  <a:srgbClr val="FFFFFF"/>
                </a:solidFill>
                <a:latin typeface="Poppins"/>
              </a:defRPr>
            </a:pPr>
            <a:r>
              <a:t>PVC spot,</a:t>
            </a:r>
          </a:p>
          <a:p>
            <a:pPr algn="ctr">
              <a:lnSpc>
                <a:spcPct val="115000"/>
              </a:lnSpc>
              <a:defRPr sz="819" b="1" i="0">
                <a:solidFill>
                  <a:srgbClr val="FFFFFF"/>
                </a:solidFill>
                <a:latin typeface="Poppins"/>
              </a:defRPr>
            </a:pPr>
            <a:r>
              <a:t>Asia / China</a:t>
            </a:r>
          </a:p>
        </p:txBody>
      </p:sp>
      <p:sp>
        <p:nvSpPr>
          <p:cNvPr id="57" name="TextBox 56"/>
          <p:cNvSpPr txBox="1"/>
          <p:nvPr/>
        </p:nvSpPr>
        <p:spPr>
          <a:xfrm>
            <a:off x="7050024"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China is the largest</a:t>
            </a:r>
          </a:p>
          <a:p>
            <a:pPr algn="ctr">
              <a:lnSpc>
                <a:spcPct val="120000"/>
              </a:lnSpc>
              <a:defRPr sz="660" b="0" i="0">
                <a:solidFill>
                  <a:srgbClr val="7C8089"/>
                </a:solidFill>
                <a:latin typeface="Poppins"/>
              </a:defRPr>
            </a:pPr>
            <a:r>
              <a:t>producer and exporter</a:t>
            </a:r>
          </a:p>
        </p:txBody>
      </p:sp>
      <p:sp>
        <p:nvSpPr>
          <p:cNvPr id="58" name="TextBox 57"/>
          <p:cNvSpPr txBox="1"/>
          <p:nvPr/>
        </p:nvSpPr>
        <p:spPr>
          <a:xfrm>
            <a:off x="8476488" y="3703320"/>
            <a:ext cx="164592" cy="182880"/>
          </a:xfrm>
          <a:prstGeom prst="rect">
            <a:avLst/>
          </a:prstGeom>
          <a:noFill/>
        </p:spPr>
        <p:txBody>
          <a:bodyPr wrap="square" lIns="0" rIns="0" tIns="0" bIns="0">
            <a:spAutoFit/>
          </a:bodyPr>
          <a:lstStyle/>
          <a:p>
            <a:pPr algn="ctr">
              <a:lnSpc>
                <a:spcPct val="115000"/>
              </a:lnSpc>
              <a:defRPr sz="700" b="0" i="0">
                <a:solidFill>
                  <a:srgbClr val="C8102E"/>
                </a:solidFill>
                <a:latin typeface="Poppins"/>
              </a:defRPr>
            </a:pPr>
            <a:r>
              <a:t>▶</a:t>
            </a:r>
          </a:p>
        </p:txBody>
      </p:sp>
      <p:sp>
        <p:nvSpPr>
          <p:cNvPr id="59" name="Rectangle 58"/>
          <p:cNvSpPr/>
          <p:nvPr/>
        </p:nvSpPr>
        <p:spPr>
          <a:xfrm>
            <a:off x="8641080" y="3538727"/>
            <a:ext cx="1463040" cy="51206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723376" y="3630168"/>
            <a:ext cx="1298448" cy="329184"/>
          </a:xfrm>
          <a:prstGeom prst="rect">
            <a:avLst/>
          </a:prstGeom>
          <a:noFill/>
        </p:spPr>
        <p:txBody>
          <a:bodyPr wrap="square" lIns="0" rIns="0" tIns="0" bIns="0">
            <a:spAutoFit/>
          </a:bodyPr>
          <a:lstStyle/>
          <a:p>
            <a:pPr algn="ctr">
              <a:lnSpc>
                <a:spcPct val="115000"/>
              </a:lnSpc>
              <a:defRPr sz="819" b="1" i="0">
                <a:solidFill>
                  <a:srgbClr val="16181D"/>
                </a:solidFill>
                <a:latin typeface="Poppins"/>
              </a:defRPr>
            </a:pPr>
            <a:r>
              <a:t>Landed India</a:t>
            </a:r>
          </a:p>
          <a:p>
            <a:pPr algn="ctr">
              <a:lnSpc>
                <a:spcPct val="115000"/>
              </a:lnSpc>
              <a:defRPr sz="819" b="1" i="0">
                <a:solidFill>
                  <a:srgbClr val="16181D"/>
                </a:solidFill>
                <a:latin typeface="Poppins"/>
              </a:defRPr>
            </a:pPr>
            <a:r>
              <a:t>price</a:t>
            </a:r>
          </a:p>
        </p:txBody>
      </p:sp>
      <p:sp>
        <p:nvSpPr>
          <p:cNvPr id="61" name="TextBox 60"/>
          <p:cNvSpPr txBox="1"/>
          <p:nvPr/>
        </p:nvSpPr>
        <p:spPr>
          <a:xfrm>
            <a:off x="8677656" y="4105656"/>
            <a:ext cx="1389888" cy="411480"/>
          </a:xfrm>
          <a:prstGeom prst="rect">
            <a:avLst/>
          </a:prstGeom>
          <a:noFill/>
        </p:spPr>
        <p:txBody>
          <a:bodyPr wrap="square" lIns="0" rIns="0" tIns="0" bIns="0">
            <a:spAutoFit/>
          </a:bodyPr>
          <a:lstStyle/>
          <a:p>
            <a:pPr algn="ctr">
              <a:lnSpc>
                <a:spcPct val="120000"/>
              </a:lnSpc>
              <a:defRPr sz="660" b="0" i="0">
                <a:solidFill>
                  <a:srgbClr val="7C8089"/>
                </a:solidFill>
                <a:latin typeface="Poppins"/>
              </a:defRPr>
            </a:pPr>
            <a:r>
              <a:t>freight, FX,</a:t>
            </a:r>
          </a:p>
          <a:p>
            <a:pPr algn="ctr">
              <a:lnSpc>
                <a:spcPct val="120000"/>
              </a:lnSpc>
              <a:defRPr sz="660" b="0" i="0">
                <a:solidFill>
                  <a:srgbClr val="7C8089"/>
                </a:solidFill>
                <a:latin typeface="Poppins"/>
              </a:defRPr>
            </a:pPr>
            <a:r>
              <a:t>anti-dumping duty</a:t>
            </a:r>
          </a:p>
        </p:txBody>
      </p:sp>
      <p:cxnSp>
        <p:nvCxnSpPr>
          <p:cNvPr id="62" name="Connector 61"/>
          <p:cNvCxnSpPr/>
          <p:nvPr/>
        </p:nvCxnSpPr>
        <p:spPr>
          <a:xfrm>
            <a:off x="502920" y="4754880"/>
            <a:ext cx="111556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2920" y="4892040"/>
            <a:ext cx="53035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How we decided which indicators to keep</a:t>
            </a:r>
          </a:p>
        </p:txBody>
      </p:sp>
      <p:sp>
        <p:nvSpPr>
          <p:cNvPr id="64" name="TextBox 63"/>
          <p:cNvSpPr txBox="1"/>
          <p:nvPr/>
        </p:nvSpPr>
        <p:spPr>
          <a:xfrm>
            <a:off x="502920" y="51937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65" name="TextBox 64"/>
          <p:cNvSpPr txBox="1"/>
          <p:nvPr/>
        </p:nvSpPr>
        <p:spPr>
          <a:xfrm>
            <a:off x="621792" y="519379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Cross-correlation of log-returns at lags 0–6 months; best lag recorded per indicator.</a:t>
            </a:r>
          </a:p>
        </p:txBody>
      </p:sp>
      <p:sp>
        <p:nvSpPr>
          <p:cNvPr id="66" name="TextBox 65"/>
          <p:cNvSpPr txBox="1"/>
          <p:nvPr/>
        </p:nvSpPr>
        <p:spPr>
          <a:xfrm>
            <a:off x="502920" y="5399531"/>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67" name="TextBox 66"/>
          <p:cNvSpPr txBox="1"/>
          <p:nvPr/>
        </p:nvSpPr>
        <p:spPr>
          <a:xfrm>
            <a:off x="621792" y="5399531"/>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ADF stationarity, then Granger causality, with Benjamini–Hochberg FDR correction across all indicators tested.</a:t>
            </a:r>
          </a:p>
        </p:txBody>
      </p:sp>
      <p:sp>
        <p:nvSpPr>
          <p:cNvPr id="68" name="TextBox 67"/>
          <p:cNvSpPr txBox="1"/>
          <p:nvPr/>
        </p:nvSpPr>
        <p:spPr>
          <a:xfrm>
            <a:off x="502920" y="560527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69" name="TextBox 68"/>
          <p:cNvSpPr txBox="1"/>
          <p:nvPr/>
        </p:nvSpPr>
        <p:spPr>
          <a:xfrm>
            <a:off x="621792" y="5605272"/>
            <a:ext cx="51846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Keep rule: |ρ| ≥ 0.3 at best lag, OR Granger-significant after FDR, OR top-15 by model importance. Every drop recorded with its reason.</a:t>
            </a:r>
          </a:p>
        </p:txBody>
      </p:sp>
      <p:sp>
        <p:nvSpPr>
          <p:cNvPr id="70" name="TextBox 69"/>
          <p:cNvSpPr txBox="1"/>
          <p:nvPr/>
        </p:nvSpPr>
        <p:spPr>
          <a:xfrm>
            <a:off x="6263640" y="48920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changed against the indicative list</a:t>
            </a:r>
          </a:p>
        </p:txBody>
      </p:sp>
      <p:graphicFrame>
        <p:nvGraphicFramePr>
          <p:cNvPr id="71" name="Table 70"/>
          <p:cNvGraphicFramePr>
            <a:graphicFrameLocks noGrp="1"/>
          </p:cNvGraphicFramePr>
          <p:nvPr/>
        </p:nvGraphicFramePr>
        <p:xfrm>
          <a:off x="6263640" y="5175504"/>
          <a:ext cx="5394960" cy="1280160"/>
        </p:xfrm>
        <a:graphic>
          <a:graphicData uri="http://schemas.openxmlformats.org/drawingml/2006/table">
            <a:tbl>
              <a:tblPr>
                <a:tableStyleId>{5C22544A-7EE6-4342-B048-85BDC9FD1C3A}</a:tableStyleId>
              </a:tblPr>
              <a:tblGrid>
                <a:gridCol w="914400"/>
                <a:gridCol w="4480560"/>
              </a:tblGrid>
              <a:tr h="237744">
                <a:tc>
                  <a:txBody>
                    <a:bodyPr/>
                    <a:lstStyle/>
                    <a:p>
                      <a:pPr algn="l">
                        <a:defRPr sz="680" b="1">
                          <a:solidFill>
                            <a:srgbClr val="FFFFFF"/>
                          </a:solidFill>
                          <a:latin typeface="Poppins"/>
                        </a:defRPr>
                      </a:pPr>
                      <a:r>
                        <a:t>Change</a:t>
                      </a:r>
                    </a:p>
                  </a:txBody>
                  <a:tcPr marL="54864" marR="54864" marT="18288" marB="18288" anchor="ctr">
                    <a:solidFill>
                      <a:srgbClr val="C8102E"/>
                    </a:solidFill>
                  </a:tcPr>
                </a:tc>
                <a:tc>
                  <a:txBody>
                    <a:bodyPr/>
                    <a:lstStyle/>
                    <a:p>
                      <a:pPr algn="r">
                        <a:defRPr sz="680" b="1">
                          <a:solidFill>
                            <a:srgbClr val="FFFFFF"/>
                          </a:solidFill>
                          <a:latin typeface="Poppins"/>
                        </a:defRPr>
                      </a:pPr>
                      <a:r>
                        <a:t>Detail</a:t>
                      </a:r>
                    </a:p>
                  </a:txBody>
                  <a:tcPr marL="54864" marR="54864" marT="18288" marB="18288" anchor="ctr">
                    <a:solidFill>
                      <a:srgbClr val="C8102E"/>
                    </a:solidFill>
                  </a:tcPr>
                </a:tc>
              </a:tr>
              <a:tr h="347472">
                <a:tc>
                  <a:txBody>
                    <a:bodyPr/>
                    <a:lstStyle/>
                    <a:p>
                      <a:pPr algn="l">
                        <a:defRPr sz="720" b="0">
                          <a:solidFill>
                            <a:srgbClr val="4A4D55"/>
                          </a:solidFill>
                          <a:latin typeface="Poppins"/>
                        </a:defRPr>
                      </a:pPr>
                      <a:r>
                        <a:t>Added</a:t>
                      </a:r>
                    </a:p>
                  </a:txBody>
                  <a:tcPr marL="54864" marR="54864" marT="13716" marB="13716" anchor="ctr">
                    <a:solidFill>
                      <a:srgbClr val="FFFFFF"/>
                    </a:solidFill>
                  </a:tcPr>
                </a:tc>
                <a:tc>
                  <a:txBody>
                    <a:bodyPr/>
                    <a:lstStyle/>
                    <a:p>
                      <a:pPr algn="r">
                        <a:defRPr sz="720" b="0">
                          <a:solidFill>
                            <a:srgbClr val="4A4D55"/>
                          </a:solidFill>
                          <a:latin typeface="Poppins"/>
                        </a:defRPr>
                      </a:pPr>
                      <a:r>
                        <a:t>GPR and EPU risk indices, copper spillover, LME stocks, China CLI, five dated shock flags</a:t>
                      </a:r>
                    </a:p>
                  </a:txBody>
                  <a:tcPr marL="54864" marR="54864" marT="13716" marB="13716" anchor="ctr">
                    <a:solidFill>
                      <a:srgbClr val="FFFFFF"/>
                    </a:solidFill>
                  </a:tcPr>
                </a:tc>
              </a:tr>
              <a:tr h="347472">
                <a:tc>
                  <a:txBody>
                    <a:bodyPr/>
                    <a:lstStyle/>
                    <a:p>
                      <a:pPr algn="l">
                        <a:defRPr sz="720" b="0">
                          <a:solidFill>
                            <a:srgbClr val="4A4D55"/>
                          </a:solidFill>
                          <a:latin typeface="Poppins"/>
                        </a:defRPr>
                      </a:pPr>
                      <a:r>
                        <a:t>Replaced</a:t>
                      </a:r>
                    </a:p>
                  </a:txBody>
                  <a:tcPr marL="54864" marR="54864" marT="13716" marB="13716" anchor="ctr">
                    <a:solidFill>
                      <a:srgbClr val="FFFFFF"/>
                    </a:solidFill>
                  </a:tcPr>
                </a:tc>
                <a:tc>
                  <a:txBody>
                    <a:bodyPr/>
                    <a:lstStyle/>
                    <a:p>
                      <a:pPr algn="r">
                        <a:defRPr sz="720" b="0">
                          <a:solidFill>
                            <a:srgbClr val="4A4D55"/>
                          </a:solidFill>
                          <a:latin typeface="Poppins"/>
                        </a:defRPr>
                      </a:pPr>
                      <a:r>
                        <a:t>Paid alumina, ethylene and VCM indices → public World Bank and UN Comtrade proxies</a:t>
                      </a:r>
                    </a:p>
                  </a:txBody>
                  <a:tcPr marL="54864" marR="54864" marT="13716" marB="13716" anchor="ctr">
                    <a:solidFill>
                      <a:srgbClr val="FFFFFF"/>
                    </a:solidFill>
                  </a:tcPr>
                </a:tc>
              </a:tr>
              <a:tr h="347472">
                <a:tc>
                  <a:txBody>
                    <a:bodyPr/>
                    <a:lstStyle/>
                    <a:p>
                      <a:pPr algn="l">
                        <a:defRPr sz="720" b="0">
                          <a:solidFill>
                            <a:srgbClr val="4A4D55"/>
                          </a:solidFill>
                          <a:latin typeface="Poppins"/>
                        </a:defRPr>
                      </a:pPr>
                      <a:r>
                        <a:t>Dropped</a:t>
                      </a:r>
                    </a:p>
                  </a:txBody>
                  <a:tcPr marL="54864" marR="54864" marT="13716" marB="13716" anchor="ctr">
                    <a:solidFill>
                      <a:srgbClr val="FFFFFF"/>
                    </a:solidFill>
                  </a:tcPr>
                </a:tc>
                <a:tc>
                  <a:txBody>
                    <a:bodyPr/>
                    <a:lstStyle/>
                    <a:p>
                      <a:pPr algn="r">
                        <a:defRPr sz="720" b="0">
                          <a:solidFill>
                            <a:srgbClr val="4A4D55"/>
                          </a:solidFill>
                          <a:latin typeface="Poppins"/>
                        </a:defRPr>
                      </a:pPr>
                      <a:r>
                        <a:t>Indicators failing all three keep-rule branches, with the reason logged</a:t>
                      </a:r>
                    </a:p>
                  </a:txBody>
                  <a:tcPr marL="54864" marR="54864" marT="13716" marB="13716" anchor="ctr">
                    <a:solidFill>
                      <a:srgbClr val="FFFFFF"/>
                    </a:solidFill>
                  </a:tcPr>
                </a:tc>
              </a:tr>
            </a:tbl>
          </a:graphicData>
        </a:graphic>
      </p:graphicFrame>
      <p:sp>
        <p:nvSpPr>
          <p:cNvPr id="72" name="TextBox 71"/>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World Bank Commodity Price Data (Pink Sheet). [2] UN Comtrade. [3] ECB reference rates. [4] Caldara &amp; Iacoviello (2022), American Economic Review 112(4). [5] Baker, Bloom &amp; Davis (2016), Quarterly Journal of Economics 131(4). [6] OECD composite leading indicators. Public sources only; 181 monthly observations, 2010–2024.</a:t>
            </a:r>
          </a:p>
        </p:txBody>
      </p:sp>
      <p:sp>
        <p:nvSpPr>
          <p:cNvPr id="73" name="TextBox 72"/>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4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Every feature carries the publication lag it really had, so the backtest sees only</a:t>
            </a:r>
          </a:p>
          <a:p>
            <a:pPr algn="l">
              <a:lnSpc>
                <a:spcPct val="112000"/>
              </a:lnSpc>
              <a:defRPr sz="1700" b="1" i="0">
                <a:solidFill>
                  <a:srgbClr val="16181D"/>
                </a:solidFill>
                <a:latin typeface="Poppins"/>
              </a:defRPr>
            </a:pPr>
            <a:r>
              <a:t>what was public at the time</a:t>
            </a:r>
          </a:p>
        </p:txBody>
      </p:sp>
      <p:sp>
        <p:nvSpPr>
          <p:cNvPr id="14" name="TextBox 13"/>
          <p:cNvSpPr txBox="1"/>
          <p:nvPr/>
        </p:nvSpPr>
        <p:spPr>
          <a:xfrm>
            <a:off x="502920" y="178308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as-of lag table, enforced in code</a:t>
            </a:r>
          </a:p>
        </p:txBody>
      </p:sp>
      <p:graphicFrame>
        <p:nvGraphicFramePr>
          <p:cNvPr id="15" name="Table 14"/>
          <p:cNvGraphicFramePr>
            <a:graphicFrameLocks noGrp="1"/>
          </p:cNvGraphicFramePr>
          <p:nvPr/>
        </p:nvGraphicFramePr>
        <p:xfrm>
          <a:off x="502920" y="2066543"/>
          <a:ext cx="6675117" cy="1883664"/>
        </p:xfrm>
        <a:graphic>
          <a:graphicData uri="http://schemas.openxmlformats.org/drawingml/2006/table">
            <a:tbl>
              <a:tblPr>
                <a:tableStyleId>{5C22544A-7EE6-4342-B048-85BDC9FD1C3A}</a:tableStyleId>
              </a:tblPr>
              <a:tblGrid>
                <a:gridCol w="2468879"/>
                <a:gridCol w="2926079"/>
                <a:gridCol w="1280159"/>
              </a:tblGrid>
              <a:tr h="237744">
                <a:tc>
                  <a:txBody>
                    <a:bodyPr/>
                    <a:lstStyle/>
                    <a:p>
                      <a:pPr algn="l">
                        <a:defRPr sz="700" b="1">
                          <a:solidFill>
                            <a:srgbClr val="FFFFFF"/>
                          </a:solidFill>
                          <a:latin typeface="Poppins"/>
                        </a:defRPr>
                      </a:pPr>
                      <a:r>
                        <a:t>Source</a:t>
                      </a:r>
                    </a:p>
                  </a:txBody>
                  <a:tcPr marL="54864" marR="54864" marT="18288" marB="18288" anchor="ctr">
                    <a:solidFill>
                      <a:srgbClr val="C8102E"/>
                    </a:solidFill>
                  </a:tcPr>
                </a:tc>
                <a:tc>
                  <a:txBody>
                    <a:bodyPr/>
                    <a:lstStyle/>
                    <a:p>
                      <a:pPr algn="r">
                        <a:defRPr sz="700" b="1">
                          <a:solidFill>
                            <a:srgbClr val="FFFFFF"/>
                          </a:solidFill>
                          <a:latin typeface="Poppins"/>
                        </a:defRPr>
                      </a:pPr>
                      <a:r>
                        <a:t>Series</a:t>
                      </a:r>
                    </a:p>
                  </a:txBody>
                  <a:tcPr marL="54864" marR="54864" marT="18288" marB="18288" anchor="ctr">
                    <a:solidFill>
                      <a:srgbClr val="C8102E"/>
                    </a:solidFill>
                  </a:tcPr>
                </a:tc>
                <a:tc>
                  <a:txBody>
                    <a:bodyPr/>
                    <a:lstStyle/>
                    <a:p>
                      <a:pPr algn="r">
                        <a:defRPr sz="700" b="1">
                          <a:solidFill>
                            <a:srgbClr val="FFFFFF"/>
                          </a:solidFill>
                          <a:latin typeface="Poppins"/>
                        </a:defRPr>
                      </a:pPr>
                      <a:r>
                        <a:t>Lag applied</a:t>
                      </a:r>
                    </a:p>
                  </a:txBody>
                  <a:tcPr marL="54864" marR="54864" marT="18288" marB="18288" anchor="ctr">
                    <a:solidFill>
                      <a:srgbClr val="C8102E"/>
                    </a:solidFill>
                  </a:tcPr>
                </a:tc>
              </a:tr>
              <a:tr h="274320">
                <a:tc>
                  <a:txBody>
                    <a:bodyPr/>
                    <a:lstStyle/>
                    <a:p>
                      <a:pPr algn="l">
                        <a:defRPr sz="760" b="0">
                          <a:solidFill>
                            <a:srgbClr val="4A4D55"/>
                          </a:solidFill>
                          <a:latin typeface="Poppins"/>
                        </a:defRPr>
                      </a:pPr>
                      <a:r>
                        <a:t>World Bank Pink Sheet prices</a:t>
                      </a:r>
                    </a:p>
                  </a:txBody>
                  <a:tcPr marL="54864" marR="54864" marT="13716" marB="13716" anchor="ctr">
                    <a:solidFill>
                      <a:srgbClr val="FFFFFF"/>
                    </a:solidFill>
                  </a:tcPr>
                </a:tc>
                <a:tc>
                  <a:txBody>
                    <a:bodyPr/>
                    <a:lstStyle/>
                    <a:p>
                      <a:pPr algn="r">
                        <a:defRPr sz="760" b="0">
                          <a:solidFill>
                            <a:srgbClr val="4A4D55"/>
                          </a:solidFill>
                          <a:latin typeface="Poppins"/>
                        </a:defRPr>
                      </a:pPr>
                      <a:r>
                        <a:t>coal, gas, crude, aluminium, base metals</a:t>
                      </a:r>
                    </a:p>
                  </a:txBody>
                  <a:tcPr marL="54864" marR="54864" marT="13716" marB="13716" anchor="ctr">
                    <a:solidFill>
                      <a:srgbClr val="FFFFFF"/>
                    </a:solidFill>
                  </a:tcPr>
                </a:tc>
                <a:tc>
                  <a:txBody>
                    <a:bodyPr/>
                    <a:lstStyle/>
                    <a:p>
                      <a:pPr algn="r">
                        <a:defRPr sz="760" b="0">
                          <a:solidFill>
                            <a:srgbClr val="4A4D55"/>
                          </a:solidFill>
                          <a:latin typeface="Poppins"/>
                        </a:defRPr>
                      </a:pPr>
                      <a:r>
                        <a:t>1 month</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UN Comtrade unit values</a:t>
                      </a:r>
                    </a:p>
                  </a:txBody>
                  <a:tcPr marL="54864" marR="54864" marT="13716" marB="13716" anchor="ctr">
                    <a:solidFill>
                      <a:srgbClr val="FFFFFF"/>
                    </a:solidFill>
                  </a:tcPr>
                </a:tc>
                <a:tc>
                  <a:txBody>
                    <a:bodyPr/>
                    <a:lstStyle/>
                    <a:p>
                      <a:pPr algn="r">
                        <a:defRPr sz="760" b="0">
                          <a:solidFill>
                            <a:srgbClr val="4A4D55"/>
                          </a:solidFill>
                          <a:latin typeface="Poppins"/>
                        </a:defRPr>
                      </a:pPr>
                      <a:r>
                        <a:t>alumina, bauxite, ethylene, VCM, PVC trade</a:t>
                      </a:r>
                    </a:p>
                  </a:txBody>
                  <a:tcPr marL="54864" marR="54864" marT="13716" marB="13716" anchor="ctr">
                    <a:solidFill>
                      <a:srgbClr val="FFFFFF"/>
                    </a:solidFill>
                  </a:tcPr>
                </a:tc>
                <a:tc>
                  <a:txBody>
                    <a:bodyPr/>
                    <a:lstStyle/>
                    <a:p>
                      <a:pPr algn="r">
                        <a:defRPr sz="760" b="0">
                          <a:solidFill>
                            <a:srgbClr val="4A4D55"/>
                          </a:solidFill>
                          <a:latin typeface="Poppins"/>
                        </a:defRPr>
                      </a:pPr>
                      <a:r>
                        <a:t>2 months</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ECB reference rates</a:t>
                      </a:r>
                    </a:p>
                  </a:txBody>
                  <a:tcPr marL="54864" marR="54864" marT="13716" marB="13716" anchor="ctr">
                    <a:solidFill>
                      <a:srgbClr val="FFFFFF"/>
                    </a:solidFill>
                  </a:tcPr>
                </a:tc>
                <a:tc>
                  <a:txBody>
                    <a:bodyPr/>
                    <a:lstStyle/>
                    <a:p>
                      <a:pPr algn="r">
                        <a:defRPr sz="760" b="0">
                          <a:solidFill>
                            <a:srgbClr val="4A4D55"/>
                          </a:solidFill>
                          <a:latin typeface="Poppins"/>
                        </a:defRPr>
                      </a:pPr>
                      <a:r>
                        <a:t>USD/INR, EUR crosses</a:t>
                      </a:r>
                    </a:p>
                  </a:txBody>
                  <a:tcPr marL="54864" marR="54864" marT="13716" marB="13716" anchor="ctr">
                    <a:solidFill>
                      <a:srgbClr val="FFFFFF"/>
                    </a:solidFill>
                  </a:tcPr>
                </a:tc>
                <a:tc>
                  <a:txBody>
                    <a:bodyPr/>
                    <a:lstStyle/>
                    <a:p>
                      <a:pPr algn="r">
                        <a:defRPr sz="760" b="0">
                          <a:solidFill>
                            <a:srgbClr val="4A4D55"/>
                          </a:solidFill>
                          <a:latin typeface="Poppi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GPR and EPU indices</a:t>
                      </a:r>
                    </a:p>
                  </a:txBody>
                  <a:tcPr marL="54864" marR="54864" marT="13716" marB="13716" anchor="ctr">
                    <a:solidFill>
                      <a:srgbClr val="FFFFFF"/>
                    </a:solidFill>
                  </a:tcPr>
                </a:tc>
                <a:tc>
                  <a:txBody>
                    <a:bodyPr/>
                    <a:lstStyle/>
                    <a:p>
                      <a:pPr algn="r">
                        <a:defRPr sz="760" b="0">
                          <a:solidFill>
                            <a:srgbClr val="4A4D55"/>
                          </a:solidFill>
                          <a:latin typeface="Poppins"/>
                        </a:defRPr>
                      </a:pPr>
                      <a:r>
                        <a:t>geopolitical risk, policy uncertainty</a:t>
                      </a:r>
                    </a:p>
                  </a:txBody>
                  <a:tcPr marL="54864" marR="54864" marT="13716" marB="13716" anchor="ctr">
                    <a:solidFill>
                      <a:srgbClr val="FFFFFF"/>
                    </a:solidFill>
                  </a:tcPr>
                </a:tc>
                <a:tc>
                  <a:txBody>
                    <a:bodyPr/>
                    <a:lstStyle/>
                    <a:p>
                      <a:pPr algn="r">
                        <a:defRPr sz="760" b="0">
                          <a:solidFill>
                            <a:srgbClr val="4A4D55"/>
                          </a:solidFill>
                          <a:latin typeface="Poppins"/>
                        </a:defRPr>
                      </a:pPr>
                      <a:r>
                        <a:t>0 months</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OECD composite leading indicator</a:t>
                      </a:r>
                    </a:p>
                  </a:txBody>
                  <a:tcPr marL="54864" marR="54864" marT="13716" marB="13716" anchor="ctr">
                    <a:solidFill>
                      <a:srgbClr val="FFFFFF"/>
                    </a:solidFill>
                  </a:tcPr>
                </a:tc>
                <a:tc>
                  <a:txBody>
                    <a:bodyPr/>
                    <a:lstStyle/>
                    <a:p>
                      <a:pPr algn="r">
                        <a:defRPr sz="760" b="0">
                          <a:solidFill>
                            <a:srgbClr val="4A4D55"/>
                          </a:solidFill>
                          <a:latin typeface="Poppins"/>
                        </a:defRPr>
                      </a:pPr>
                      <a:r>
                        <a:t>China demand proxy</a:t>
                      </a:r>
                    </a:p>
                  </a:txBody>
                  <a:tcPr marL="54864" marR="54864" marT="13716" marB="13716" anchor="ctr">
                    <a:solidFill>
                      <a:srgbClr val="FFFFFF"/>
                    </a:solidFill>
                  </a:tcPr>
                </a:tc>
                <a:tc>
                  <a:txBody>
                    <a:bodyPr/>
                    <a:lstStyle/>
                    <a:p>
                      <a:pPr algn="r">
                        <a:defRPr sz="760" b="0">
                          <a:solidFill>
                            <a:srgbClr val="4A4D55"/>
                          </a:solidFill>
                          <a:latin typeface="Poppins"/>
                        </a:defRPr>
                      </a:pPr>
                      <a:r>
                        <a:t>1 month</a:t>
                      </a:r>
                    </a:p>
                  </a:txBody>
                  <a:tcPr marL="54864" marR="54864" marT="13716" marB="13716" anchor="ctr">
                    <a:solidFill>
                      <a:srgbClr val="FFFFFF"/>
                    </a:solidFill>
                  </a:tcPr>
                </a:tc>
              </a:tr>
              <a:tr h="274320">
                <a:tc>
                  <a:txBody>
                    <a:bodyPr/>
                    <a:lstStyle/>
                    <a:p>
                      <a:pPr algn="l">
                        <a:defRPr sz="760" b="0">
                          <a:solidFill>
                            <a:srgbClr val="4A4D55"/>
                          </a:solidFill>
                          <a:latin typeface="Poppins"/>
                        </a:defRPr>
                      </a:pPr>
                      <a:r>
                        <a:t>Shock-event flags</a:t>
                      </a:r>
                    </a:p>
                  </a:txBody>
                  <a:tcPr marL="54864" marR="54864" marT="13716" marB="13716" anchor="ctr">
                    <a:solidFill>
                      <a:srgbClr val="FFFFFF"/>
                    </a:solidFill>
                  </a:tcPr>
                </a:tc>
                <a:tc>
                  <a:txBody>
                    <a:bodyPr/>
                    <a:lstStyle/>
                    <a:p>
                      <a:pPr algn="r">
                        <a:defRPr sz="760" b="0">
                          <a:solidFill>
                            <a:srgbClr val="4A4D55"/>
                          </a:solidFill>
                          <a:latin typeface="Poppins"/>
                        </a:defRPr>
                      </a:pPr>
                      <a:r>
                        <a:t>tariff, COVID, freeze, war, Red Sea</a:t>
                      </a:r>
                    </a:p>
                  </a:txBody>
                  <a:tcPr marL="54864" marR="54864" marT="13716" marB="13716" anchor="ctr">
                    <a:solidFill>
                      <a:srgbClr val="FFFFFF"/>
                    </a:solidFill>
                  </a:tcPr>
                </a:tc>
                <a:tc>
                  <a:txBody>
                    <a:bodyPr/>
                    <a:lstStyle/>
                    <a:p>
                      <a:pPr algn="r">
                        <a:defRPr sz="760" b="0">
                          <a:solidFill>
                            <a:srgbClr val="4A4D55"/>
                          </a:solidFill>
                          <a:latin typeface="Poppins"/>
                        </a:defRPr>
                      </a:pPr>
                      <a:r>
                        <a:t>dated at announcement</a:t>
                      </a:r>
                    </a:p>
                  </a:txBody>
                  <a:tcPr marL="54864" marR="54864" marT="13716" marB="13716" anchor="ctr">
                    <a:solidFill>
                      <a:srgbClr val="FFFFFF"/>
                    </a:solidFill>
                  </a:tcPr>
                </a:tc>
              </a:tr>
            </a:tbl>
          </a:graphicData>
        </a:graphic>
      </p:graphicFrame>
      <p:sp>
        <p:nvSpPr>
          <p:cNvPr id="16" name="TextBox 15"/>
          <p:cNvSpPr txBox="1"/>
          <p:nvPr/>
        </p:nvSpPr>
        <p:spPr>
          <a:xfrm>
            <a:off x="502920" y="4041648"/>
            <a:ext cx="667512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One function, visible_at(panel, origin), returns only rows published by that origin.</a:t>
            </a:r>
          </a:p>
          <a:p>
            <a:pPr algn="l">
              <a:lnSpc>
                <a:spcPct val="125000"/>
              </a:lnSpc>
              <a:defRPr sz="740" b="1" i="0">
                <a:solidFill>
                  <a:srgbClr val="C8102E"/>
                </a:solidFill>
                <a:latin typeface="Poppins"/>
              </a:defRPr>
            </a:pPr>
            <a:r>
              <a:t>Every feature is built from its output. There is no second path into the feature matrix.</a:t>
            </a:r>
          </a:p>
        </p:txBody>
      </p:sp>
      <p:cxnSp>
        <p:nvCxnSpPr>
          <p:cNvPr id="17" name="Connector 16"/>
          <p:cNvCxnSpPr/>
          <p:nvPr/>
        </p:nvCxnSpPr>
        <p:spPr>
          <a:xfrm>
            <a:off x="502920" y="4572000"/>
            <a:ext cx="667512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4709160"/>
            <a:ext cx="667512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Leakage guardrails, as published in Round 1</a:t>
            </a:r>
          </a:p>
        </p:txBody>
      </p:sp>
      <p:sp>
        <p:nvSpPr>
          <p:cNvPr id="19" name="TextBox 18"/>
          <p:cNvSpPr txBox="1"/>
          <p:nvPr/>
        </p:nvSpPr>
        <p:spPr>
          <a:xfrm>
            <a:off x="502920" y="501091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0" name="TextBox 19"/>
          <p:cNvSpPr txBox="1"/>
          <p:nvPr/>
        </p:nvSpPr>
        <p:spPr>
          <a:xfrm>
            <a:off x="621792" y="501091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Scalers, imputers and feature selection refitted inside every fold, never on the full sample.</a:t>
            </a:r>
          </a:p>
        </p:txBody>
      </p:sp>
      <p:sp>
        <p:nvSpPr>
          <p:cNvPr id="21" name="TextBox 20"/>
          <p:cNvSpPr txBox="1"/>
          <p:nvPr/>
        </p:nvSpPr>
        <p:spPr>
          <a:xfrm>
            <a:off x="502920" y="521665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2" name="TextBox 21"/>
          <p:cNvSpPr txBox="1"/>
          <p:nvPr/>
        </p:nvSpPr>
        <p:spPr>
          <a:xfrm>
            <a:off x="621792" y="521665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Trailing rolling windows only. A centred window averages future values into a past point.</a:t>
            </a:r>
          </a:p>
        </p:txBody>
      </p:sp>
      <p:sp>
        <p:nvSpPr>
          <p:cNvPr id="23" name="TextBox 22"/>
          <p:cNvSpPr txBox="1"/>
          <p:nvPr/>
        </p:nvSpPr>
        <p:spPr>
          <a:xfrm>
            <a:off x="502920" y="542239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4" name="TextBox 23"/>
          <p:cNvSpPr txBox="1"/>
          <p:nvPr/>
        </p:nvSpPr>
        <p:spPr>
          <a:xfrm>
            <a:off x="621792" y="542239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Shock flags dated at announcement, never at the month the price reacted.</a:t>
            </a:r>
          </a:p>
        </p:txBody>
      </p:sp>
      <p:sp>
        <p:nvSpPr>
          <p:cNvPr id="25" name="TextBox 24"/>
          <p:cNvSpPr txBox="1"/>
          <p:nvPr/>
        </p:nvSpPr>
        <p:spPr>
          <a:xfrm>
            <a:off x="502920" y="5628132"/>
            <a:ext cx="91440" cy="182880"/>
          </a:xfrm>
          <a:prstGeom prst="rect">
            <a:avLst/>
          </a:prstGeom>
          <a:noFill/>
        </p:spPr>
        <p:txBody>
          <a:bodyPr wrap="square" lIns="0" rIns="0" tIns="0" bIns="0">
            <a:spAutoFit/>
          </a:bodyPr>
          <a:lstStyle/>
          <a:p>
            <a:pPr algn="l">
              <a:lnSpc>
                <a:spcPct val="115000"/>
              </a:lnSpc>
              <a:defRPr sz="860" b="0" i="0">
                <a:solidFill>
                  <a:srgbClr val="C8102E"/>
                </a:solidFill>
                <a:latin typeface="Poppins"/>
              </a:defRPr>
            </a:pPr>
            <a:r>
              <a:t>•</a:t>
            </a:r>
          </a:p>
        </p:txBody>
      </p:sp>
      <p:sp>
        <p:nvSpPr>
          <p:cNvPr id="26" name="TextBox 25"/>
          <p:cNvSpPr txBox="1"/>
          <p:nvPr/>
        </p:nvSpPr>
        <p:spPr>
          <a:xfrm>
            <a:off x="621792" y="5628132"/>
            <a:ext cx="6556248" cy="384048"/>
          </a:xfrm>
          <a:prstGeom prst="rect">
            <a:avLst/>
          </a:prstGeom>
          <a:noFill/>
        </p:spPr>
        <p:txBody>
          <a:bodyPr wrap="square" lIns="0" rIns="0" tIns="0" bIns="0">
            <a:spAutoFit/>
          </a:bodyPr>
          <a:lstStyle/>
          <a:p>
            <a:pPr algn="l">
              <a:lnSpc>
                <a:spcPct val="120000"/>
              </a:lnSpc>
              <a:defRPr sz="860" b="0" i="0">
                <a:solidFill>
                  <a:srgbClr val="4A4D55"/>
                </a:solidFill>
                <a:latin typeface="Poppins"/>
              </a:defRPr>
            </a:pPr>
            <a:r>
              <a:t>Metrics reported per horizon and per regime, never averaged into one headline number.</a:t>
            </a:r>
          </a:p>
        </p:txBody>
      </p:sp>
      <p:sp>
        <p:nvSpPr>
          <p:cNvPr id="27" name="TextBox 26"/>
          <p:cNvSpPr txBox="1"/>
          <p:nvPr/>
        </p:nvSpPr>
        <p:spPr>
          <a:xfrm>
            <a:off x="7452360" y="178308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Coverage of the assembled panel</a:t>
            </a:r>
          </a:p>
        </p:txBody>
      </p:sp>
      <p:cxnSp>
        <p:nvCxnSpPr>
          <p:cNvPr id="28" name="Connector 27"/>
          <p:cNvCxnSpPr/>
          <p:nvPr/>
        </p:nvCxnSpPr>
        <p:spPr>
          <a:xfrm>
            <a:off x="745236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5236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Poppins"/>
              </a:defRPr>
            </a:pPr>
            <a:r>
              <a:t>181</a:t>
            </a:r>
          </a:p>
        </p:txBody>
      </p:sp>
      <p:sp>
        <p:nvSpPr>
          <p:cNvPr id="30" name="TextBox 29"/>
          <p:cNvSpPr txBox="1"/>
          <p:nvPr/>
        </p:nvSpPr>
        <p:spPr>
          <a:xfrm>
            <a:off x="745236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monthly observations</a:t>
            </a:r>
          </a:p>
          <a:p>
            <a:pPr algn="l">
              <a:lnSpc>
                <a:spcPct val="122000"/>
              </a:lnSpc>
              <a:defRPr sz="760" b="0" i="0">
                <a:solidFill>
                  <a:srgbClr val="7C8089"/>
                </a:solidFill>
                <a:latin typeface="Poppins"/>
              </a:defRPr>
            </a:pPr>
            <a:r>
              <a:t>January 2010 – June 2024</a:t>
            </a:r>
          </a:p>
        </p:txBody>
      </p:sp>
      <p:cxnSp>
        <p:nvCxnSpPr>
          <p:cNvPr id="31" name="Connector 30"/>
          <p:cNvCxnSpPr/>
          <p:nvPr/>
        </p:nvCxnSpPr>
        <p:spPr>
          <a:xfrm>
            <a:off x="891540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91540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Poppins"/>
              </a:defRPr>
            </a:pPr>
            <a:r>
              <a:t>60+</a:t>
            </a:r>
          </a:p>
        </p:txBody>
      </p:sp>
      <p:sp>
        <p:nvSpPr>
          <p:cNvPr id="33" name="TextBox 32"/>
          <p:cNvSpPr txBox="1"/>
          <p:nvPr/>
        </p:nvSpPr>
        <p:spPr>
          <a:xfrm>
            <a:off x="891540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engineered features across</a:t>
            </a:r>
          </a:p>
          <a:p>
            <a:pPr algn="l">
              <a:lnSpc>
                <a:spcPct val="122000"/>
              </a:lnSpc>
              <a:defRPr sz="760" b="0" i="0">
                <a:solidFill>
                  <a:srgbClr val="7C8089"/>
                </a:solidFill>
                <a:latin typeface="Poppins"/>
              </a:defRPr>
            </a:pPr>
            <a:r>
              <a:t>five economic families</a:t>
            </a:r>
          </a:p>
        </p:txBody>
      </p:sp>
      <p:cxnSp>
        <p:nvCxnSpPr>
          <p:cNvPr id="34" name="Connector 33"/>
          <p:cNvCxnSpPr/>
          <p:nvPr/>
        </p:nvCxnSpPr>
        <p:spPr>
          <a:xfrm>
            <a:off x="10378440" y="2084831"/>
            <a:ext cx="13258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378440" y="2167127"/>
            <a:ext cx="1325880" cy="347472"/>
          </a:xfrm>
          <a:prstGeom prst="rect">
            <a:avLst/>
          </a:prstGeom>
          <a:noFill/>
        </p:spPr>
        <p:txBody>
          <a:bodyPr wrap="square" lIns="0" rIns="0" tIns="0" bIns="0">
            <a:spAutoFit/>
          </a:bodyPr>
          <a:lstStyle/>
          <a:p>
            <a:pPr algn="l">
              <a:lnSpc>
                <a:spcPct val="115000"/>
              </a:lnSpc>
              <a:defRPr sz="1900" b="1" i="0">
                <a:solidFill>
                  <a:srgbClr val="C8102E"/>
                </a:solidFill>
                <a:latin typeface="Poppins"/>
              </a:defRPr>
            </a:pPr>
            <a:r>
              <a:t>78</a:t>
            </a:r>
          </a:p>
        </p:txBody>
      </p:sp>
      <p:sp>
        <p:nvSpPr>
          <p:cNvPr id="36" name="TextBox 35"/>
          <p:cNvSpPr txBox="1"/>
          <p:nvPr/>
        </p:nvSpPr>
        <p:spPr>
          <a:xfrm>
            <a:off x="10378440" y="2620518"/>
            <a:ext cx="1325880" cy="384048"/>
          </a:xfrm>
          <a:prstGeom prst="rect">
            <a:avLst/>
          </a:prstGeom>
          <a:noFill/>
        </p:spPr>
        <p:txBody>
          <a:bodyPr wrap="square" lIns="0" rIns="0" tIns="0" bIns="0">
            <a:spAutoFit/>
          </a:bodyPr>
          <a:lstStyle/>
          <a:p>
            <a:pPr algn="l">
              <a:lnSpc>
                <a:spcPct val="122000"/>
              </a:lnSpc>
              <a:defRPr sz="760" b="0" i="0">
                <a:solidFill>
                  <a:srgbClr val="7C8089"/>
                </a:solidFill>
                <a:latin typeface="Poppins"/>
              </a:defRPr>
            </a:pPr>
            <a:r>
              <a:t>walk-forward folds</a:t>
            </a:r>
          </a:p>
          <a:p>
            <a:pPr algn="l">
              <a:lnSpc>
                <a:spcPct val="122000"/>
              </a:lnSpc>
              <a:defRPr sz="760" b="0" i="0">
                <a:solidFill>
                  <a:srgbClr val="7C8089"/>
                </a:solidFill>
                <a:latin typeface="Poppins"/>
              </a:defRPr>
            </a:pPr>
            <a:r>
              <a:t>Jan 2018 – Jun 2024</a:t>
            </a:r>
          </a:p>
        </p:txBody>
      </p:sp>
      <p:sp>
        <p:nvSpPr>
          <p:cNvPr id="37" name="TextBox 36"/>
          <p:cNvSpPr txBox="1"/>
          <p:nvPr/>
        </p:nvSpPr>
        <p:spPr>
          <a:xfrm>
            <a:off x="7452360" y="3291840"/>
            <a:ext cx="4251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Feature families</a:t>
            </a:r>
          </a:p>
        </p:txBody>
      </p:sp>
      <p:sp>
        <p:nvSpPr>
          <p:cNvPr id="38" name="TextBox 37"/>
          <p:cNvSpPr txBox="1"/>
          <p:nvPr/>
        </p:nvSpPr>
        <p:spPr>
          <a:xfrm>
            <a:off x="7452360" y="3584448"/>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39" name="TextBox 38"/>
          <p:cNvSpPr txBox="1"/>
          <p:nvPr/>
        </p:nvSpPr>
        <p:spPr>
          <a:xfrm>
            <a:off x="7571232" y="3584448"/>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Price dynamics — lags, momentum, trailing volatility, z-scores</a:t>
            </a:r>
          </a:p>
        </p:txBody>
      </p:sp>
      <p:sp>
        <p:nvSpPr>
          <p:cNvPr id="40" name="TextBox 39"/>
          <p:cNvSpPr txBox="1"/>
          <p:nvPr/>
        </p:nvSpPr>
        <p:spPr>
          <a:xfrm>
            <a:off x="7452360" y="38084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1" name="TextBox 40"/>
          <p:cNvSpPr txBox="1"/>
          <p:nvPr/>
        </p:nvSpPr>
        <p:spPr>
          <a:xfrm>
            <a:off x="7571232" y="3808476"/>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Cost-push feedstock — coal, alumina, naphtha, ethylene, VCM, and spreads</a:t>
            </a:r>
          </a:p>
        </p:txBody>
      </p:sp>
      <p:sp>
        <p:nvSpPr>
          <p:cNvPr id="42" name="TextBox 41"/>
          <p:cNvSpPr txBox="1"/>
          <p:nvPr/>
        </p:nvSpPr>
        <p:spPr>
          <a:xfrm>
            <a:off x="7452360" y="4032504"/>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3" name="TextBox 42"/>
          <p:cNvSpPr txBox="1"/>
          <p:nvPr/>
        </p:nvSpPr>
        <p:spPr>
          <a:xfrm>
            <a:off x="7571232" y="4032504"/>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Macro demand — China CLI, PMI, base-metals spillover</a:t>
            </a:r>
          </a:p>
        </p:txBody>
      </p:sp>
      <p:sp>
        <p:nvSpPr>
          <p:cNvPr id="44" name="TextBox 43"/>
          <p:cNvSpPr txBox="1"/>
          <p:nvPr/>
        </p:nvSpPr>
        <p:spPr>
          <a:xfrm>
            <a:off x="7452360" y="4256532"/>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5" name="TextBox 44"/>
          <p:cNvSpPr txBox="1"/>
          <p:nvPr/>
        </p:nvSpPr>
        <p:spPr>
          <a:xfrm>
            <a:off x="7571232" y="4256532"/>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Supply and inventory — LME stocks, Comtrade export volumes</a:t>
            </a:r>
          </a:p>
        </p:txBody>
      </p:sp>
      <p:sp>
        <p:nvSpPr>
          <p:cNvPr id="46" name="TextBox 45"/>
          <p:cNvSpPr txBox="1"/>
          <p:nvPr/>
        </p:nvSpPr>
        <p:spPr>
          <a:xfrm>
            <a:off x="7452360" y="4480560"/>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47" name="TextBox 46"/>
          <p:cNvSpPr txBox="1"/>
          <p:nvPr/>
        </p:nvSpPr>
        <p:spPr>
          <a:xfrm>
            <a:off x="7571232" y="4480560"/>
            <a:ext cx="4133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Risk and shocks — GPR, EPU, five dated event flags</a:t>
            </a:r>
          </a:p>
        </p:txBody>
      </p:sp>
      <p:sp>
        <p:nvSpPr>
          <p:cNvPr id="48" name="TextBox 47"/>
          <p:cNvSpPr txBox="1"/>
          <p:nvPr/>
        </p:nvSpPr>
        <p:spPr>
          <a:xfrm>
            <a:off x="7452360" y="4956048"/>
            <a:ext cx="425196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Known limitation. PVC has no free, long-history Asian spot index. We model a public</a:t>
            </a:r>
          </a:p>
          <a:p>
            <a:pPr algn="l">
              <a:lnSpc>
                <a:spcPct val="125000"/>
              </a:lnSpc>
              <a:defRPr sz="780" b="0" i="0">
                <a:solidFill>
                  <a:srgbClr val="4A4D55"/>
                </a:solidFill>
                <a:latin typeface="Poppins"/>
              </a:defRPr>
            </a:pPr>
            <a:r>
              <a:t>proxy and treat the India landed price as a separate overlay. This is the largest</a:t>
            </a:r>
          </a:p>
          <a:p>
            <a:pPr algn="l">
              <a:lnSpc>
                <a:spcPct val="125000"/>
              </a:lnSpc>
              <a:defRPr sz="780" b="0" i="0">
                <a:solidFill>
                  <a:srgbClr val="4A4D55"/>
                </a:solidFill>
                <a:latin typeface="Poppins"/>
              </a:defRPr>
            </a:pPr>
            <a:r>
              <a:t>single data risk in the project and is on the risk register unchanged from Round 1.</a:t>
            </a:r>
          </a:p>
        </p:txBody>
      </p:sp>
      <p:sp>
        <p:nvSpPr>
          <p:cNvPr id="49" name="TextBox 4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Publication lags assigned from each provider's own release calendar and enforced in src/ingestion. The lag table is versioned at config/lag_table.yaml. Coverage and gap reports are reproducible from the raw dated pulls.</a:t>
            </a:r>
          </a:p>
        </p:txBody>
      </p:sp>
      <p:sp>
        <p:nvSpPr>
          <p:cNvPr id="50" name="TextBox 4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Rounded Rectangle 4"/>
          <p:cNvSpPr/>
          <p:nvPr/>
        </p:nvSpPr>
        <p:spPr>
          <a:xfrm>
            <a:off x="2128331"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Drivers &amp; data</a:t>
            </a:r>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5  ·  D R I V E R S   &amp;   D A T A</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Econometric driver study: lead–lag cross-correlations and formal hypothesis verdicts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Lead–lag study: peak cross-correlations</a:t>
            </a:r>
          </a:p>
        </p:txBody>
      </p:sp>
      <p:pic>
        <p:nvPicPr>
          <p:cNvPr id="15" name="Picture 14" descr="aluminium_drivers.png"/>
          <p:cNvPicPr>
            <a:picLocks noChangeAspect="1"/>
          </p:cNvPicPr>
          <p:nvPr/>
        </p:nvPicPr>
        <p:blipFill>
          <a:blip r:embed="rId2"/>
          <a:stretch>
            <a:fillRect/>
          </a:stretch>
        </p:blipFill>
        <p:spPr>
          <a:xfrm>
            <a:off x="502920" y="2029968"/>
            <a:ext cx="5394960" cy="2202024"/>
          </a:xfrm>
          <a:prstGeom prst="rect">
            <a:avLst/>
          </a:prstGeom>
        </p:spPr>
      </p:pic>
      <p:sp>
        <p:nvSpPr>
          <p:cNvPr id="16" name="TextBox 15"/>
          <p:cNvSpPr txBox="1"/>
          <p:nvPr/>
        </p:nvSpPr>
        <p:spPr>
          <a:xfrm>
            <a:off x="502920" y="4279392"/>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Key leading relationships discovered</a:t>
            </a:r>
          </a:p>
        </p:txBody>
      </p:sp>
      <p:sp>
        <p:nvSpPr>
          <p:cNvPr id="17" name="TextBox 16"/>
          <p:cNvSpPr txBox="1"/>
          <p:nvPr/>
        </p:nvSpPr>
        <p:spPr>
          <a:xfrm>
            <a:off x="502920" y="4535424"/>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Poppins"/>
              </a:defRPr>
            </a:pPr>
            <a:r>
              <a:t>•</a:t>
            </a:r>
          </a:p>
        </p:txBody>
      </p:sp>
      <p:sp>
        <p:nvSpPr>
          <p:cNvPr id="18" name="TextBox 17"/>
          <p:cNvSpPr txBox="1"/>
          <p:nvPr/>
        </p:nvSpPr>
        <p:spPr>
          <a:xfrm>
            <a:off x="630936" y="4535424"/>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Poppins"/>
              </a:defRPr>
            </a:pPr>
            <a:r>
              <a:t>*Geopolitical risk leads aluminium by 1 month:* ρ = −0.33 at lag 1 (Granger-significant). Risk spikes front-run price weakness, not strength.</a:t>
            </a:r>
          </a:p>
        </p:txBody>
      </p:sp>
      <p:sp>
        <p:nvSpPr>
          <p:cNvPr id="19" name="TextBox 18"/>
          <p:cNvSpPr txBox="1"/>
          <p:nvPr/>
        </p:nvSpPr>
        <p:spPr>
          <a:xfrm>
            <a:off x="502920" y="4937760"/>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Poppins"/>
              </a:defRPr>
            </a:pPr>
            <a:r>
              <a:t>•</a:t>
            </a:r>
          </a:p>
        </p:txBody>
      </p:sp>
      <p:sp>
        <p:nvSpPr>
          <p:cNvPr id="20" name="TextBox 19"/>
          <p:cNvSpPr txBox="1"/>
          <p:nvPr/>
        </p:nvSpPr>
        <p:spPr>
          <a:xfrm>
            <a:off x="630936" y="4937760"/>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Poppins"/>
              </a:defRPr>
            </a:pPr>
            <a:r>
              <a:t>*Copper leads aluminium by 6 months:* ρ = +0.24 at lag 6 (FDR-corrected). Base-metals demand is a slow, cyclical leading signal.</a:t>
            </a:r>
          </a:p>
        </p:txBody>
      </p:sp>
      <p:sp>
        <p:nvSpPr>
          <p:cNvPr id="21" name="TextBox 20"/>
          <p:cNvSpPr txBox="1"/>
          <p:nvPr/>
        </p:nvSpPr>
        <p:spPr>
          <a:xfrm>
            <a:off x="502920" y="5340096"/>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Poppins"/>
              </a:defRPr>
            </a:pPr>
            <a:r>
              <a:t>•</a:t>
            </a:r>
          </a:p>
        </p:txBody>
      </p:sp>
      <p:sp>
        <p:nvSpPr>
          <p:cNvPr id="22" name="TextBox 21"/>
          <p:cNvSpPr txBox="1"/>
          <p:nvPr/>
        </p:nvSpPr>
        <p:spPr>
          <a:xfrm>
            <a:off x="630936" y="5340096"/>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Poppins"/>
              </a:defRPr>
            </a:pPr>
            <a:r>
              <a:t>*China export supply leads PVC by 1 month:* ρ = +0.39 at lag 1, the strongest single leading indicator for Asian PVC.</a:t>
            </a:r>
          </a:p>
        </p:txBody>
      </p:sp>
      <p:sp>
        <p:nvSpPr>
          <p:cNvPr id="23" name="TextBox 22"/>
          <p:cNvSpPr txBox="1"/>
          <p:nvPr/>
        </p:nvSpPr>
        <p:spPr>
          <a:xfrm>
            <a:off x="502920" y="5742432"/>
            <a:ext cx="91440" cy="182880"/>
          </a:xfrm>
          <a:prstGeom prst="rect">
            <a:avLst/>
          </a:prstGeom>
          <a:noFill/>
        </p:spPr>
        <p:txBody>
          <a:bodyPr wrap="square" lIns="0" rIns="0" tIns="0" bIns="0">
            <a:spAutoFit/>
          </a:bodyPr>
          <a:lstStyle/>
          <a:p>
            <a:pPr algn="l">
              <a:lnSpc>
                <a:spcPct val="115000"/>
              </a:lnSpc>
              <a:defRPr sz="780" b="0" i="0">
                <a:solidFill>
                  <a:srgbClr val="C8102E"/>
                </a:solidFill>
                <a:latin typeface="Poppins"/>
              </a:defRPr>
            </a:pPr>
            <a:r>
              <a:t>•</a:t>
            </a:r>
          </a:p>
        </p:txBody>
      </p:sp>
      <p:sp>
        <p:nvSpPr>
          <p:cNvPr id="24" name="TextBox 23"/>
          <p:cNvSpPr txBox="1"/>
          <p:nvPr/>
        </p:nvSpPr>
        <p:spPr>
          <a:xfrm>
            <a:off x="630936" y="5742432"/>
            <a:ext cx="5257800" cy="384048"/>
          </a:xfrm>
          <a:prstGeom prst="rect">
            <a:avLst/>
          </a:prstGeom>
          <a:noFill/>
        </p:spPr>
        <p:txBody>
          <a:bodyPr wrap="square" lIns="0" rIns="0" tIns="0" bIns="0">
            <a:spAutoFit/>
          </a:bodyPr>
          <a:lstStyle/>
          <a:p>
            <a:pPr algn="l">
              <a:lnSpc>
                <a:spcPct val="118000"/>
              </a:lnSpc>
              <a:defRPr sz="750" b="0" i="0">
                <a:solidFill>
                  <a:srgbClr val="4A4D55"/>
                </a:solidFill>
                <a:latin typeface="Poppins"/>
              </a:defRPr>
            </a:pPr>
            <a:r>
              <a:t>*Coal, Crude &amp; PMI act non-linearly:* Key regime shifters; non-linearities handled via tree ensembles and N-BEATS neural decomposition.</a:t>
            </a:r>
          </a:p>
        </p:txBody>
      </p:sp>
      <p:sp>
        <p:nvSpPr>
          <p:cNvPr id="25" name="TextBox 24"/>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Four core hypotheses: formal verdicts</a:t>
            </a:r>
          </a:p>
        </p:txBody>
      </p:sp>
      <p:sp>
        <p:nvSpPr>
          <p:cNvPr id="26" name="Rectangle 25"/>
          <p:cNvSpPr/>
          <p:nvPr/>
        </p:nvSpPr>
        <p:spPr>
          <a:xfrm>
            <a:off x="6263640" y="2029968"/>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63640" y="2029968"/>
            <a:ext cx="41148" cy="9144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0" y="2121408"/>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Poppins"/>
              </a:defRPr>
            </a:pPr>
            <a:r>
              <a:t>H1</a:t>
            </a:r>
          </a:p>
        </p:txBody>
      </p:sp>
      <p:sp>
        <p:nvSpPr>
          <p:cNvPr id="29" name="TextBox 28"/>
          <p:cNvSpPr txBox="1"/>
          <p:nvPr/>
        </p:nvSpPr>
        <p:spPr>
          <a:xfrm>
            <a:off x="6858000" y="2121408"/>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Poppins"/>
              </a:defRPr>
            </a:pPr>
            <a:r>
              <a:t>China coal and LME stocks lead aluminium by 1 to 3 months.</a:t>
            </a:r>
          </a:p>
        </p:txBody>
      </p:sp>
      <p:sp>
        <p:nvSpPr>
          <p:cNvPr id="30" name="TextBox 29"/>
          <p:cNvSpPr txBox="1"/>
          <p:nvPr/>
        </p:nvSpPr>
        <p:spPr>
          <a:xfrm>
            <a:off x="10469880" y="2121408"/>
            <a:ext cx="1143000" cy="201168"/>
          </a:xfrm>
          <a:prstGeom prst="rect">
            <a:avLst/>
          </a:prstGeom>
          <a:noFill/>
        </p:spPr>
        <p:txBody>
          <a:bodyPr wrap="square" lIns="0" rIns="0" tIns="0" bIns="0">
            <a:spAutoFit/>
          </a:bodyPr>
          <a:lstStyle/>
          <a:p>
            <a:pPr algn="r">
              <a:lnSpc>
                <a:spcPct val="115000"/>
              </a:lnSpc>
              <a:defRPr sz="740" b="1" i="0">
                <a:solidFill>
                  <a:srgbClr val="8A5A00"/>
                </a:solidFill>
                <a:latin typeface="Poppins"/>
              </a:defRPr>
            </a:pPr>
            <a:r>
              <a:t>PARTIALLY SUPPORTED</a:t>
            </a:r>
          </a:p>
        </p:txBody>
      </p:sp>
      <p:sp>
        <p:nvSpPr>
          <p:cNvPr id="31" name="TextBox 30"/>
          <p:cNvSpPr txBox="1"/>
          <p:nvPr/>
        </p:nvSpPr>
        <p:spPr>
          <a:xfrm>
            <a:off x="6858000" y="2340864"/>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Poppins"/>
              </a:defRPr>
            </a:pPr>
            <a:r>
              <a:t>peak rho = 0.1409 at lag 3M | Granger p(raw) = 0.1199, p(FDR) = 0.1713 · peak rho = -0.0777 at lag 6M | Granger p(raw) = 0.00</a:t>
            </a:r>
          </a:p>
        </p:txBody>
      </p:sp>
      <p:sp>
        <p:nvSpPr>
          <p:cNvPr id="32" name="TextBox 31"/>
          <p:cNvSpPr txBox="1"/>
          <p:nvPr/>
        </p:nvSpPr>
        <p:spPr>
          <a:xfrm>
            <a:off x="6858000" y="2596896"/>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Poppins"/>
              </a:defRPr>
            </a:pPr>
            <a:r>
              <a:t>LME stocks strongly Granger-cause aluminium price movements (FDR p = 0.007). Coal shows leading cross-correlation (peak at lag 3M), but raw </a:t>
            </a:r>
          </a:p>
        </p:txBody>
      </p:sp>
      <p:sp>
        <p:nvSpPr>
          <p:cNvPr id="33" name="Rectangle 32"/>
          <p:cNvSpPr/>
          <p:nvPr/>
        </p:nvSpPr>
        <p:spPr>
          <a:xfrm>
            <a:off x="6263640" y="2999232"/>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263640" y="2999232"/>
            <a:ext cx="41148" cy="914400"/>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0" y="3090672"/>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Poppins"/>
              </a:defRPr>
            </a:pPr>
            <a:r>
              <a:t>H2</a:t>
            </a:r>
          </a:p>
        </p:txBody>
      </p:sp>
      <p:sp>
        <p:nvSpPr>
          <p:cNvPr id="36" name="TextBox 35"/>
          <p:cNvSpPr txBox="1"/>
          <p:nvPr/>
        </p:nvSpPr>
        <p:spPr>
          <a:xfrm>
            <a:off x="6858000" y="3090672"/>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Poppins"/>
              </a:defRPr>
            </a:pPr>
            <a:r>
              <a:t>Ethylene monomer and China export offers lead PVC by 1 to 2 months.</a:t>
            </a:r>
          </a:p>
        </p:txBody>
      </p:sp>
      <p:sp>
        <p:nvSpPr>
          <p:cNvPr id="37" name="TextBox 36"/>
          <p:cNvSpPr txBox="1"/>
          <p:nvPr/>
        </p:nvSpPr>
        <p:spPr>
          <a:xfrm>
            <a:off x="10469880" y="3090672"/>
            <a:ext cx="1143000" cy="201168"/>
          </a:xfrm>
          <a:prstGeom prst="rect">
            <a:avLst/>
          </a:prstGeom>
          <a:noFill/>
        </p:spPr>
        <p:txBody>
          <a:bodyPr wrap="square" lIns="0" rIns="0" tIns="0" bIns="0">
            <a:spAutoFit/>
          </a:bodyPr>
          <a:lstStyle/>
          <a:p>
            <a:pPr algn="r">
              <a:lnSpc>
                <a:spcPct val="115000"/>
              </a:lnSpc>
              <a:defRPr sz="740" b="1" i="0">
                <a:solidFill>
                  <a:srgbClr val="0F6B3F"/>
                </a:solidFill>
                <a:latin typeface="Poppins"/>
              </a:defRPr>
            </a:pPr>
            <a:r>
              <a:t>SUPPORTED</a:t>
            </a:r>
          </a:p>
        </p:txBody>
      </p:sp>
      <p:sp>
        <p:nvSpPr>
          <p:cNvPr id="38" name="TextBox 37"/>
          <p:cNvSpPr txBox="1"/>
          <p:nvPr/>
        </p:nvSpPr>
        <p:spPr>
          <a:xfrm>
            <a:off x="6858000" y="3310128"/>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Poppins"/>
              </a:defRPr>
            </a:pPr>
            <a:r>
              <a:t>peak rho = 0.1366 at lag 4M | Granger p(raw) = 0.0223, p(FDR) = 0.0476 · peak rho = 0.3924 at lag 1M | Granger p(raw) = 0.0, </a:t>
            </a:r>
          </a:p>
        </p:txBody>
      </p:sp>
      <p:sp>
        <p:nvSpPr>
          <p:cNvPr id="39" name="TextBox 38"/>
          <p:cNvSpPr txBox="1"/>
          <p:nvPr/>
        </p:nvSpPr>
        <p:spPr>
          <a:xfrm>
            <a:off x="6858000" y="3566160"/>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Poppins"/>
              </a:defRPr>
            </a:pPr>
            <a:r>
              <a:t>Both China PVC export supply trends (FDR p = 0.000) and Ethylene monomer feedstock (FDR p = 0.056) Granger-cause Asian PVC spot price moveme</a:t>
            </a:r>
          </a:p>
        </p:txBody>
      </p:sp>
      <p:sp>
        <p:nvSpPr>
          <p:cNvPr id="40" name="Rectangle 39"/>
          <p:cNvSpPr/>
          <p:nvPr/>
        </p:nvSpPr>
        <p:spPr>
          <a:xfrm>
            <a:off x="6263640" y="3968496"/>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63640" y="3968496"/>
            <a:ext cx="41148" cy="9144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0" y="4059935"/>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Poppins"/>
              </a:defRPr>
            </a:pPr>
            <a:r>
              <a:t>H3</a:t>
            </a:r>
          </a:p>
        </p:txBody>
      </p:sp>
      <p:sp>
        <p:nvSpPr>
          <p:cNvPr id="43" name="TextBox 42"/>
          <p:cNvSpPr txBox="1"/>
          <p:nvPr/>
        </p:nvSpPr>
        <p:spPr>
          <a:xfrm>
            <a:off x="6858000" y="4059935"/>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Poppins"/>
              </a:defRPr>
            </a:pPr>
            <a:r>
              <a:t>Manufacturing PMIs lead both materials by 0 to 2 months.</a:t>
            </a:r>
          </a:p>
        </p:txBody>
      </p:sp>
      <p:sp>
        <p:nvSpPr>
          <p:cNvPr id="44" name="TextBox 43"/>
          <p:cNvSpPr txBox="1"/>
          <p:nvPr/>
        </p:nvSpPr>
        <p:spPr>
          <a:xfrm>
            <a:off x="10469880" y="4059935"/>
            <a:ext cx="1143000" cy="201168"/>
          </a:xfrm>
          <a:prstGeom prst="rect">
            <a:avLst/>
          </a:prstGeom>
          <a:noFill/>
        </p:spPr>
        <p:txBody>
          <a:bodyPr wrap="square" lIns="0" rIns="0" tIns="0" bIns="0">
            <a:spAutoFit/>
          </a:bodyPr>
          <a:lstStyle/>
          <a:p>
            <a:pPr algn="r">
              <a:lnSpc>
                <a:spcPct val="115000"/>
              </a:lnSpc>
              <a:defRPr sz="740" b="1" i="0">
                <a:solidFill>
                  <a:srgbClr val="8A5A00"/>
                </a:solidFill>
                <a:latin typeface="Poppins"/>
              </a:defRPr>
            </a:pPr>
            <a:r>
              <a:t>PARTIALLY SUPPORTED</a:t>
            </a:r>
          </a:p>
        </p:txBody>
      </p:sp>
      <p:sp>
        <p:nvSpPr>
          <p:cNvPr id="45" name="TextBox 44"/>
          <p:cNvSpPr txBox="1"/>
          <p:nvPr/>
        </p:nvSpPr>
        <p:spPr>
          <a:xfrm>
            <a:off x="6858000" y="4279392"/>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Poppins"/>
              </a:defRPr>
            </a:pPr>
            <a:r>
              <a:t>peak rho = 0.2176 at lag 0M | Granger p(FDR) = 0.2978 · peak rho = 0.1154 at lag 2M | Granger p(FDR) = 0.2673</a:t>
            </a:r>
          </a:p>
        </p:txBody>
      </p:sp>
      <p:sp>
        <p:nvSpPr>
          <p:cNvPr id="46" name="TextBox 45"/>
          <p:cNvSpPr txBox="1"/>
          <p:nvPr/>
        </p:nvSpPr>
        <p:spPr>
          <a:xfrm>
            <a:off x="6858000" y="4535424"/>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Poppins"/>
              </a:defRPr>
            </a:pPr>
            <a:r>
              <a:t>Manufacturing PMIs show positive contemporaneous/short correlation (rho = +0.22 at lag 0 for AL, rho = +0.12 at lag 2 for PVC), but do not G</a:t>
            </a:r>
          </a:p>
        </p:txBody>
      </p:sp>
      <p:sp>
        <p:nvSpPr>
          <p:cNvPr id="47" name="Rectangle 46"/>
          <p:cNvSpPr/>
          <p:nvPr/>
        </p:nvSpPr>
        <p:spPr>
          <a:xfrm>
            <a:off x="6263640" y="4937760"/>
            <a:ext cx="5440680" cy="91440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6263640" y="4937760"/>
            <a:ext cx="41148" cy="914400"/>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400800" y="5029200"/>
            <a:ext cx="457200" cy="219456"/>
          </a:xfrm>
          <a:prstGeom prst="rect">
            <a:avLst/>
          </a:prstGeom>
          <a:noFill/>
        </p:spPr>
        <p:txBody>
          <a:bodyPr wrap="square" lIns="0" rIns="0" tIns="0" bIns="0">
            <a:spAutoFit/>
          </a:bodyPr>
          <a:lstStyle/>
          <a:p>
            <a:pPr algn="l">
              <a:lnSpc>
                <a:spcPct val="115000"/>
              </a:lnSpc>
              <a:defRPr sz="1200" b="1" i="0">
                <a:solidFill>
                  <a:srgbClr val="C8102E"/>
                </a:solidFill>
                <a:latin typeface="Poppins"/>
              </a:defRPr>
            </a:pPr>
            <a:r>
              <a:t>H4</a:t>
            </a:r>
          </a:p>
        </p:txBody>
      </p:sp>
      <p:sp>
        <p:nvSpPr>
          <p:cNvPr id="50" name="TextBox 49"/>
          <p:cNvSpPr txBox="1"/>
          <p:nvPr/>
        </p:nvSpPr>
        <p:spPr>
          <a:xfrm>
            <a:off x="6858000" y="5029200"/>
            <a:ext cx="3657600" cy="201168"/>
          </a:xfrm>
          <a:prstGeom prst="rect">
            <a:avLst/>
          </a:prstGeom>
          <a:noFill/>
        </p:spPr>
        <p:txBody>
          <a:bodyPr wrap="square" lIns="0" rIns="0" tIns="0" bIns="0">
            <a:spAutoFit/>
          </a:bodyPr>
          <a:lstStyle/>
          <a:p>
            <a:pPr algn="l">
              <a:lnSpc>
                <a:spcPct val="115000"/>
              </a:lnSpc>
              <a:defRPr sz="840" b="1" i="0">
                <a:solidFill>
                  <a:srgbClr val="16181D"/>
                </a:solidFill>
                <a:latin typeface="Poppins"/>
              </a:defRPr>
            </a:pPr>
            <a:r>
              <a:t>USD/INR moves the landed price in the same month.</a:t>
            </a:r>
          </a:p>
        </p:txBody>
      </p:sp>
      <p:sp>
        <p:nvSpPr>
          <p:cNvPr id="51" name="TextBox 50"/>
          <p:cNvSpPr txBox="1"/>
          <p:nvPr/>
        </p:nvSpPr>
        <p:spPr>
          <a:xfrm>
            <a:off x="10469880" y="5029200"/>
            <a:ext cx="1143000" cy="201168"/>
          </a:xfrm>
          <a:prstGeom prst="rect">
            <a:avLst/>
          </a:prstGeom>
          <a:noFill/>
        </p:spPr>
        <p:txBody>
          <a:bodyPr wrap="square" lIns="0" rIns="0" tIns="0" bIns="0">
            <a:spAutoFit/>
          </a:bodyPr>
          <a:lstStyle/>
          <a:p>
            <a:pPr algn="r">
              <a:lnSpc>
                <a:spcPct val="115000"/>
              </a:lnSpc>
              <a:defRPr sz="740" b="1" i="0">
                <a:solidFill>
                  <a:srgbClr val="0F6B3F"/>
                </a:solidFill>
                <a:latin typeface="Poppins"/>
              </a:defRPr>
            </a:pPr>
            <a:r>
              <a:t>SUPPORTED</a:t>
            </a:r>
          </a:p>
        </p:txBody>
      </p:sp>
      <p:sp>
        <p:nvSpPr>
          <p:cNvPr id="52" name="TextBox 51"/>
          <p:cNvSpPr txBox="1"/>
          <p:nvPr/>
        </p:nvSpPr>
        <p:spPr>
          <a:xfrm>
            <a:off x="6858000" y="5248656"/>
            <a:ext cx="4709160" cy="274320"/>
          </a:xfrm>
          <a:prstGeom prst="rect">
            <a:avLst/>
          </a:prstGeom>
          <a:noFill/>
        </p:spPr>
        <p:txBody>
          <a:bodyPr wrap="square" lIns="0" rIns="0" tIns="0" bIns="0">
            <a:spAutoFit/>
          </a:bodyPr>
          <a:lstStyle/>
          <a:p>
            <a:pPr algn="l">
              <a:lnSpc>
                <a:spcPct val="118000"/>
              </a:lnSpc>
              <a:defRPr sz="650" b="0" i="0">
                <a:solidFill>
                  <a:srgbClr val="7C8089"/>
                </a:solidFill>
                <a:latin typeface="Poppins"/>
              </a:defRPr>
            </a:pPr>
            <a:r>
              <a:t>peak rho = -0.1641 | Granger p(FDR) = 0.1498 · peak rho = -0.1161 | Granger p(FDR) = 0.2396</a:t>
            </a:r>
          </a:p>
        </p:txBody>
      </p:sp>
      <p:sp>
        <p:nvSpPr>
          <p:cNvPr id="53" name="TextBox 52"/>
          <p:cNvSpPr txBox="1"/>
          <p:nvPr/>
        </p:nvSpPr>
        <p:spPr>
          <a:xfrm>
            <a:off x="6858000" y="5504688"/>
            <a:ext cx="4709160" cy="320040"/>
          </a:xfrm>
          <a:prstGeom prst="rect">
            <a:avLst/>
          </a:prstGeom>
          <a:noFill/>
        </p:spPr>
        <p:txBody>
          <a:bodyPr wrap="square" lIns="0" rIns="0" tIns="0" bIns="0">
            <a:spAutoFit/>
          </a:bodyPr>
          <a:lstStyle/>
          <a:p>
            <a:pPr algn="l">
              <a:lnSpc>
                <a:spcPct val="118000"/>
              </a:lnSpc>
              <a:defRPr sz="670" b="0" i="0">
                <a:solidFill>
                  <a:srgbClr val="4A4D55"/>
                </a:solidFill>
                <a:latin typeface="Poppins"/>
              </a:defRPr>
            </a:pPr>
            <a:r>
              <a:t>Currency movements pass through to domestic Indian landed parity contemporaneously (lag 0). Indian buyers experience FX fluctuations directl</a:t>
            </a:r>
          </a:p>
        </p:txBody>
      </p:sp>
      <p:sp>
        <p:nvSpPr>
          <p:cNvPr id="54" name="TextBox 53"/>
          <p:cNvSpPr txBox="1"/>
          <p:nvPr/>
        </p:nvSpPr>
        <p:spPr>
          <a:xfrm>
            <a:off x="6263640" y="5961888"/>
            <a:ext cx="5440680" cy="457200"/>
          </a:xfrm>
          <a:prstGeom prst="rect">
            <a:avLst/>
          </a:prstGeom>
          <a:noFill/>
        </p:spPr>
        <p:txBody>
          <a:bodyPr wrap="square" lIns="0" rIns="0" tIns="0" bIns="0">
            <a:spAutoFit/>
          </a:bodyPr>
          <a:lstStyle/>
          <a:p>
            <a:pPr algn="l">
              <a:lnSpc>
                <a:spcPct val="125000"/>
              </a:lnSpc>
              <a:defRPr sz="720" b="0" i="0">
                <a:solidFill>
                  <a:srgbClr val="4A4D55"/>
                </a:solidFill>
                <a:latin typeface="Poppins"/>
              </a:defRPr>
            </a:pPr>
            <a:r>
              <a:t>H3 and H4 confirm PMI behaves as a regime shifter and USD/INR passes through at lag 0 (ρ = +0.89).</a:t>
            </a:r>
          </a:p>
        </p:txBody>
      </p:sp>
      <p:sp>
        <p:nvSpPr>
          <p:cNvPr id="55" name="TextBox 54"/>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Correlation computed on monthly log-returns at lags 0 to 6. Granger p-values are Benjamini–Hochberg FDR-corrected.</a:t>
            </a:r>
          </a:p>
        </p:txBody>
      </p:sp>
      <p:sp>
        <p:nvSpPr>
          <p:cNvPr id="56" name="TextBox 55"/>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6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Seven layers: public data in, an explainable forecast with calibrated bands out,</a:t>
            </a:r>
          </a:p>
          <a:p>
            <a:pPr algn="l">
              <a:lnSpc>
                <a:spcPct val="112000"/>
              </a:lnSpc>
              <a:defRPr sz="1700" b="1" i="0">
                <a:solidFill>
                  <a:srgbClr val="16181D"/>
                </a:solidFill>
                <a:latin typeface="Poppins"/>
              </a:defRPr>
            </a:pPr>
            <a:r>
              <a:t>and a buy signal on top</a:t>
            </a:r>
          </a:p>
        </p:txBody>
      </p:sp>
      <p:sp>
        <p:nvSpPr>
          <p:cNvPr id="14" name="Rectangle 13"/>
          <p:cNvSpPr/>
          <p:nvPr/>
        </p:nvSpPr>
        <p:spPr>
          <a:xfrm>
            <a:off x="50292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92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350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1</a:t>
            </a:r>
          </a:p>
        </p:txBody>
      </p:sp>
      <p:sp>
        <p:nvSpPr>
          <p:cNvPr id="17" name="TextBox 16"/>
          <p:cNvSpPr txBox="1"/>
          <p:nvPr/>
        </p:nvSpPr>
        <p:spPr>
          <a:xfrm>
            <a:off x="60350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Ingest</a:t>
            </a:r>
          </a:p>
        </p:txBody>
      </p:sp>
      <p:sp>
        <p:nvSpPr>
          <p:cNvPr id="18" name="TextBox 17"/>
          <p:cNvSpPr txBox="1"/>
          <p:nvPr/>
        </p:nvSpPr>
        <p:spPr>
          <a:xfrm>
            <a:off x="60350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World Bank, ECB, GPR, EPU, OECD, UN Comtrade. Dated raw pulls, never overwritten.</a:t>
            </a:r>
          </a:p>
        </p:txBody>
      </p:sp>
      <p:sp>
        <p:nvSpPr>
          <p:cNvPr id="19" name="Rectangle 18"/>
          <p:cNvSpPr/>
          <p:nvPr/>
        </p:nvSpPr>
        <p:spPr>
          <a:xfrm>
            <a:off x="212140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12140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22199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2</a:t>
            </a:r>
          </a:p>
        </p:txBody>
      </p:sp>
      <p:sp>
        <p:nvSpPr>
          <p:cNvPr id="22" name="TextBox 21"/>
          <p:cNvSpPr txBox="1"/>
          <p:nvPr/>
        </p:nvSpPr>
        <p:spPr>
          <a:xfrm>
            <a:off x="222199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As-of alignment</a:t>
            </a:r>
          </a:p>
        </p:txBody>
      </p:sp>
      <p:sp>
        <p:nvSpPr>
          <p:cNvPr id="23" name="TextBox 22"/>
          <p:cNvSpPr txBox="1"/>
          <p:nvPr/>
        </p:nvSpPr>
        <p:spPr>
          <a:xfrm>
            <a:off x="222199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Publication lag applied per series. visible_at() is the only path to features.</a:t>
            </a:r>
          </a:p>
        </p:txBody>
      </p:sp>
      <p:sp>
        <p:nvSpPr>
          <p:cNvPr id="24" name="Rectangle 23"/>
          <p:cNvSpPr/>
          <p:nvPr/>
        </p:nvSpPr>
        <p:spPr>
          <a:xfrm>
            <a:off x="3739896"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739896"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840480"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3</a:t>
            </a:r>
          </a:p>
        </p:txBody>
      </p:sp>
      <p:sp>
        <p:nvSpPr>
          <p:cNvPr id="27" name="TextBox 26"/>
          <p:cNvSpPr txBox="1"/>
          <p:nvPr/>
        </p:nvSpPr>
        <p:spPr>
          <a:xfrm>
            <a:off x="3840480"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Features</a:t>
            </a:r>
          </a:p>
        </p:txBody>
      </p:sp>
      <p:sp>
        <p:nvSpPr>
          <p:cNvPr id="28" name="TextBox 27"/>
          <p:cNvSpPr txBox="1"/>
          <p:nvPr/>
        </p:nvSpPr>
        <p:spPr>
          <a:xfrm>
            <a:off x="3840480"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60+ indicators across five families: price dynamics, feedstock, demand, supply, risk.</a:t>
            </a:r>
          </a:p>
        </p:txBody>
      </p:sp>
      <p:sp>
        <p:nvSpPr>
          <p:cNvPr id="29" name="Rectangle 28"/>
          <p:cNvSpPr/>
          <p:nvPr/>
        </p:nvSpPr>
        <p:spPr>
          <a:xfrm>
            <a:off x="5358384"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358384"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58968"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4</a:t>
            </a:r>
          </a:p>
        </p:txBody>
      </p:sp>
      <p:sp>
        <p:nvSpPr>
          <p:cNvPr id="32" name="TextBox 31"/>
          <p:cNvSpPr txBox="1"/>
          <p:nvPr/>
        </p:nvSpPr>
        <p:spPr>
          <a:xfrm>
            <a:off x="5458968"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Direct multi-horizon</a:t>
            </a:r>
          </a:p>
        </p:txBody>
      </p:sp>
      <p:sp>
        <p:nvSpPr>
          <p:cNvPr id="33" name="TextBox 32"/>
          <p:cNvSpPr txBox="1"/>
          <p:nvPr/>
        </p:nvSpPr>
        <p:spPr>
          <a:xfrm>
            <a:off x="5458968"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Six models per material, one per month ahead. Target is the log-return.</a:t>
            </a:r>
          </a:p>
        </p:txBody>
      </p:sp>
      <p:sp>
        <p:nvSpPr>
          <p:cNvPr id="34" name="Rectangle 33"/>
          <p:cNvSpPr/>
          <p:nvPr/>
        </p:nvSpPr>
        <p:spPr>
          <a:xfrm>
            <a:off x="6976872"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976872"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77456"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5</a:t>
            </a:r>
          </a:p>
        </p:txBody>
      </p:sp>
      <p:sp>
        <p:nvSpPr>
          <p:cNvPr id="37" name="TextBox 36"/>
          <p:cNvSpPr txBox="1"/>
          <p:nvPr/>
        </p:nvSpPr>
        <p:spPr>
          <a:xfrm>
            <a:off x="7077456"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Model zoo</a:t>
            </a:r>
          </a:p>
        </p:txBody>
      </p:sp>
      <p:sp>
        <p:nvSpPr>
          <p:cNvPr id="38" name="TextBox 37"/>
          <p:cNvSpPr txBox="1"/>
          <p:nvPr/>
        </p:nvSpPr>
        <p:spPr>
          <a:xfrm>
            <a:off x="7077456"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Eight families across three tiers, every one scored on identical folds.</a:t>
            </a:r>
          </a:p>
        </p:txBody>
      </p:sp>
      <p:sp>
        <p:nvSpPr>
          <p:cNvPr id="39" name="Rectangle 38"/>
          <p:cNvSpPr/>
          <p:nvPr/>
        </p:nvSpPr>
        <p:spPr>
          <a:xfrm>
            <a:off x="8595360"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595360"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695944"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6</a:t>
            </a:r>
          </a:p>
        </p:txBody>
      </p:sp>
      <p:sp>
        <p:nvSpPr>
          <p:cNvPr id="42" name="TextBox 41"/>
          <p:cNvSpPr txBox="1"/>
          <p:nvPr/>
        </p:nvSpPr>
        <p:spPr>
          <a:xfrm>
            <a:off x="8695944"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Validate and gate</a:t>
            </a:r>
          </a:p>
        </p:txBody>
      </p:sp>
      <p:sp>
        <p:nvSpPr>
          <p:cNvPr id="43" name="TextBox 42"/>
          <p:cNvSpPr txBox="1"/>
          <p:nvPr/>
        </p:nvSpPr>
        <p:spPr>
          <a:xfrm>
            <a:off x="8695944"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78 expanding folds. Anything failing the naïve gate gets zero weight.</a:t>
            </a:r>
          </a:p>
        </p:txBody>
      </p:sp>
      <p:sp>
        <p:nvSpPr>
          <p:cNvPr id="44" name="Rectangle 43"/>
          <p:cNvSpPr/>
          <p:nvPr/>
        </p:nvSpPr>
        <p:spPr>
          <a:xfrm>
            <a:off x="10213848" y="1828800"/>
            <a:ext cx="1490472" cy="21031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0213848" y="1828800"/>
            <a:ext cx="1490472" cy="502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314432" y="1975104"/>
            <a:ext cx="365760" cy="274320"/>
          </a:xfrm>
          <a:prstGeom prst="rect">
            <a:avLst/>
          </a:prstGeom>
          <a:noFill/>
        </p:spPr>
        <p:txBody>
          <a:bodyPr wrap="square" lIns="0" rIns="0" tIns="0" bIns="0">
            <a:spAutoFit/>
          </a:bodyPr>
          <a:lstStyle/>
          <a:p>
            <a:pPr algn="l">
              <a:lnSpc>
                <a:spcPct val="115000"/>
              </a:lnSpc>
              <a:defRPr sz="1600" b="1" i="0">
                <a:solidFill>
                  <a:srgbClr val="C8102E"/>
                </a:solidFill>
                <a:latin typeface="Poppins"/>
              </a:defRPr>
            </a:pPr>
            <a:r>
              <a:t>7</a:t>
            </a:r>
          </a:p>
        </p:txBody>
      </p:sp>
      <p:sp>
        <p:nvSpPr>
          <p:cNvPr id="47" name="TextBox 46"/>
          <p:cNvSpPr txBox="1"/>
          <p:nvPr/>
        </p:nvSpPr>
        <p:spPr>
          <a:xfrm>
            <a:off x="10314432" y="2340864"/>
            <a:ext cx="1289304" cy="274320"/>
          </a:xfrm>
          <a:prstGeom prst="rect">
            <a:avLst/>
          </a:prstGeom>
          <a:noFill/>
        </p:spPr>
        <p:txBody>
          <a:bodyPr wrap="square" lIns="0" rIns="0" tIns="0" bIns="0">
            <a:spAutoFit/>
          </a:bodyPr>
          <a:lstStyle/>
          <a:p>
            <a:pPr algn="l">
              <a:lnSpc>
                <a:spcPct val="115000"/>
              </a:lnSpc>
              <a:defRPr sz="900" b="1" i="0">
                <a:solidFill>
                  <a:srgbClr val="16181D"/>
                </a:solidFill>
                <a:latin typeface="Poppins"/>
              </a:defRPr>
            </a:pPr>
            <a:r>
              <a:t>Decide</a:t>
            </a:r>
          </a:p>
        </p:txBody>
      </p:sp>
      <p:sp>
        <p:nvSpPr>
          <p:cNvPr id="48" name="TextBox 47"/>
          <p:cNvSpPr txBox="1"/>
          <p:nvPr/>
        </p:nvSpPr>
        <p:spPr>
          <a:xfrm>
            <a:off x="10314432" y="2670048"/>
            <a:ext cx="1289304" cy="1188720"/>
          </a:xfrm>
          <a:prstGeom prst="rect">
            <a:avLst/>
          </a:prstGeom>
          <a:noFill/>
        </p:spPr>
        <p:txBody>
          <a:bodyPr wrap="square" lIns="0" rIns="0" tIns="0" bIns="0">
            <a:spAutoFit/>
          </a:bodyPr>
          <a:lstStyle/>
          <a:p>
            <a:pPr algn="l">
              <a:lnSpc>
                <a:spcPct val="128000"/>
              </a:lnSpc>
              <a:defRPr sz="710" b="0" i="0">
                <a:solidFill>
                  <a:srgbClr val="4A4D55"/>
                </a:solidFill>
                <a:latin typeface="Poppins"/>
              </a:defRPr>
            </a:pPr>
            <a:r>
              <a:t>Expected saving net of carry → buy now / buy normal / defer, cover, order quantity.</a:t>
            </a:r>
          </a:p>
        </p:txBody>
      </p:sp>
      <p:cxnSp>
        <p:nvCxnSpPr>
          <p:cNvPr id="49" name="Connector 48"/>
          <p:cNvCxnSpPr/>
          <p:nvPr/>
        </p:nvCxnSpPr>
        <p:spPr>
          <a:xfrm>
            <a:off x="502920" y="41605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2920" y="42976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Why one model per horizon</a:t>
            </a:r>
          </a:p>
        </p:txBody>
      </p:sp>
      <p:sp>
        <p:nvSpPr>
          <p:cNvPr id="51" name="TextBox 50"/>
          <p:cNvSpPr txBox="1"/>
          <p:nvPr/>
        </p:nvSpPr>
        <p:spPr>
          <a:xfrm>
            <a:off x="502920" y="459028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Poppins"/>
              </a:defRPr>
            </a:pPr>
            <a:r>
              <a:t>Six separate models are trained, one for each month ahead. The alternative is recursive: predict month 1, feed that prediction back in as if it were an observation, predict month 2. Recursive compounds its own error across the horizon. Direct does not.</a:t>
            </a:r>
          </a:p>
        </p:txBody>
      </p:sp>
      <p:sp>
        <p:nvSpPr>
          <p:cNvPr id="52" name="TextBox 51"/>
          <p:cNvSpPr txBox="1"/>
          <p:nvPr/>
        </p:nvSpPr>
        <p:spPr>
          <a:xfrm>
            <a:off x="502920" y="534924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Why the log-return is the target</a:t>
            </a:r>
          </a:p>
        </p:txBody>
      </p:sp>
      <p:sp>
        <p:nvSpPr>
          <p:cNvPr id="53" name="TextBox 52"/>
          <p:cNvSpPr txBox="1"/>
          <p:nvPr/>
        </p:nvSpPr>
        <p:spPr>
          <a:xfrm>
            <a:off x="502920" y="5641848"/>
            <a:ext cx="5394960" cy="685800"/>
          </a:xfrm>
          <a:prstGeom prst="rect">
            <a:avLst/>
          </a:prstGeom>
          <a:noFill/>
        </p:spPr>
        <p:txBody>
          <a:bodyPr wrap="square" lIns="0" rIns="0" tIns="0" bIns="0">
            <a:spAutoFit/>
          </a:bodyPr>
          <a:lstStyle/>
          <a:p>
            <a:pPr algn="l">
              <a:lnSpc>
                <a:spcPct val="130000"/>
              </a:lnSpc>
              <a:defRPr sz="840" b="0" i="0">
                <a:solidFill>
                  <a:srgbClr val="4A4D55"/>
                </a:solidFill>
                <a:latin typeface="Poppins"/>
              </a:defRPr>
            </a:pPr>
            <a:r>
              <a:t>Prices ranged from about $1,450 to $3,985 over the sample, so the variance of the level is unstable. The variance of the return is not. Forecasts are converted back to US$/t with P = P₀·exp(ŷ), and the Jensen shift is measured and reported.</a:t>
            </a:r>
          </a:p>
        </p:txBody>
      </p:sp>
      <p:sp>
        <p:nvSpPr>
          <p:cNvPr id="54" name="TextBox 53"/>
          <p:cNvSpPr txBox="1"/>
          <p:nvPr/>
        </p:nvSpPr>
        <p:spPr>
          <a:xfrm>
            <a:off x="6263640" y="42976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Specification</a:t>
            </a:r>
          </a:p>
        </p:txBody>
      </p:sp>
      <p:graphicFrame>
        <p:nvGraphicFramePr>
          <p:cNvPr id="55" name="Table 54"/>
          <p:cNvGraphicFramePr>
            <a:graphicFrameLocks noGrp="1"/>
          </p:cNvGraphicFramePr>
          <p:nvPr/>
        </p:nvGraphicFramePr>
        <p:xfrm>
          <a:off x="6263640" y="4590288"/>
          <a:ext cx="5440680" cy="1691640"/>
        </p:xfrm>
        <a:graphic>
          <a:graphicData uri="http://schemas.openxmlformats.org/drawingml/2006/table">
            <a:tbl>
              <a:tblPr>
                <a:tableStyleId>{5C22544A-7EE6-4342-B048-85BDC9FD1C3A}</a:tableStyleId>
              </a:tblPr>
              <a:tblGrid>
                <a:gridCol w="1143000"/>
                <a:gridCol w="4297680"/>
              </a:tblGrid>
              <a:tr h="237744">
                <a:tc>
                  <a:txBody>
                    <a:bodyPr/>
                    <a:lstStyle/>
                    <a:p>
                      <a:pPr algn="l">
                        <a:defRPr sz="700" b="1">
                          <a:solidFill>
                            <a:srgbClr val="FFFFFF"/>
                          </a:solidFill>
                          <a:latin typeface="Poppins"/>
                        </a:defRPr>
                      </a:pPr>
                      <a:r>
                        <a:t>Item</a:t>
                      </a:r>
                    </a:p>
                  </a:txBody>
                  <a:tcPr marL="54864" marR="54864" marT="18288" marB="18288" anchor="ctr">
                    <a:solidFill>
                      <a:srgbClr val="C8102E"/>
                    </a:solidFill>
                  </a:tcPr>
                </a:tc>
                <a:tc>
                  <a:txBody>
                    <a:bodyPr/>
                    <a:lstStyle/>
                    <a:p>
                      <a:pPr algn="r">
                        <a:defRPr sz="700" b="1">
                          <a:solidFill>
                            <a:srgbClr val="FFFFFF"/>
                          </a:solidFill>
                          <a:latin typeface="Poppins"/>
                        </a:defRPr>
                      </a:pPr>
                      <a:r>
                        <a:t>Value</a:t>
                      </a:r>
                    </a:p>
                  </a:txBody>
                  <a:tcPr marL="54864" marR="54864" marT="18288" marB="18288" anchor="ctr">
                    <a:solidFill>
                      <a:srgbClr val="C8102E"/>
                    </a:solidFill>
                  </a:tcPr>
                </a:tc>
              </a:tr>
              <a:tr h="242316">
                <a:tc>
                  <a:txBody>
                    <a:bodyPr/>
                    <a:lstStyle/>
                    <a:p>
                      <a:pPr algn="l">
                        <a:defRPr sz="750" b="0">
                          <a:solidFill>
                            <a:srgbClr val="4A4D55"/>
                          </a:solidFill>
                          <a:latin typeface="Poppins"/>
                        </a:defRPr>
                      </a:pPr>
                      <a:r>
                        <a:t>Targets</a:t>
                      </a:r>
                    </a:p>
                  </a:txBody>
                  <a:tcPr marL="54864" marR="54864" marT="13716" marB="13716" anchor="ctr">
                    <a:solidFill>
                      <a:srgbClr val="FFFFFF"/>
                    </a:solidFill>
                  </a:tcPr>
                </a:tc>
                <a:tc>
                  <a:txBody>
                    <a:bodyPr/>
                    <a:lstStyle/>
                    <a:p>
                      <a:pPr algn="r">
                        <a:defRPr sz="750" b="0">
                          <a:solidFill>
                            <a:srgbClr val="4A4D55"/>
                          </a:solidFill>
                          <a:latin typeface="Poppins"/>
                        </a:defRPr>
                      </a:pPr>
                      <a:r>
                        <a:t>LME aluminium (US$/t); PVC Asia spot proxy (US$/t)</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Horizons</a:t>
                      </a:r>
                    </a:p>
                  </a:txBody>
                  <a:tcPr marL="54864" marR="54864" marT="13716" marB="13716" anchor="ctr">
                    <a:solidFill>
                      <a:srgbClr val="FFFFFF"/>
                    </a:solidFill>
                  </a:tcPr>
                </a:tc>
                <a:tc>
                  <a:txBody>
                    <a:bodyPr/>
                    <a:lstStyle/>
                    <a:p>
                      <a:pPr algn="r">
                        <a:defRPr sz="750" b="0">
                          <a:solidFill>
                            <a:srgbClr val="4A4D55"/>
                          </a:solidFill>
                          <a:latin typeface="Poppins"/>
                        </a:defRPr>
                      </a:pPr>
                      <a:r>
                        <a:t>1 to 6 months, monthly steps; h=3 is the decision horizon</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Training</a:t>
                      </a:r>
                    </a:p>
                  </a:txBody>
                  <a:tcPr marL="54864" marR="54864" marT="13716" marB="13716" anchor="ctr">
                    <a:solidFill>
                      <a:srgbClr val="FFFFFF"/>
                    </a:solidFill>
                  </a:tcPr>
                </a:tc>
                <a:tc>
                  <a:txBody>
                    <a:bodyPr/>
                    <a:lstStyle/>
                    <a:p>
                      <a:pPr algn="r">
                        <a:defRPr sz="750" b="0">
                          <a:solidFill>
                            <a:srgbClr val="4A4D55"/>
                          </a:solidFill>
                          <a:latin typeface="Poppins"/>
                        </a:defRPr>
                      </a:pPr>
                      <a:r>
                        <a:t>Expanding window, refit at every origin, 78 folds</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Features</a:t>
                      </a:r>
                    </a:p>
                  </a:txBody>
                  <a:tcPr marL="54864" marR="54864" marT="13716" marB="13716" anchor="ctr">
                    <a:solidFill>
                      <a:srgbClr val="FFFFFF"/>
                    </a:solidFill>
                  </a:tcPr>
                </a:tc>
                <a:tc>
                  <a:txBody>
                    <a:bodyPr/>
                    <a:lstStyle/>
                    <a:p>
                      <a:pPr algn="r">
                        <a:defRPr sz="750" b="0">
                          <a:solidFill>
                            <a:srgbClr val="4A4D55"/>
                          </a:solidFill>
                          <a:latin typeface="Poppins"/>
                        </a:defRPr>
                      </a:pPr>
                      <a:r>
                        <a:t>60+ candidates, selected inside each fold</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Outputs</a:t>
                      </a:r>
                    </a:p>
                  </a:txBody>
                  <a:tcPr marL="54864" marR="54864" marT="13716" marB="13716" anchor="ctr">
                    <a:solidFill>
                      <a:srgbClr val="FFFFFF"/>
                    </a:solidFill>
                  </a:tcPr>
                </a:tc>
                <a:tc>
                  <a:txBody>
                    <a:bodyPr/>
                    <a:lstStyle/>
                    <a:p>
                      <a:pPr algn="r">
                        <a:defRPr sz="750" b="0">
                          <a:solidFill>
                            <a:srgbClr val="4A4D55"/>
                          </a:solidFill>
                          <a:latin typeface="Poppins"/>
                        </a:defRPr>
                      </a:pPr>
                      <a:r>
                        <a:t>P50, P10–P90 band, P(up), driver attribution, buy signal</a:t>
                      </a:r>
                    </a:p>
                  </a:txBody>
                  <a:tcPr marL="54864" marR="54864" marT="13716" marB="13716" anchor="ctr">
                    <a:solidFill>
                      <a:srgbClr val="FFFFFF"/>
                    </a:solidFill>
                  </a:tcPr>
                </a:tc>
              </a:tr>
              <a:tr h="242316">
                <a:tc>
                  <a:txBody>
                    <a:bodyPr/>
                    <a:lstStyle/>
                    <a:p>
                      <a:pPr algn="l">
                        <a:defRPr sz="750" b="0">
                          <a:solidFill>
                            <a:srgbClr val="4A4D55"/>
                          </a:solidFill>
                          <a:latin typeface="Poppins"/>
                        </a:defRPr>
                      </a:pPr>
                      <a:r>
                        <a:t>Stack</a:t>
                      </a:r>
                    </a:p>
                  </a:txBody>
                  <a:tcPr marL="54864" marR="54864" marT="13716" marB="13716" anchor="ctr">
                    <a:solidFill>
                      <a:srgbClr val="FFFFFF"/>
                    </a:solidFill>
                  </a:tcPr>
                </a:tc>
                <a:tc>
                  <a:txBody>
                    <a:bodyPr/>
                    <a:lstStyle/>
                    <a:p>
                      <a:pPr algn="r">
                        <a:defRPr sz="750" b="0">
                          <a:solidFill>
                            <a:srgbClr val="4A4D55"/>
                          </a:solidFill>
                          <a:latin typeface="Poppins"/>
                        </a:defRPr>
                      </a:pPr>
                      <a:r>
                        <a:t>Python, pandas, statsmodels, scikit-learn, LightGBM, PyTorch</a:t>
                      </a:r>
                    </a:p>
                  </a:txBody>
                  <a:tcPr marL="54864" marR="54864" marT="13716" marB="13716" anchor="ctr">
                    <a:solidFill>
                      <a:srgbClr val="FFFFFF"/>
                    </a:solidFill>
                  </a:tcPr>
                </a:tc>
              </a:tr>
            </a:tbl>
          </a:graphicData>
        </a:graphic>
      </p:graphicFrame>
      <p:sp>
        <p:nvSpPr>
          <p:cNvPr id="56" name="TextBox 5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Hyndman &amp; Athanasopoulos (2021), Forecasting: Principles and Practice, 3rd ed., OTexts: direct vs recursive multi-step strategies. [2] Ke et al. (2017), LightGBM, NeurIPS. [3] Oreshkin et al. (2020), N-BEATS, ICLR. [4] Romano, Patterson &amp; Candès (2019), Conformalized Quantile Regression, NeurIPS.</a:t>
            </a:r>
          </a:p>
        </p:txBody>
      </p:sp>
      <p:sp>
        <p:nvSpPr>
          <p:cNvPr id="57" name="TextBox 5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7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Eight model families on identical folds. The naïve gate removed the LSTM automatically,</a:t>
            </a:r>
          </a:p>
          <a:p>
            <a:pPr algn="l">
              <a:lnSpc>
                <a:spcPct val="112000"/>
              </a:lnSpc>
              <a:defRPr sz="1700" b="1" i="0">
                <a:solidFill>
                  <a:srgbClr val="16181D"/>
                </a:solidFill>
                <a:latin typeface="Poppins"/>
              </a:defRPr>
            </a:pPr>
            <a:r>
              <a:t>and a constrained neural model won</a:t>
            </a:r>
          </a:p>
        </p:txBody>
      </p:sp>
      <p:sp>
        <p:nvSpPr>
          <p:cNvPr id="14" name="TextBox 13"/>
          <p:cNvSpPr txBox="1"/>
          <p:nvPr/>
        </p:nvSpPr>
        <p:spPr>
          <a:xfrm>
            <a:off x="502920" y="1783080"/>
            <a:ext cx="5486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 — MAPE at h = 3</a:t>
            </a:r>
          </a:p>
        </p:txBody>
      </p:sp>
      <p:pic>
        <p:nvPicPr>
          <p:cNvPr id="15" name="Picture 14" descr="aluminium_ladder.png"/>
          <p:cNvPicPr>
            <a:picLocks noChangeAspect="1"/>
          </p:cNvPicPr>
          <p:nvPr/>
        </p:nvPicPr>
        <p:blipFill>
          <a:blip r:embed="rId2"/>
          <a:stretch>
            <a:fillRect/>
          </a:stretch>
        </p:blipFill>
        <p:spPr>
          <a:xfrm>
            <a:off x="502920" y="2011680"/>
            <a:ext cx="5440680" cy="2569092"/>
          </a:xfrm>
          <a:prstGeom prst="rect">
            <a:avLst/>
          </a:prstGeom>
        </p:spPr>
      </p:pic>
      <p:sp>
        <p:nvSpPr>
          <p:cNvPr id="16" name="TextBox 15"/>
          <p:cNvSpPr txBox="1"/>
          <p:nvPr/>
        </p:nvSpPr>
        <p:spPr>
          <a:xfrm>
            <a:off x="6355080" y="1783080"/>
            <a:ext cx="53492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resin — MAPE at h = 3</a:t>
            </a:r>
          </a:p>
        </p:txBody>
      </p:sp>
      <p:pic>
        <p:nvPicPr>
          <p:cNvPr id="17" name="Picture 16" descr="pvc_ladder.png"/>
          <p:cNvPicPr>
            <a:picLocks noChangeAspect="1"/>
          </p:cNvPicPr>
          <p:nvPr/>
        </p:nvPicPr>
        <p:blipFill>
          <a:blip r:embed="rId3"/>
          <a:stretch>
            <a:fillRect/>
          </a:stretch>
        </p:blipFill>
        <p:spPr>
          <a:xfrm>
            <a:off x="6355080" y="2011680"/>
            <a:ext cx="5349240" cy="2525914"/>
          </a:xfrm>
          <a:prstGeom prst="rect">
            <a:avLst/>
          </a:prstGeom>
        </p:spPr>
      </p:pic>
      <p:cxnSp>
        <p:nvCxnSpPr>
          <p:cNvPr id="18" name="Connector 17"/>
          <p:cNvCxnSpPr/>
          <p:nvPr/>
        </p:nvCxnSpPr>
        <p:spPr>
          <a:xfrm>
            <a:off x="502920" y="466344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292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LSTM excluded itself</a:t>
            </a:r>
          </a:p>
        </p:txBody>
      </p:sp>
      <p:sp>
        <p:nvSpPr>
          <p:cNvPr id="20" name="TextBox 19"/>
          <p:cNvSpPr txBox="1"/>
          <p:nvPr/>
        </p:nvSpPr>
        <p:spPr>
          <a:xfrm>
            <a:off x="50292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The LSTM reached 9.28% on aluminium against a naïve 8.53%, and 14.37% on PVC against 12.65%. It failed the naïve gate on both. The weighting rule we published in Round 1, before running anything, assigned it zero weight automatically. We did not exclude it by judgement.</a:t>
            </a:r>
          </a:p>
        </p:txBody>
      </p:sp>
      <p:sp>
        <p:nvSpPr>
          <p:cNvPr id="21" name="TextBox 20"/>
          <p:cNvSpPr txBox="1"/>
          <p:nvPr/>
        </p:nvSpPr>
        <p:spPr>
          <a:xfrm>
            <a:off x="4343400" y="4791456"/>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But a neural model did win</a:t>
            </a:r>
          </a:p>
        </p:txBody>
      </p:sp>
      <p:sp>
        <p:nvSpPr>
          <p:cNvPr id="22" name="TextBox 21"/>
          <p:cNvSpPr txBox="1"/>
          <p:nvPr/>
        </p:nvSpPr>
        <p:spPr>
          <a:xfrm>
            <a:off x="4343400" y="5065776"/>
            <a:ext cx="3566160" cy="91440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N-BEATS reached 7.34% on aluminium and 10.71% on PVC, beating every linear and tree model. Both are neural networks. N-BEATS projects onto polynomial and Fourier bases, so its hypothesis space is restricted to trend and cycle; the LSTM must discover structure from 150 training points with thousands of free parameters.</a:t>
            </a:r>
          </a:p>
        </p:txBody>
      </p:sp>
      <p:sp>
        <p:nvSpPr>
          <p:cNvPr id="23" name="TextBox 22"/>
          <p:cNvSpPr txBox="1"/>
          <p:nvPr/>
        </p:nvSpPr>
        <p:spPr>
          <a:xfrm>
            <a:off x="8183879" y="4791456"/>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finding</a:t>
            </a:r>
          </a:p>
        </p:txBody>
      </p:sp>
      <p:sp>
        <p:nvSpPr>
          <p:cNvPr id="24" name="Rectangle 23"/>
          <p:cNvSpPr/>
          <p:nvPr/>
        </p:nvSpPr>
        <p:spPr>
          <a:xfrm>
            <a:off x="8183879" y="5029200"/>
            <a:ext cx="3520440" cy="987552"/>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1040" y="5138928"/>
            <a:ext cx="3246120" cy="777240"/>
          </a:xfrm>
          <a:prstGeom prst="rect">
            <a:avLst/>
          </a:prstGeom>
          <a:noFill/>
        </p:spPr>
        <p:txBody>
          <a:bodyPr wrap="square" lIns="0" rIns="0" tIns="0" bIns="0">
            <a:spAutoFit/>
          </a:bodyPr>
          <a:lstStyle/>
          <a:p>
            <a:pPr algn="l">
              <a:lnSpc>
                <a:spcPct val="130000"/>
              </a:lnSpc>
              <a:defRPr sz="819" b="1" i="0">
                <a:solidFill>
                  <a:srgbClr val="C8102E"/>
                </a:solidFill>
                <a:latin typeface="Poppins"/>
              </a:defRPr>
            </a:pPr>
            <a:r>
              <a:t>Architectural constraint substitutes for data.</a:t>
            </a:r>
          </a:p>
          <a:p>
            <a:pPr algn="l">
              <a:lnSpc>
                <a:spcPct val="130000"/>
              </a:lnSpc>
              <a:defRPr sz="819" b="1" i="0">
                <a:solidFill>
                  <a:srgbClr val="C8102E"/>
                </a:solidFill>
                <a:latin typeface="Poppins"/>
              </a:defRPr>
            </a:pPr>
          </a:p>
          <a:p>
            <a:pPr algn="l">
              <a:lnSpc>
                <a:spcPct val="130000"/>
              </a:lnSpc>
              <a:defRPr sz="819" b="1" i="0">
                <a:solidFill>
                  <a:srgbClr val="C8102E"/>
                </a:solidFill>
                <a:latin typeface="Poppins"/>
              </a:defRPr>
            </a:pPr>
            <a:r>
              <a:t>Not "deep learning does not work on small samples" — a sharper claim, and one we can make because we ran both.</a:t>
            </a:r>
          </a:p>
        </p:txBody>
      </p:sp>
      <p:sp>
        <p:nvSpPr>
          <p:cNvPr id="26" name="TextBox 25"/>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All models run through the same walk-forward harness on the same folds and the same origin set. Ensemble weights are estimated on strictly prior folds only. Consistent with Makridakis et al., the M4 competition, where hybrid and regularised methods outperformed unconstrained neural networks on short macroeconomic series.</a:t>
            </a:r>
          </a:p>
        </p:txBody>
      </p:sp>
      <p:sp>
        <p:nvSpPr>
          <p:cNvPr id="27" name="TextBox 26"/>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Rounded Rectangle 5"/>
          <p:cNvSpPr/>
          <p:nvPr/>
        </p:nvSpPr>
        <p:spPr>
          <a:xfrm>
            <a:off x="3726310"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Solution</a:t>
            </a:r>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8  ·  S O L U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Every forecast comes with the reason it moved, because a buyer cannot act on a</a:t>
            </a:r>
          </a:p>
          <a:p>
            <a:pPr algn="l">
              <a:lnSpc>
                <a:spcPct val="112000"/>
              </a:lnSpc>
              <a:defRPr sz="1700" b="1" i="0">
                <a:solidFill>
                  <a:srgbClr val="16181D"/>
                </a:solidFill>
                <a:latin typeface="Poppins"/>
              </a:defRPr>
            </a:pPr>
            <a:r>
              <a:t>number they cannot interrogate</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the buyer sees each month</a:t>
            </a:r>
          </a:p>
        </p:txBody>
      </p:sp>
      <p:sp>
        <p:nvSpPr>
          <p:cNvPr id="15" name="Rectangle 14"/>
          <p:cNvSpPr/>
          <p:nvPr/>
        </p:nvSpPr>
        <p:spPr>
          <a:xfrm>
            <a:off x="502920" y="2057400"/>
            <a:ext cx="5394960" cy="196596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7512" y="2194560"/>
            <a:ext cx="5074920" cy="219456"/>
          </a:xfrm>
          <a:prstGeom prst="rect">
            <a:avLst/>
          </a:prstGeom>
          <a:noFill/>
        </p:spPr>
        <p:txBody>
          <a:bodyPr wrap="square" lIns="0" rIns="0" tIns="0" bIns="0">
            <a:spAutoFit/>
          </a:bodyPr>
          <a:lstStyle/>
          <a:p>
            <a:pPr algn="l">
              <a:lnSpc>
                <a:spcPct val="115000"/>
              </a:lnSpc>
              <a:defRPr sz="800" b="1" i="0">
                <a:solidFill>
                  <a:srgbClr val="C8102E"/>
                </a:solidFill>
                <a:latin typeface="Poppins"/>
              </a:defRPr>
            </a:pPr>
            <a:r>
              <a:t>Driver note, generated from the model</a:t>
            </a:r>
          </a:p>
        </p:txBody>
      </p:sp>
      <p:sp>
        <p:nvSpPr>
          <p:cNvPr id="17" name="TextBox 16"/>
          <p:cNvSpPr txBox="1"/>
          <p:nvPr/>
        </p:nvSpPr>
        <p:spPr>
          <a:xfrm>
            <a:off x="667512" y="2468880"/>
            <a:ext cx="5074920" cy="1463040"/>
          </a:xfrm>
          <a:prstGeom prst="rect">
            <a:avLst/>
          </a:prstGeom>
          <a:noFill/>
        </p:spPr>
        <p:txBody>
          <a:bodyPr wrap="square" lIns="0" rIns="0" tIns="0" bIns="0">
            <a:spAutoFit/>
          </a:bodyPr>
          <a:lstStyle/>
          <a:p>
            <a:pPr algn="l">
              <a:lnSpc>
                <a:spcPct val="132000"/>
              </a:lnSpc>
              <a:defRPr sz="819" b="0" i="1">
                <a:solidFill>
                  <a:srgbClr val="4A4D55"/>
                </a:solidFill>
                <a:latin typeface="Poppins"/>
              </a:defRPr>
            </a:pPr>
            <a:r>
              <a:t>"Aluminium three-month P50 is $2,519, +0.8% against spot, with a P10–P90 range of $2,321 to $2,809. The move is driven mainly by geopolitical risk easing at a one-month lead and copper firming at six months, partly offset by energy smelting pressure. Confidence in direction is 61%. Expected saving from covering now, after carrying cost, is -2.1%, which does not clear the +2% threshold — signal is BUY NORMAL."</a:t>
            </a:r>
          </a:p>
        </p:txBody>
      </p:sp>
      <p:sp>
        <p:nvSpPr>
          <p:cNvPr id="18" name="TextBox 17"/>
          <p:cNvSpPr txBox="1"/>
          <p:nvPr/>
        </p:nvSpPr>
        <p:spPr>
          <a:xfrm>
            <a:off x="502920" y="4224528"/>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sits behind it</a:t>
            </a:r>
          </a:p>
        </p:txBody>
      </p:sp>
      <p:sp>
        <p:nvSpPr>
          <p:cNvPr id="19" name="TextBox 18"/>
          <p:cNvSpPr txBox="1"/>
          <p:nvPr/>
        </p:nvSpPr>
        <p:spPr>
          <a:xfrm>
            <a:off x="502920" y="451713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0" name="TextBox 19"/>
          <p:cNvSpPr txBox="1"/>
          <p:nvPr/>
        </p:nvSpPr>
        <p:spPr>
          <a:xfrm>
            <a:off x="621792" y="451713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Driver attribution per forecast, computed on out-of-fold predictions only.</a:t>
            </a:r>
          </a:p>
        </p:txBody>
      </p:sp>
      <p:sp>
        <p:nvSpPr>
          <p:cNvPr id="21" name="TextBox 20"/>
          <p:cNvSpPr txBox="1"/>
          <p:nvPr/>
        </p:nvSpPr>
        <p:spPr>
          <a:xfrm>
            <a:off x="502920" y="472287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2" name="TextBox 21"/>
          <p:cNvSpPr txBox="1"/>
          <p:nvPr/>
        </p:nvSpPr>
        <p:spPr>
          <a:xfrm>
            <a:off x="621792" y="472287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Cross-correlation and Granger evidence per indicator, with its best lag.</a:t>
            </a:r>
          </a:p>
        </p:txBody>
      </p:sp>
      <p:sp>
        <p:nvSpPr>
          <p:cNvPr id="23" name="TextBox 22"/>
          <p:cNvSpPr txBox="1"/>
          <p:nvPr/>
        </p:nvSpPr>
        <p:spPr>
          <a:xfrm>
            <a:off x="502920" y="492861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4" name="TextBox 23"/>
          <p:cNvSpPr txBox="1"/>
          <p:nvPr/>
        </p:nvSpPr>
        <p:spPr>
          <a:xfrm>
            <a:off x="621792" y="492861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Partial-dependence and lead–lag charts for the top drivers of each material.</a:t>
            </a:r>
          </a:p>
        </p:txBody>
      </p:sp>
      <p:sp>
        <p:nvSpPr>
          <p:cNvPr id="25" name="TextBox 24"/>
          <p:cNvSpPr txBox="1"/>
          <p:nvPr/>
        </p:nvSpPr>
        <p:spPr>
          <a:xfrm>
            <a:off x="502920" y="513435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6" name="TextBox 25"/>
          <p:cNvSpPr txBox="1"/>
          <p:nvPr/>
        </p:nvSpPr>
        <p:spPr>
          <a:xfrm>
            <a:off x="621792" y="513435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Model card, feature list, version log and a full audit trail of every run.</a:t>
            </a:r>
          </a:p>
        </p:txBody>
      </p:sp>
      <p:sp>
        <p:nvSpPr>
          <p:cNvPr id="27" name="TextBox 26"/>
          <p:cNvSpPr txBox="1"/>
          <p:nvPr/>
        </p:nvSpPr>
        <p:spPr>
          <a:xfrm>
            <a:off x="502920" y="5340096"/>
            <a:ext cx="91440" cy="182880"/>
          </a:xfrm>
          <a:prstGeom prst="rect">
            <a:avLst/>
          </a:prstGeom>
          <a:noFill/>
        </p:spPr>
        <p:txBody>
          <a:bodyPr wrap="square" lIns="0" rIns="0" tIns="0" bIns="0">
            <a:spAutoFit/>
          </a:bodyPr>
          <a:lstStyle/>
          <a:p>
            <a:pPr algn="l">
              <a:lnSpc>
                <a:spcPct val="115000"/>
              </a:lnSpc>
              <a:defRPr sz="819" b="0" i="0">
                <a:solidFill>
                  <a:srgbClr val="C8102E"/>
                </a:solidFill>
                <a:latin typeface="Poppins"/>
              </a:defRPr>
            </a:pPr>
            <a:r>
              <a:t>•</a:t>
            </a:r>
          </a:p>
        </p:txBody>
      </p:sp>
      <p:sp>
        <p:nvSpPr>
          <p:cNvPr id="28" name="TextBox 27"/>
          <p:cNvSpPr txBox="1"/>
          <p:nvPr/>
        </p:nvSpPr>
        <p:spPr>
          <a:xfrm>
            <a:off x="621792" y="5340096"/>
            <a:ext cx="5276088" cy="384048"/>
          </a:xfrm>
          <a:prstGeom prst="rect">
            <a:avLst/>
          </a:prstGeom>
          <a:noFill/>
        </p:spPr>
        <p:txBody>
          <a:bodyPr wrap="square" lIns="0" rIns="0" tIns="0" bIns="0">
            <a:spAutoFit/>
          </a:bodyPr>
          <a:lstStyle/>
          <a:p>
            <a:pPr algn="l">
              <a:lnSpc>
                <a:spcPct val="120000"/>
              </a:lnSpc>
              <a:defRPr sz="819" b="0" i="0">
                <a:solidFill>
                  <a:srgbClr val="4A4D55"/>
                </a:solidFill>
                <a:latin typeface="Poppins"/>
              </a:defRPr>
            </a:pPr>
            <a:r>
              <a:t>Every override by a buyer is logged; adoption is a tracked run-state KPI.</a:t>
            </a:r>
          </a:p>
        </p:txBody>
      </p:sp>
      <p:sp>
        <p:nvSpPr>
          <p:cNvPr id="29" name="TextBox 28"/>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Error correlation between ensemble members, PVC h = 3</a:t>
            </a:r>
          </a:p>
        </p:txBody>
      </p:sp>
      <p:pic>
        <p:nvPicPr>
          <p:cNvPr id="30" name="Picture 29" descr="error_corr_pvc.png"/>
          <p:cNvPicPr>
            <a:picLocks noChangeAspect="1"/>
          </p:cNvPicPr>
          <p:nvPr/>
        </p:nvPicPr>
        <p:blipFill>
          <a:blip r:embed="rId2"/>
          <a:stretch>
            <a:fillRect/>
          </a:stretch>
        </p:blipFill>
        <p:spPr>
          <a:xfrm>
            <a:off x="6675120" y="2029968"/>
            <a:ext cx="2992693" cy="3063240"/>
          </a:xfrm>
          <a:prstGeom prst="rect">
            <a:avLst/>
          </a:prstGeom>
        </p:spPr>
      </p:pic>
      <p:sp>
        <p:nvSpPr>
          <p:cNvPr id="31" name="TextBox 30"/>
          <p:cNvSpPr txBox="1"/>
          <p:nvPr/>
        </p:nvSpPr>
        <p:spPr>
          <a:xfrm>
            <a:off x="6263640" y="5230368"/>
            <a:ext cx="5440680" cy="457200"/>
          </a:xfrm>
          <a:prstGeom prst="rect">
            <a:avLst/>
          </a:prstGeom>
          <a:noFill/>
        </p:spPr>
        <p:txBody>
          <a:bodyPr wrap="square" lIns="0" rIns="0" tIns="0" bIns="0">
            <a:spAutoFit/>
          </a:bodyPr>
          <a:lstStyle/>
          <a:p>
            <a:pPr algn="l">
              <a:lnSpc>
                <a:spcPct val="125000"/>
              </a:lnSpc>
              <a:defRPr sz="800" b="1" i="0">
                <a:solidFill>
                  <a:srgbClr val="C8102E"/>
                </a:solidFill>
                <a:latin typeface="Poppins"/>
              </a:defRPr>
            </a:pPr>
            <a:r>
              <a:t>Mean error correlation between members is 0.79. N-BEATS against the rest is 0.56.</a:t>
            </a:r>
          </a:p>
        </p:txBody>
      </p:sp>
      <p:sp>
        <p:nvSpPr>
          <p:cNvPr id="32" name="TextBox 31"/>
          <p:cNvSpPr txBox="1"/>
          <p:nvPr/>
        </p:nvSpPr>
        <p:spPr>
          <a:xfrm>
            <a:off x="6263640" y="5614416"/>
            <a:ext cx="5440680" cy="685800"/>
          </a:xfrm>
          <a:prstGeom prst="rect">
            <a:avLst/>
          </a:prstGeom>
          <a:noFill/>
        </p:spPr>
        <p:txBody>
          <a:bodyPr wrap="square" lIns="0" rIns="0" tIns="0" bIns="0">
            <a:spAutoFit/>
          </a:bodyPr>
          <a:lstStyle/>
          <a:p>
            <a:pPr algn="l">
              <a:lnSpc>
                <a:spcPct val="128000"/>
              </a:lnSpc>
              <a:defRPr sz="780" b="0" i="0">
                <a:solidFill>
                  <a:srgbClr val="4A4D55"/>
                </a:solidFill>
                <a:latin typeface="Poppins"/>
              </a:defRPr>
            </a:pPr>
            <a:r>
              <a:t>Most members are near-duplicates: they share a feature set, so their errors move together and combining them adds little. N-BEATS is the only genuine diversifier, which is why it carries most of the ensemble weight. We show this rather than assert that the ensemble helps.</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Attribution is computed on out-of-fold predictions so that importance has to hold out of sample. The error-correlation matrix is the evidence for or against any claimed ensemble gain, and is reported whether or not it flatters the result.</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0 9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We tested it the way procurement would live with it: refit at every month from 2018</a:t>
            </a:r>
          </a:p>
          <a:p>
            <a:pPr algn="l">
              <a:lnSpc>
                <a:spcPct val="112000"/>
              </a:lnSpc>
              <a:defRPr sz="1700" b="1" i="0">
                <a:solidFill>
                  <a:srgbClr val="16181D"/>
                </a:solidFill>
                <a:latin typeface="Poppins"/>
              </a:defRPr>
            </a:pPr>
            <a:r>
              <a:t>to 2024, and beat the naïve forecast before claiming anything</a:t>
            </a:r>
          </a:p>
        </p:txBody>
      </p:sp>
      <p:sp>
        <p:nvSpPr>
          <p:cNvPr id="14" name="TextBox 13"/>
          <p:cNvSpPr txBox="1"/>
          <p:nvPr/>
        </p:nvSpPr>
        <p:spPr>
          <a:xfrm>
            <a:off x="502920" y="1783080"/>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Rolling-origin walk-forward, 78 expanding folds</a:t>
            </a:r>
          </a:p>
        </p:txBody>
      </p:sp>
      <p:sp>
        <p:nvSpPr>
          <p:cNvPr id="15" name="TextBox 14"/>
          <p:cNvSpPr txBox="1"/>
          <p:nvPr/>
        </p:nvSpPr>
        <p:spPr>
          <a:xfrm>
            <a:off x="502920" y="2084831"/>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Jan 2018</a:t>
            </a:r>
          </a:p>
        </p:txBody>
      </p:sp>
      <p:sp>
        <p:nvSpPr>
          <p:cNvPr id="16" name="Rectangle 15"/>
          <p:cNvSpPr/>
          <p:nvPr/>
        </p:nvSpPr>
        <p:spPr>
          <a:xfrm>
            <a:off x="1920240" y="2103120"/>
            <a:ext cx="2721254"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641494" y="2103120"/>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414015"/>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Jan 2020</a:t>
            </a:r>
          </a:p>
        </p:txBody>
      </p:sp>
      <p:sp>
        <p:nvSpPr>
          <p:cNvPr id="19" name="Rectangle 18"/>
          <p:cNvSpPr/>
          <p:nvPr/>
        </p:nvSpPr>
        <p:spPr>
          <a:xfrm>
            <a:off x="1920240" y="2432303"/>
            <a:ext cx="3160166"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080406" y="2432303"/>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02920" y="2743200"/>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Jan 2022</a:t>
            </a:r>
          </a:p>
        </p:txBody>
      </p:sp>
      <p:sp>
        <p:nvSpPr>
          <p:cNvPr id="22" name="Rectangle 21"/>
          <p:cNvSpPr/>
          <p:nvPr/>
        </p:nvSpPr>
        <p:spPr>
          <a:xfrm>
            <a:off x="1920240" y="2761488"/>
            <a:ext cx="3599078"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519318" y="2761488"/>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02920" y="3072384"/>
            <a:ext cx="1325880" cy="201168"/>
          </a:xfrm>
          <a:prstGeom prst="rect">
            <a:avLst/>
          </a:prstGeom>
          <a:noFill/>
        </p:spPr>
        <p:txBody>
          <a:bodyPr wrap="square" lIns="0" rIns="0" tIns="0" bIns="0">
            <a:spAutoFit/>
          </a:bodyPr>
          <a:lstStyle/>
          <a:p>
            <a:pPr algn="l">
              <a:lnSpc>
                <a:spcPct val="115000"/>
              </a:lnSpc>
              <a:defRPr sz="780" b="0" i="0">
                <a:solidFill>
                  <a:srgbClr val="4A4D55"/>
                </a:solidFill>
                <a:latin typeface="Poppins"/>
              </a:defRPr>
            </a:pPr>
            <a:r>
              <a:t>Origin Jun 2024</a:t>
            </a:r>
          </a:p>
        </p:txBody>
      </p:sp>
      <p:sp>
        <p:nvSpPr>
          <p:cNvPr id="25" name="Rectangle 24"/>
          <p:cNvSpPr/>
          <p:nvPr/>
        </p:nvSpPr>
        <p:spPr>
          <a:xfrm>
            <a:off x="1920240" y="3090672"/>
            <a:ext cx="4081881" cy="15544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002121" y="3090672"/>
            <a:ext cx="307238" cy="15544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920240" y="3456432"/>
            <a:ext cx="4389120" cy="182880"/>
          </a:xfrm>
          <a:prstGeom prst="rect">
            <a:avLst/>
          </a:prstGeom>
          <a:noFill/>
        </p:spPr>
        <p:txBody>
          <a:bodyPr wrap="square" lIns="0" rIns="0" tIns="0" bIns="0">
            <a:spAutoFit/>
          </a:bodyPr>
          <a:lstStyle/>
          <a:p>
            <a:pPr algn="l">
              <a:lnSpc>
                <a:spcPct val="115000"/>
              </a:lnSpc>
              <a:defRPr sz="740" b="0" i="1">
                <a:solidFill>
                  <a:srgbClr val="7C8089"/>
                </a:solidFill>
                <a:latin typeface="Poppins"/>
              </a:defRPr>
            </a:pPr>
            <a:r>
              <a:t>and every monthly origin in between</a:t>
            </a:r>
          </a:p>
        </p:txBody>
      </p:sp>
      <p:sp>
        <p:nvSpPr>
          <p:cNvPr id="28" name="TextBox 27"/>
          <p:cNvSpPr txBox="1"/>
          <p:nvPr/>
        </p:nvSpPr>
        <p:spPr>
          <a:xfrm>
            <a:off x="502920" y="3675887"/>
            <a:ext cx="5943600" cy="182880"/>
          </a:xfrm>
          <a:prstGeom prst="rect">
            <a:avLst/>
          </a:prstGeom>
          <a:noFill/>
        </p:spPr>
        <p:txBody>
          <a:bodyPr wrap="square" lIns="0" rIns="0" tIns="0" bIns="0">
            <a:spAutoFit/>
          </a:bodyPr>
          <a:lstStyle/>
          <a:p>
            <a:pPr algn="l">
              <a:lnSpc>
                <a:spcPct val="115000"/>
              </a:lnSpc>
              <a:defRPr sz="740" b="0" i="0">
                <a:solidFill>
                  <a:srgbClr val="7C8089"/>
                </a:solidFill>
                <a:latin typeface="Poppins"/>
              </a:defRPr>
            </a:pPr>
            <a:r>
              <a:t>■ training window (expanding)      ■ six-month out-of-sample test</a:t>
            </a:r>
          </a:p>
        </p:txBody>
      </p:sp>
      <p:cxnSp>
        <p:nvCxnSpPr>
          <p:cNvPr id="29" name="Connector 28"/>
          <p:cNvCxnSpPr/>
          <p:nvPr/>
        </p:nvCxnSpPr>
        <p:spPr>
          <a:xfrm>
            <a:off x="502920" y="3950208"/>
            <a:ext cx="59436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2920" y="4087368"/>
            <a:ext cx="59436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Skill and direction rise with horizon, not fall</a:t>
            </a:r>
          </a:p>
        </p:txBody>
      </p:sp>
      <p:pic>
        <p:nvPicPr>
          <p:cNvPr id="31" name="Picture 30" descr="aluminium_skill.png"/>
          <p:cNvPicPr>
            <a:picLocks noChangeAspect="1"/>
          </p:cNvPicPr>
          <p:nvPr/>
        </p:nvPicPr>
        <p:blipFill>
          <a:blip r:embed="rId2"/>
          <a:stretch>
            <a:fillRect/>
          </a:stretch>
        </p:blipFill>
        <p:spPr>
          <a:xfrm>
            <a:off x="502920" y="4343400"/>
            <a:ext cx="5852160" cy="2957099"/>
          </a:xfrm>
          <a:prstGeom prst="rect">
            <a:avLst/>
          </a:prstGeom>
        </p:spPr>
      </p:pic>
      <p:sp>
        <p:nvSpPr>
          <p:cNvPr id="32" name="TextBox 31"/>
          <p:cNvSpPr txBox="1"/>
          <p:nvPr/>
        </p:nvSpPr>
        <p:spPr>
          <a:xfrm>
            <a:off x="6812280" y="1783080"/>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Three-month forecast against what actually happened</a:t>
            </a:r>
          </a:p>
        </p:txBody>
      </p:sp>
      <p:pic>
        <p:nvPicPr>
          <p:cNvPr id="33" name="Picture 32" descr="aluminium_backtest.png"/>
          <p:cNvPicPr>
            <a:picLocks noChangeAspect="1"/>
          </p:cNvPicPr>
          <p:nvPr/>
        </p:nvPicPr>
        <p:blipFill>
          <a:blip r:embed="rId3"/>
          <a:stretch>
            <a:fillRect/>
          </a:stretch>
        </p:blipFill>
        <p:spPr>
          <a:xfrm>
            <a:off x="6812280" y="2029968"/>
            <a:ext cx="4892040" cy="2106950"/>
          </a:xfrm>
          <a:prstGeom prst="rect">
            <a:avLst/>
          </a:prstGeom>
        </p:spPr>
      </p:pic>
      <p:sp>
        <p:nvSpPr>
          <p:cNvPr id="34" name="TextBox 33"/>
          <p:cNvSpPr txBox="1"/>
          <p:nvPr/>
        </p:nvSpPr>
        <p:spPr>
          <a:xfrm>
            <a:off x="6812280" y="3931920"/>
            <a:ext cx="4892040" cy="457200"/>
          </a:xfrm>
          <a:prstGeom prst="rect">
            <a:avLst/>
          </a:prstGeom>
          <a:noFill/>
        </p:spPr>
        <p:txBody>
          <a:bodyPr wrap="square" lIns="0" rIns="0" tIns="0" bIns="0">
            <a:spAutoFit/>
          </a:bodyPr>
          <a:lstStyle/>
          <a:p>
            <a:pPr algn="l">
              <a:lnSpc>
                <a:spcPct val="125000"/>
              </a:lnSpc>
              <a:defRPr sz="760" b="0" i="0">
                <a:solidFill>
                  <a:srgbClr val="7C8089"/>
                </a:solidFill>
                <a:latin typeface="Poppins"/>
              </a:defRPr>
            </a:pPr>
            <a:r>
              <a:t>Aluminium, every origin. The red line is the forecast made three months before the realised price it sits above.</a:t>
            </a:r>
          </a:p>
        </p:txBody>
      </p:sp>
      <p:cxnSp>
        <p:nvCxnSpPr>
          <p:cNvPr id="35" name="Connector 34"/>
          <p:cNvCxnSpPr/>
          <p:nvPr/>
        </p:nvCxnSpPr>
        <p:spPr>
          <a:xfrm>
            <a:off x="6812280" y="4315968"/>
            <a:ext cx="489204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12280" y="4453128"/>
            <a:ext cx="48920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Performance by regime</a:t>
            </a:r>
          </a:p>
        </p:txBody>
      </p:sp>
      <p:graphicFrame>
        <p:nvGraphicFramePr>
          <p:cNvPr id="37" name="Table 36"/>
          <p:cNvGraphicFramePr>
            <a:graphicFrameLocks noGrp="1"/>
          </p:cNvGraphicFramePr>
          <p:nvPr/>
        </p:nvGraphicFramePr>
        <p:xfrm>
          <a:off x="6812280" y="4727448"/>
          <a:ext cx="4892040" cy="1261872"/>
        </p:xfrm>
        <a:graphic>
          <a:graphicData uri="http://schemas.openxmlformats.org/drawingml/2006/table">
            <a:tbl>
              <a:tblPr>
                <a:tableStyleId>{5C22544A-7EE6-4342-B048-85BDC9FD1C3A}</a:tableStyleId>
              </a:tblPr>
              <a:tblGrid>
                <a:gridCol w="2057400"/>
                <a:gridCol w="411480"/>
                <a:gridCol w="640080"/>
                <a:gridCol w="621792"/>
                <a:gridCol w="548640"/>
                <a:gridCol w="612648"/>
              </a:tblGrid>
              <a:tr h="237744">
                <a:tc>
                  <a:txBody>
                    <a:bodyPr/>
                    <a:lstStyle/>
                    <a:p>
                      <a:pPr algn="l">
                        <a:defRPr sz="660" b="1">
                          <a:solidFill>
                            <a:srgbClr val="FFFFFF"/>
                          </a:solidFill>
                          <a:latin typeface="Poppins"/>
                        </a:defRPr>
                      </a:pPr>
                      <a:r>
                        <a:t>Regime</a:t>
                      </a:r>
                    </a:p>
                  </a:txBody>
                  <a:tcPr marL="54864" marR="54864" marT="18288" marB="18288" anchor="ctr">
                    <a:solidFill>
                      <a:srgbClr val="C8102E"/>
                    </a:solidFill>
                  </a:tcPr>
                </a:tc>
                <a:tc>
                  <a:txBody>
                    <a:bodyPr/>
                    <a:lstStyle/>
                    <a:p>
                      <a:pPr algn="r">
                        <a:defRPr sz="660" b="1">
                          <a:solidFill>
                            <a:srgbClr val="FFFFFF"/>
                          </a:solidFill>
                          <a:latin typeface="Poppins"/>
                        </a:defRPr>
                      </a:pPr>
                      <a:r>
                        <a:t>n</a:t>
                      </a:r>
                    </a:p>
                  </a:txBody>
                  <a:tcPr marL="54864" marR="54864" marT="18288" marB="18288" anchor="ctr">
                    <a:solidFill>
                      <a:srgbClr val="C8102E"/>
                    </a:solidFill>
                  </a:tcPr>
                </a:tc>
                <a:tc>
                  <a:txBody>
                    <a:bodyPr/>
                    <a:lstStyle/>
                    <a:p>
                      <a:pPr algn="r">
                        <a:defRPr sz="660" b="1">
                          <a:solidFill>
                            <a:srgbClr val="FFFFFF"/>
                          </a:solidFill>
                          <a:latin typeface="Poppins"/>
                        </a:defRPr>
                      </a:pPr>
                      <a:r>
                        <a:t>MAPE</a:t>
                      </a:r>
                    </a:p>
                  </a:txBody>
                  <a:tcPr marL="54864" marR="54864" marT="18288" marB="18288" anchor="ctr">
                    <a:solidFill>
                      <a:srgbClr val="C8102E"/>
                    </a:solidFill>
                  </a:tcPr>
                </a:tc>
                <a:tc>
                  <a:txBody>
                    <a:bodyPr/>
                    <a:lstStyle/>
                    <a:p>
                      <a:pPr algn="r">
                        <a:defRPr sz="660" b="1">
                          <a:solidFill>
                            <a:srgbClr val="FFFFFF"/>
                          </a:solidFill>
                          <a:latin typeface="Poppins"/>
                        </a:defRPr>
                      </a:pPr>
                      <a:r>
                        <a:t>Skill</a:t>
                      </a:r>
                    </a:p>
                  </a:txBody>
                  <a:tcPr marL="54864" marR="54864" marT="18288" marB="18288" anchor="ctr">
                    <a:solidFill>
                      <a:srgbClr val="C8102E"/>
                    </a:solidFill>
                  </a:tcPr>
                </a:tc>
                <a:tc>
                  <a:txBody>
                    <a:bodyPr/>
                    <a:lstStyle/>
                    <a:p>
                      <a:pPr algn="r">
                        <a:defRPr sz="660" b="1">
                          <a:solidFill>
                            <a:srgbClr val="FFFFFF"/>
                          </a:solidFill>
                          <a:latin typeface="Poppins"/>
                        </a:defRPr>
                      </a:pPr>
                      <a:r>
                        <a:t>Dir.</a:t>
                      </a:r>
                    </a:p>
                  </a:txBody>
                  <a:tcPr marL="54864" marR="54864" marT="18288" marB="18288" anchor="ctr">
                    <a:solidFill>
                      <a:srgbClr val="C8102E"/>
                    </a:solidFill>
                  </a:tcPr>
                </a:tc>
                <a:tc>
                  <a:txBody>
                    <a:bodyPr/>
                    <a:lstStyle/>
                    <a:p>
                      <a:pPr algn="r">
                        <a:defRPr sz="660" b="1">
                          <a:solidFill>
                            <a:srgbClr val="FFFFFF"/>
                          </a:solidFill>
                          <a:latin typeface="Poppins"/>
                        </a:defRPr>
                      </a:pPr>
                      <a:r>
                        <a:t>Cov.</a:t>
                      </a:r>
                    </a:p>
                  </a:txBody>
                  <a:tcPr marL="54864" marR="54864" marT="18288" marB="18288" anchor="ctr">
                    <a:solidFill>
                      <a:srgbClr val="C8102E"/>
                    </a:solidFill>
                  </a:tcPr>
                </a:tc>
              </a:tr>
              <a:tr h="256032">
                <a:tc>
                  <a:txBody>
                    <a:bodyPr/>
                    <a:lstStyle/>
                    <a:p>
                      <a:pPr algn="l">
                        <a:defRPr sz="720" b="0">
                          <a:solidFill>
                            <a:srgbClr val="4A4D55"/>
                          </a:solidFill>
                          <a:latin typeface="Poppins"/>
                        </a:defRPr>
                      </a:pPr>
                      <a:r>
                        <a:t>Calm (2018-2019)</a:t>
                      </a:r>
                    </a:p>
                  </a:txBody>
                  <a:tcPr marL="54864" marR="54864" marT="13716" marB="13716" anchor="ctr">
                    <a:solidFill>
                      <a:srgbClr val="FFFFFF"/>
                    </a:solidFill>
                  </a:tcPr>
                </a:tc>
                <a:tc>
                  <a:txBody>
                    <a:bodyPr/>
                    <a:lstStyle/>
                    <a:p>
                      <a:pPr algn="r">
                        <a:defRPr sz="720" b="0">
                          <a:solidFill>
                            <a:srgbClr val="4A4D55"/>
                          </a:solidFill>
                          <a:latin typeface="Poppins"/>
                        </a:defRPr>
                      </a:pPr>
                      <a:r>
                        <a:t>24</a:t>
                      </a:r>
                    </a:p>
                  </a:txBody>
                  <a:tcPr marL="54864" marR="54864" marT="13716" marB="13716" anchor="ctr">
                    <a:solidFill>
                      <a:srgbClr val="FFFFFF"/>
                    </a:solidFill>
                  </a:tcPr>
                </a:tc>
                <a:tc>
                  <a:txBody>
                    <a:bodyPr/>
                    <a:lstStyle/>
                    <a:p>
                      <a:pPr algn="r">
                        <a:defRPr sz="720" b="0">
                          <a:solidFill>
                            <a:srgbClr val="4A4D55"/>
                          </a:solidFill>
                          <a:latin typeface="Poppins"/>
                        </a:defRPr>
                      </a:pPr>
                      <a:r>
                        <a:t>4.01%</a:t>
                      </a:r>
                    </a:p>
                  </a:txBody>
                  <a:tcPr marL="54864" marR="54864" marT="13716" marB="13716" anchor="ctr">
                    <a:solidFill>
                      <a:srgbClr val="FFFFFF"/>
                    </a:solidFill>
                  </a:tcPr>
                </a:tc>
                <a:tc>
                  <a:txBody>
                    <a:bodyPr/>
                    <a:lstStyle/>
                    <a:p>
                      <a:pPr algn="r">
                        <a:defRPr sz="720" b="0">
                          <a:solidFill>
                            <a:srgbClr val="0F6B3F"/>
                          </a:solidFill>
                          <a:latin typeface="Poppins"/>
                        </a:defRPr>
                      </a:pPr>
                      <a:r>
                        <a:t>17.8%</a:t>
                      </a:r>
                    </a:p>
                  </a:txBody>
                  <a:tcPr marL="54864" marR="54864" marT="13716" marB="13716" anchor="ctr">
                    <a:solidFill>
                      <a:srgbClr val="FFFFFF"/>
                    </a:solidFill>
                  </a:tcPr>
                </a:tc>
                <a:tc>
                  <a:txBody>
                    <a:bodyPr/>
                    <a:lstStyle/>
                    <a:p>
                      <a:pPr algn="r">
                        <a:defRPr sz="720" b="0">
                          <a:solidFill>
                            <a:srgbClr val="4A4D55"/>
                          </a:solidFill>
                          <a:latin typeface="Poppins"/>
                        </a:defRPr>
                      </a:pPr>
                      <a:r>
                        <a:t>75%</a:t>
                      </a:r>
                    </a:p>
                  </a:txBody>
                  <a:tcPr marL="54864" marR="54864" marT="13716" marB="13716" anchor="ctr">
                    <a:solidFill>
                      <a:srgbClr val="FFFFFF"/>
                    </a:solidFill>
                  </a:tcPr>
                </a:tc>
                <a:tc>
                  <a:txBody>
                    <a:bodyPr/>
                    <a:lstStyle/>
                    <a:p>
                      <a:pPr algn="r">
                        <a:defRPr sz="720" b="0">
                          <a:solidFill>
                            <a:srgbClr val="4A4D55"/>
                          </a:solidFill>
                          <a:latin typeface="Poppins"/>
                        </a:defRPr>
                      </a:pPr>
                      <a:r>
                        <a:t>79%</a:t>
                      </a:r>
                    </a:p>
                  </a:txBody>
                  <a:tcPr marL="54864" marR="54864" marT="13716" marB="13716" anchor="ctr">
                    <a:solidFill>
                      <a:srgbClr val="FFFFFF"/>
                    </a:solidFill>
                  </a:tcPr>
                </a:tc>
              </a:tr>
              <a:tr h="256032">
                <a:tc>
                  <a:txBody>
                    <a:bodyPr/>
                    <a:lstStyle/>
                    <a:p>
                      <a:pPr algn="l">
                        <a:defRPr sz="720" b="0">
                          <a:solidFill>
                            <a:srgbClr val="4A4D55"/>
                          </a:solidFill>
                          <a:latin typeface="Poppins"/>
                        </a:defRPr>
                      </a:pPr>
                      <a:r>
                        <a:t>COVID Shock (2020)</a:t>
                      </a:r>
                    </a:p>
                  </a:txBody>
                  <a:tcPr marL="54864" marR="54864" marT="13716" marB="13716" anchor="ctr">
                    <a:solidFill>
                      <a:srgbClr val="FFFFFF"/>
                    </a:solidFill>
                  </a:tcPr>
                </a:tc>
                <a:tc>
                  <a:txBody>
                    <a:bodyPr/>
                    <a:lstStyle/>
                    <a:p>
                      <a:pPr algn="r">
                        <a:defRPr sz="720" b="0">
                          <a:solidFill>
                            <a:srgbClr val="4A4D55"/>
                          </a:solidFill>
                          <a:latin typeface="Poppins"/>
                        </a:defRPr>
                      </a:pPr>
                      <a:r>
                        <a:t>12</a:t>
                      </a:r>
                    </a:p>
                  </a:txBody>
                  <a:tcPr marL="54864" marR="54864" marT="13716" marB="13716" anchor="ctr">
                    <a:solidFill>
                      <a:srgbClr val="FFFFFF"/>
                    </a:solidFill>
                  </a:tcPr>
                </a:tc>
                <a:tc>
                  <a:txBody>
                    <a:bodyPr/>
                    <a:lstStyle/>
                    <a:p>
                      <a:pPr algn="r">
                        <a:defRPr sz="720" b="0">
                          <a:solidFill>
                            <a:srgbClr val="4A4D55"/>
                          </a:solidFill>
                          <a:latin typeface="Poppins"/>
                        </a:defRPr>
                      </a:pPr>
                      <a:r>
                        <a:t>9.26%</a:t>
                      </a:r>
                    </a:p>
                  </a:txBody>
                  <a:tcPr marL="54864" marR="54864" marT="13716" marB="13716" anchor="ctr">
                    <a:solidFill>
                      <a:srgbClr val="FFFFFF"/>
                    </a:solidFill>
                  </a:tcPr>
                </a:tc>
                <a:tc>
                  <a:txBody>
                    <a:bodyPr/>
                    <a:lstStyle/>
                    <a:p>
                      <a:pPr algn="r">
                        <a:defRPr sz="720" b="0">
                          <a:solidFill>
                            <a:srgbClr val="0F6B3F"/>
                          </a:solidFill>
                          <a:latin typeface="Poppins"/>
                        </a:defRPr>
                      </a:pPr>
                      <a:r>
                        <a:t>16.8%</a:t>
                      </a:r>
                    </a:p>
                  </a:txBody>
                  <a:tcPr marL="54864" marR="54864" marT="13716" marB="13716" anchor="ctr">
                    <a:solidFill>
                      <a:srgbClr val="FFFFFF"/>
                    </a:solidFill>
                  </a:tcPr>
                </a:tc>
                <a:tc>
                  <a:txBody>
                    <a:bodyPr/>
                    <a:lstStyle/>
                    <a:p>
                      <a:pPr algn="r">
                        <a:defRPr sz="720" b="0">
                          <a:solidFill>
                            <a:srgbClr val="4A4D55"/>
                          </a:solidFill>
                          <a:latin typeface="Poppins"/>
                        </a:defRPr>
                      </a:pPr>
                      <a:r>
                        <a:t>75%</a:t>
                      </a:r>
                    </a:p>
                  </a:txBody>
                  <a:tcPr marL="54864" marR="54864" marT="13716" marB="13716" anchor="ctr">
                    <a:solidFill>
                      <a:srgbClr val="FFFFFF"/>
                    </a:solidFill>
                  </a:tcPr>
                </a:tc>
                <a:tc>
                  <a:txBody>
                    <a:bodyPr/>
                    <a:lstStyle/>
                    <a:p>
                      <a:pPr algn="r">
                        <a:defRPr sz="720" b="0">
                          <a:solidFill>
                            <a:srgbClr val="4A4D55"/>
                          </a:solidFill>
                          <a:latin typeface="Poppins"/>
                        </a:defRPr>
                      </a:pPr>
                      <a:r>
                        <a:t>33%</a:t>
                      </a:r>
                    </a:p>
                  </a:txBody>
                  <a:tcPr marL="54864" marR="54864" marT="13716" marB="13716" anchor="ctr">
                    <a:solidFill>
                      <a:srgbClr val="FFFFFF"/>
                    </a:solidFill>
                  </a:tcPr>
                </a:tc>
              </a:tr>
              <a:tr h="256032">
                <a:tc>
                  <a:txBody>
                    <a:bodyPr/>
                    <a:lstStyle/>
                    <a:p>
                      <a:pPr algn="l">
                        <a:defRPr sz="720" b="0">
                          <a:solidFill>
                            <a:srgbClr val="4A4D55"/>
                          </a:solidFill>
                          <a:latin typeface="Poppins"/>
                        </a:defRPr>
                      </a:pPr>
                      <a:r>
                        <a:t>Spike/Rally (2021-2022 H1)</a:t>
                      </a:r>
                    </a:p>
                  </a:txBody>
                  <a:tcPr marL="54864" marR="54864" marT="13716" marB="13716" anchor="ctr">
                    <a:solidFill>
                      <a:srgbClr val="FFFFFF"/>
                    </a:solidFill>
                  </a:tcPr>
                </a:tc>
                <a:tc>
                  <a:txBody>
                    <a:bodyPr/>
                    <a:lstStyle/>
                    <a:p>
                      <a:pPr algn="r">
                        <a:defRPr sz="720" b="0">
                          <a:solidFill>
                            <a:srgbClr val="4A4D55"/>
                          </a:solidFill>
                          <a:latin typeface="Poppins"/>
                        </a:defRPr>
                      </a:pPr>
                      <a:r>
                        <a:t>18</a:t>
                      </a:r>
                    </a:p>
                  </a:txBody>
                  <a:tcPr marL="54864" marR="54864" marT="13716" marB="13716" anchor="ctr">
                    <a:solidFill>
                      <a:srgbClr val="FFFFFF"/>
                    </a:solidFill>
                  </a:tcPr>
                </a:tc>
                <a:tc>
                  <a:txBody>
                    <a:bodyPr/>
                    <a:lstStyle/>
                    <a:p>
                      <a:pPr algn="r">
                        <a:defRPr sz="720" b="0">
                          <a:solidFill>
                            <a:srgbClr val="4A4D55"/>
                          </a:solidFill>
                          <a:latin typeface="Poppins"/>
                        </a:defRPr>
                      </a:pPr>
                      <a:r>
                        <a:t>12.12%</a:t>
                      </a:r>
                    </a:p>
                  </a:txBody>
                  <a:tcPr marL="54864" marR="54864" marT="13716" marB="13716" anchor="ctr">
                    <a:solidFill>
                      <a:srgbClr val="FFFFFF"/>
                    </a:solidFill>
                  </a:tcPr>
                </a:tc>
                <a:tc>
                  <a:txBody>
                    <a:bodyPr/>
                    <a:lstStyle/>
                    <a:p>
                      <a:pPr algn="r">
                        <a:defRPr sz="720" b="0">
                          <a:solidFill>
                            <a:srgbClr val="0F6B3F"/>
                          </a:solidFill>
                          <a:latin typeface="Poppins"/>
                        </a:defRPr>
                      </a:pPr>
                      <a:r>
                        <a:t>14.9%</a:t>
                      </a:r>
                    </a:p>
                  </a:txBody>
                  <a:tcPr marL="54864" marR="54864" marT="13716" marB="13716" anchor="ctr">
                    <a:solidFill>
                      <a:srgbClr val="FFFFFF"/>
                    </a:solidFill>
                  </a:tcPr>
                </a:tc>
                <a:tc>
                  <a:txBody>
                    <a:bodyPr/>
                    <a:lstStyle/>
                    <a:p>
                      <a:pPr algn="r">
                        <a:defRPr sz="720" b="0">
                          <a:solidFill>
                            <a:srgbClr val="4A4D55"/>
                          </a:solidFill>
                          <a:latin typeface="Poppins"/>
                        </a:defRPr>
                      </a:pPr>
                      <a:r>
                        <a:t>89%</a:t>
                      </a:r>
                    </a:p>
                  </a:txBody>
                  <a:tcPr marL="54864" marR="54864" marT="13716" marB="13716" anchor="ctr">
                    <a:solidFill>
                      <a:srgbClr val="FFFFFF"/>
                    </a:solidFill>
                  </a:tcPr>
                </a:tc>
                <a:tc>
                  <a:txBody>
                    <a:bodyPr/>
                    <a:lstStyle/>
                    <a:p>
                      <a:pPr algn="r">
                        <a:defRPr sz="720" b="0">
                          <a:solidFill>
                            <a:srgbClr val="4A4D55"/>
                          </a:solidFill>
                          <a:latin typeface="Poppins"/>
                        </a:defRPr>
                      </a:pPr>
                      <a:r>
                        <a:t>33%</a:t>
                      </a:r>
                    </a:p>
                  </a:txBody>
                  <a:tcPr marL="54864" marR="54864" marT="13716" marB="13716" anchor="ctr">
                    <a:solidFill>
                      <a:srgbClr val="FFFFFF"/>
                    </a:solidFill>
                  </a:tcPr>
                </a:tc>
              </a:tr>
              <a:tr h="256032">
                <a:tc>
                  <a:txBody>
                    <a:bodyPr/>
                    <a:lstStyle/>
                    <a:p>
                      <a:pPr algn="l">
                        <a:defRPr sz="720" b="0">
                          <a:solidFill>
                            <a:srgbClr val="4A4D55"/>
                          </a:solidFill>
                          <a:latin typeface="Poppins"/>
                        </a:defRPr>
                      </a:pPr>
                      <a:r>
                        <a:t>Slide/Normalization (2022 H2-2024)</a:t>
                      </a:r>
                    </a:p>
                  </a:txBody>
                  <a:tcPr marL="54864" marR="54864" marT="13716" marB="13716" anchor="ctr">
                    <a:solidFill>
                      <a:srgbClr val="FFFFFF"/>
                    </a:solidFill>
                  </a:tcPr>
                </a:tc>
                <a:tc>
                  <a:txBody>
                    <a:bodyPr/>
                    <a:lstStyle/>
                    <a:p>
                      <a:pPr algn="r">
                        <a:defRPr sz="720" b="0">
                          <a:solidFill>
                            <a:srgbClr val="4A4D55"/>
                          </a:solidFill>
                          <a:latin typeface="Poppins"/>
                        </a:defRPr>
                      </a:pPr>
                      <a:r>
                        <a:t>24</a:t>
                      </a:r>
                    </a:p>
                  </a:txBody>
                  <a:tcPr marL="54864" marR="54864" marT="13716" marB="13716" anchor="ctr">
                    <a:solidFill>
                      <a:srgbClr val="FFFFFF"/>
                    </a:solidFill>
                  </a:tcPr>
                </a:tc>
                <a:tc>
                  <a:txBody>
                    <a:bodyPr/>
                    <a:lstStyle/>
                    <a:p>
                      <a:pPr algn="r">
                        <a:defRPr sz="720" b="0">
                          <a:solidFill>
                            <a:srgbClr val="4A4D55"/>
                          </a:solidFill>
                          <a:latin typeface="Poppins"/>
                        </a:defRPr>
                      </a:pPr>
                      <a:r>
                        <a:t>5.22%</a:t>
                      </a:r>
                    </a:p>
                  </a:txBody>
                  <a:tcPr marL="54864" marR="54864" marT="13716" marB="13716" anchor="ctr">
                    <a:solidFill>
                      <a:srgbClr val="FFFFFF"/>
                    </a:solidFill>
                  </a:tcPr>
                </a:tc>
                <a:tc>
                  <a:txBody>
                    <a:bodyPr/>
                    <a:lstStyle/>
                    <a:p>
                      <a:pPr algn="r">
                        <a:defRPr sz="720" b="0">
                          <a:solidFill>
                            <a:srgbClr val="0F6B3F"/>
                          </a:solidFill>
                          <a:latin typeface="Poppins"/>
                        </a:defRPr>
                      </a:pPr>
                      <a:r>
                        <a:t>4.9%</a:t>
                      </a:r>
                    </a:p>
                  </a:txBody>
                  <a:tcPr marL="54864" marR="54864" marT="13716" marB="13716" anchor="ctr">
                    <a:solidFill>
                      <a:srgbClr val="FFFFFF"/>
                    </a:solidFill>
                  </a:tcPr>
                </a:tc>
                <a:tc>
                  <a:txBody>
                    <a:bodyPr/>
                    <a:lstStyle/>
                    <a:p>
                      <a:pPr algn="r">
                        <a:defRPr sz="720" b="0">
                          <a:solidFill>
                            <a:srgbClr val="4A4D55"/>
                          </a:solidFill>
                          <a:latin typeface="Poppins"/>
                        </a:defRPr>
                      </a:pPr>
                      <a:r>
                        <a:t>58%</a:t>
                      </a:r>
                    </a:p>
                  </a:txBody>
                  <a:tcPr marL="54864" marR="54864" marT="13716" marB="13716" anchor="ctr">
                    <a:solidFill>
                      <a:srgbClr val="FFFFFF"/>
                    </a:solidFill>
                  </a:tcPr>
                </a:tc>
                <a:tc>
                  <a:txBody>
                    <a:bodyPr/>
                    <a:lstStyle/>
                    <a:p>
                      <a:pPr algn="r">
                        <a:defRPr sz="720" b="0">
                          <a:solidFill>
                            <a:srgbClr val="4A4D55"/>
                          </a:solidFill>
                          <a:latin typeface="Poppins"/>
                        </a:defRPr>
                      </a:pPr>
                      <a:r>
                        <a:t>79%</a:t>
                      </a:r>
                    </a:p>
                  </a:txBody>
                  <a:tcPr marL="54864" marR="54864" marT="13716" marB="13716" anchor="ctr">
                    <a:solidFill>
                      <a:srgbClr val="FFFFFF"/>
                    </a:solidFill>
                  </a:tcPr>
                </a:tc>
              </a:tr>
            </a:tbl>
          </a:graphicData>
        </a:graphic>
      </p:graphicFrame>
      <p:sp>
        <p:nvSpPr>
          <p:cNvPr id="38" name="TextBox 37"/>
          <p:cNvSpPr txBox="1"/>
          <p:nvPr/>
        </p:nvSpPr>
        <p:spPr>
          <a:xfrm>
            <a:off x="6812280" y="5870448"/>
            <a:ext cx="489204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Skill holds through COVID and the 2021–22 spike. Band coverage does not — it collapses to 33% in both. We report that rather than average it away.</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Hyper-parameters are tuned only on each fold's own inner validation slice. Scalers, imputers and feature selection are refitted inside every fold. [1] Tashman (2000), International Journal of Forecasting 16(4). [2] Diebold &amp; Mariano (1995), Journal of Business &amp; Economic Statistics 13(3), with Harvey–Leybourne–Newbold small-sample correction and Newey–West HAC variance at lag h−1.</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0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Results against the thresholds we set in Round 1, before any modelling — reported</a:t>
            </a:r>
          </a:p>
          <a:p>
            <a:pPr algn="l">
              <a:lnSpc>
                <a:spcPct val="112000"/>
              </a:lnSpc>
              <a:defRPr sz="1700" b="1" i="0">
                <a:solidFill>
                  <a:srgbClr val="16181D"/>
                </a:solidFill>
                <a:latin typeface="Poppins"/>
              </a:defRPr>
            </a:pPr>
            <a:r>
              <a:t>unchanged, including the gate we missed</a:t>
            </a:r>
          </a:p>
        </p:txBody>
      </p:sp>
      <p:sp>
        <p:nvSpPr>
          <p:cNvPr id="14" name="TextBox 13"/>
          <p:cNvSpPr txBox="1"/>
          <p:nvPr/>
        </p:nvSpPr>
        <p:spPr>
          <a:xfrm>
            <a:off x="502920" y="1755648"/>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 and PVC resin at the decision horizon and either side of it</a:t>
            </a:r>
          </a:p>
        </p:txBody>
      </p:sp>
      <p:graphicFrame>
        <p:nvGraphicFramePr>
          <p:cNvPr id="15" name="Table 14"/>
          <p:cNvGraphicFramePr>
            <a:graphicFrameLocks noGrp="1"/>
          </p:cNvGraphicFramePr>
          <p:nvPr/>
        </p:nvGraphicFramePr>
        <p:xfrm>
          <a:off x="502920" y="2029968"/>
          <a:ext cx="11201394" cy="1801362"/>
        </p:xfrm>
        <a:graphic>
          <a:graphicData uri="http://schemas.openxmlformats.org/drawingml/2006/table">
            <a:tbl>
              <a:tblPr>
                <a:tableStyleId>{5C22544A-7EE6-4342-B048-85BDC9FD1C3A}</a:tableStyleId>
              </a:tblPr>
              <a:tblGrid>
                <a:gridCol w="1069013"/>
                <a:gridCol w="883097"/>
                <a:gridCol w="883097"/>
                <a:gridCol w="836619"/>
                <a:gridCol w="790140"/>
                <a:gridCol w="836619"/>
                <a:gridCol w="929576"/>
                <a:gridCol w="929576"/>
                <a:gridCol w="883097"/>
                <a:gridCol w="836619"/>
                <a:gridCol w="836619"/>
                <a:gridCol w="1487322"/>
              </a:tblGrid>
              <a:tr h="237744">
                <a:tc>
                  <a:txBody>
                    <a:bodyPr/>
                    <a:lstStyle/>
                    <a:p>
                      <a:pPr algn="l">
                        <a:defRPr sz="660" b="1">
                          <a:solidFill>
                            <a:srgbClr val="FFFFFF"/>
                          </a:solidFill>
                          <a:latin typeface="Poppins"/>
                        </a:defRPr>
                      </a:pPr>
                      <a:r>
                        <a:t>Horizon</a:t>
                      </a:r>
                    </a:p>
                  </a:txBody>
                  <a:tcPr marL="54864" marR="54864" marT="18288" marB="18288" anchor="ctr">
                    <a:solidFill>
                      <a:srgbClr val="C8102E"/>
                    </a:solidFill>
                  </a:tcPr>
                </a:tc>
                <a:tc>
                  <a:txBody>
                    <a:bodyPr/>
                    <a:lstStyle/>
                    <a:p>
                      <a:pPr algn="r">
                        <a:defRPr sz="660" b="1">
                          <a:solidFill>
                            <a:srgbClr val="FFFFFF"/>
                          </a:solidFill>
                          <a:latin typeface="Poppins"/>
                        </a:defRPr>
                      </a:pPr>
                      <a:r>
                        <a:t>Al MAPE</a:t>
                      </a:r>
                    </a:p>
                  </a:txBody>
                  <a:tcPr marL="54864" marR="54864" marT="18288" marB="18288" anchor="ctr">
                    <a:solidFill>
                      <a:srgbClr val="C8102E"/>
                    </a:solidFill>
                  </a:tcPr>
                </a:tc>
                <a:tc>
                  <a:txBody>
                    <a:bodyPr/>
                    <a:lstStyle/>
                    <a:p>
                      <a:pPr algn="r">
                        <a:defRPr sz="660" b="1">
                          <a:solidFill>
                            <a:srgbClr val="FFFFFF"/>
                          </a:solidFill>
                          <a:latin typeface="Poppins"/>
                        </a:defRPr>
                      </a:pPr>
                      <a:r>
                        <a:t>Al naïve</a:t>
                      </a:r>
                    </a:p>
                  </a:txBody>
                  <a:tcPr marL="54864" marR="54864" marT="18288" marB="18288" anchor="ctr">
                    <a:solidFill>
                      <a:srgbClr val="C8102E"/>
                    </a:solidFill>
                  </a:tcPr>
                </a:tc>
                <a:tc>
                  <a:txBody>
                    <a:bodyPr/>
                    <a:lstStyle/>
                    <a:p>
                      <a:pPr algn="r">
                        <a:defRPr sz="660" b="1">
                          <a:solidFill>
                            <a:srgbClr val="FFFFFF"/>
                          </a:solidFill>
                          <a:latin typeface="Poppins"/>
                        </a:defRPr>
                      </a:pPr>
                      <a:r>
                        <a:t>Al skill</a:t>
                      </a:r>
                    </a:p>
                  </a:txBody>
                  <a:tcPr marL="54864" marR="54864" marT="18288" marB="18288" anchor="ctr">
                    <a:solidFill>
                      <a:srgbClr val="C8102E"/>
                    </a:solidFill>
                  </a:tcPr>
                </a:tc>
                <a:tc>
                  <a:txBody>
                    <a:bodyPr/>
                    <a:lstStyle/>
                    <a:p>
                      <a:pPr algn="r">
                        <a:defRPr sz="660" b="1">
                          <a:solidFill>
                            <a:srgbClr val="FFFFFF"/>
                          </a:solidFill>
                          <a:latin typeface="Poppins"/>
                        </a:defRPr>
                      </a:pPr>
                      <a:r>
                        <a:t>Al dir.</a:t>
                      </a:r>
                    </a:p>
                  </a:txBody>
                  <a:tcPr marL="54864" marR="54864" marT="18288" marB="18288" anchor="ctr">
                    <a:solidFill>
                      <a:srgbClr val="C8102E"/>
                    </a:solidFill>
                  </a:tcPr>
                </a:tc>
                <a:tc>
                  <a:txBody>
                    <a:bodyPr/>
                    <a:lstStyle/>
                    <a:p>
                      <a:pPr algn="r">
                        <a:defRPr sz="660" b="1">
                          <a:solidFill>
                            <a:srgbClr val="FFFFFF"/>
                          </a:solidFill>
                          <a:latin typeface="Poppins"/>
                        </a:defRPr>
                      </a:pPr>
                      <a:r>
                        <a:t>Al DM p</a:t>
                      </a:r>
                    </a:p>
                  </a:txBody>
                  <a:tcPr marL="54864" marR="54864" marT="18288" marB="18288" anchor="ctr">
                    <a:solidFill>
                      <a:srgbClr val="C8102E"/>
                    </a:solidFill>
                  </a:tcPr>
                </a:tc>
                <a:tc>
                  <a:txBody>
                    <a:bodyPr/>
                    <a:lstStyle/>
                    <a:p>
                      <a:pPr algn="r">
                        <a:defRPr sz="660" b="1">
                          <a:solidFill>
                            <a:srgbClr val="FFFFFF"/>
                          </a:solidFill>
                          <a:latin typeface="Poppins"/>
                        </a:defRPr>
                      </a:pPr>
                      <a:r>
                        <a:t>PVC MAPE</a:t>
                      </a:r>
                    </a:p>
                  </a:txBody>
                  <a:tcPr marL="54864" marR="54864" marT="18288" marB="18288" anchor="ctr">
                    <a:solidFill>
                      <a:srgbClr val="C8102E"/>
                    </a:solidFill>
                  </a:tcPr>
                </a:tc>
                <a:tc>
                  <a:txBody>
                    <a:bodyPr/>
                    <a:lstStyle/>
                    <a:p>
                      <a:pPr algn="r">
                        <a:defRPr sz="660" b="1">
                          <a:solidFill>
                            <a:srgbClr val="FFFFFF"/>
                          </a:solidFill>
                          <a:latin typeface="Poppins"/>
                        </a:defRPr>
                      </a:pPr>
                      <a:r>
                        <a:t>PVC naïve</a:t>
                      </a:r>
                    </a:p>
                  </a:txBody>
                  <a:tcPr marL="54864" marR="54864" marT="18288" marB="18288" anchor="ctr">
                    <a:solidFill>
                      <a:srgbClr val="C8102E"/>
                    </a:solidFill>
                  </a:tcPr>
                </a:tc>
                <a:tc>
                  <a:txBody>
                    <a:bodyPr/>
                    <a:lstStyle/>
                    <a:p>
                      <a:pPr algn="r">
                        <a:defRPr sz="660" b="1">
                          <a:solidFill>
                            <a:srgbClr val="FFFFFF"/>
                          </a:solidFill>
                          <a:latin typeface="Poppins"/>
                        </a:defRPr>
                      </a:pPr>
                      <a:r>
                        <a:t>PVC skill</a:t>
                      </a:r>
                    </a:p>
                  </a:txBody>
                  <a:tcPr marL="54864" marR="54864" marT="18288" marB="18288" anchor="ctr">
                    <a:solidFill>
                      <a:srgbClr val="C8102E"/>
                    </a:solidFill>
                  </a:tcPr>
                </a:tc>
                <a:tc>
                  <a:txBody>
                    <a:bodyPr/>
                    <a:lstStyle/>
                    <a:p>
                      <a:pPr algn="r">
                        <a:defRPr sz="660" b="1">
                          <a:solidFill>
                            <a:srgbClr val="FFFFFF"/>
                          </a:solidFill>
                          <a:latin typeface="Poppins"/>
                        </a:defRPr>
                      </a:pPr>
                      <a:r>
                        <a:t>PVC dir.</a:t>
                      </a:r>
                    </a:p>
                  </a:txBody>
                  <a:tcPr marL="54864" marR="54864" marT="18288" marB="18288" anchor="ctr">
                    <a:solidFill>
                      <a:srgbClr val="C8102E"/>
                    </a:solidFill>
                  </a:tcPr>
                </a:tc>
                <a:tc>
                  <a:txBody>
                    <a:bodyPr/>
                    <a:lstStyle/>
                    <a:p>
                      <a:pPr algn="r">
                        <a:defRPr sz="660" b="1">
                          <a:solidFill>
                            <a:srgbClr val="FFFFFF"/>
                          </a:solidFill>
                          <a:latin typeface="Poppins"/>
                        </a:defRPr>
                      </a:pPr>
                      <a:r>
                        <a:t>PVC DM p</a:t>
                      </a:r>
                    </a:p>
                  </a:txBody>
                  <a:tcPr marL="54864" marR="54864" marT="18288" marB="18288" anchor="ctr">
                    <a:solidFill>
                      <a:srgbClr val="C8102E"/>
                    </a:solidFill>
                  </a:tcPr>
                </a:tc>
                <a:tc>
                  <a:txBody>
                    <a:bodyPr/>
                    <a:lstStyle/>
                    <a:p>
                      <a:pPr algn="r">
                        <a:defRPr sz="660" b="1">
                          <a:solidFill>
                            <a:srgbClr val="FFFFFF"/>
                          </a:solidFill>
                          <a:latin typeface="Poppins"/>
                        </a:defRPr>
                      </a:pPr>
                      <a:r>
                        <a:t>Gate  ·  Al / PVC</a:t>
                      </a:r>
                    </a:p>
                  </a:txBody>
                  <a:tcPr marL="54864" marR="54864" marT="18288" marB="18288" anchor="ctr">
                    <a:solidFill>
                      <a:srgbClr val="C8102E"/>
                    </a:solidFill>
                  </a:tcPr>
                </a:tc>
              </a:tr>
              <a:tr h="260603">
                <a:tc>
                  <a:txBody>
                    <a:bodyPr/>
                    <a:lstStyle/>
                    <a:p>
                      <a:pPr algn="l">
                        <a:defRPr sz="740" b="0">
                          <a:solidFill>
                            <a:srgbClr val="4A4D55"/>
                          </a:solidFill>
                          <a:latin typeface="Poppins"/>
                        </a:defRPr>
                      </a:pPr>
                      <a:r>
                        <a:t>1 month</a:t>
                      </a:r>
                    </a:p>
                  </a:txBody>
                  <a:tcPr marL="54864" marR="54864" marT="13716" marB="13716" anchor="ctr">
                    <a:solidFill>
                      <a:srgbClr val="FFFFFF"/>
                    </a:solidFill>
                  </a:tcPr>
                </a:tc>
                <a:tc>
                  <a:txBody>
                    <a:bodyPr/>
                    <a:lstStyle/>
                    <a:p>
                      <a:pPr algn="r">
                        <a:defRPr sz="740" b="0">
                          <a:solidFill>
                            <a:srgbClr val="4A4D55"/>
                          </a:solidFill>
                          <a:latin typeface="Poppins"/>
                        </a:defRPr>
                      </a:pPr>
                      <a:r>
                        <a:t>4.00%</a:t>
                      </a:r>
                    </a:p>
                  </a:txBody>
                  <a:tcPr marL="54864" marR="54864" marT="13716" marB="13716" anchor="ctr">
                    <a:solidFill>
                      <a:srgbClr val="FFFFFF"/>
                    </a:solidFill>
                  </a:tcPr>
                </a:tc>
                <a:tc>
                  <a:txBody>
                    <a:bodyPr/>
                    <a:lstStyle/>
                    <a:p>
                      <a:pPr algn="r">
                        <a:defRPr sz="740" b="0">
                          <a:solidFill>
                            <a:srgbClr val="4A4D55"/>
                          </a:solidFill>
                          <a:latin typeface="Poppins"/>
                        </a:defRPr>
                      </a:pPr>
                      <a:r>
                        <a:t>3.89%</a:t>
                      </a:r>
                    </a:p>
                  </a:txBody>
                  <a:tcPr marL="54864" marR="54864" marT="13716" marB="13716" anchor="ctr">
                    <a:solidFill>
                      <a:srgbClr val="FFFFFF"/>
                    </a:solidFill>
                  </a:tcPr>
                </a:tc>
                <a:tc>
                  <a:txBody>
                    <a:bodyPr/>
                    <a:lstStyle/>
                    <a:p>
                      <a:pPr algn="r">
                        <a:defRPr sz="740" b="0">
                          <a:solidFill>
                            <a:srgbClr val="C8102E"/>
                          </a:solidFill>
                          <a:latin typeface="Poppins"/>
                        </a:defRPr>
                      </a:pPr>
                      <a:r>
                        <a:t>-2.9%</a:t>
                      </a:r>
                    </a:p>
                  </a:txBody>
                  <a:tcPr marL="54864" marR="54864" marT="13716" marB="13716" anchor="ctr">
                    <a:solidFill>
                      <a:srgbClr val="FFFFFF"/>
                    </a:solidFill>
                  </a:tcPr>
                </a:tc>
                <a:tc>
                  <a:txBody>
                    <a:bodyPr/>
                    <a:lstStyle/>
                    <a:p>
                      <a:pPr algn="r">
                        <a:defRPr sz="740" b="0">
                          <a:solidFill>
                            <a:srgbClr val="4A4D55"/>
                          </a:solidFill>
                          <a:latin typeface="Poppins"/>
                        </a:defRPr>
                      </a:pPr>
                      <a:r>
                        <a:t>40.9%</a:t>
                      </a:r>
                    </a:p>
                  </a:txBody>
                  <a:tcPr marL="54864" marR="54864" marT="13716" marB="13716" anchor="ctr">
                    <a:solidFill>
                      <a:srgbClr val="FFFFFF"/>
                    </a:solidFill>
                  </a:tcPr>
                </a:tc>
                <a:tc>
                  <a:txBody>
                    <a:bodyPr/>
                    <a:lstStyle/>
                    <a:p>
                      <a:pPr algn="r">
                        <a:defRPr sz="740" b="0">
                          <a:solidFill>
                            <a:srgbClr val="4A4D55"/>
                          </a:solidFill>
                          <a:latin typeface="Poppins"/>
                        </a:defRPr>
                      </a:pPr>
                      <a:r>
                        <a:t>0.2505</a:t>
                      </a:r>
                    </a:p>
                  </a:txBody>
                  <a:tcPr marL="54864" marR="54864" marT="13716" marB="13716" anchor="ctr">
                    <a:solidFill>
                      <a:srgbClr val="FFFFFF"/>
                    </a:solidFill>
                  </a:tcPr>
                </a:tc>
                <a:tc>
                  <a:txBody>
                    <a:bodyPr/>
                    <a:lstStyle/>
                    <a:p>
                      <a:pPr algn="r">
                        <a:defRPr sz="740" b="0">
                          <a:solidFill>
                            <a:srgbClr val="4A4D55"/>
                          </a:solidFill>
                          <a:latin typeface="Poppins"/>
                        </a:defRPr>
                      </a:pPr>
                      <a:r>
                        <a:t>6.05%</a:t>
                      </a:r>
                    </a:p>
                  </a:txBody>
                  <a:tcPr marL="54864" marR="54864" marT="13716" marB="13716" anchor="ctr">
                    <a:solidFill>
                      <a:srgbClr val="FFFFFF"/>
                    </a:solidFill>
                  </a:tcPr>
                </a:tc>
                <a:tc>
                  <a:txBody>
                    <a:bodyPr/>
                    <a:lstStyle/>
                    <a:p>
                      <a:pPr algn="r">
                        <a:defRPr sz="740" b="0">
                          <a:solidFill>
                            <a:srgbClr val="4A4D55"/>
                          </a:solidFill>
                          <a:latin typeface="Poppins"/>
                        </a:defRPr>
                      </a:pPr>
                      <a:r>
                        <a:t>6.05%</a:t>
                      </a:r>
                    </a:p>
                  </a:txBody>
                  <a:tcPr marL="54864" marR="54864" marT="13716" marB="13716" anchor="ctr">
                    <a:solidFill>
                      <a:srgbClr val="FFFFFF"/>
                    </a:solidFill>
                  </a:tcPr>
                </a:tc>
                <a:tc>
                  <a:txBody>
                    <a:bodyPr/>
                    <a:lstStyle/>
                    <a:p>
                      <a:pPr algn="r">
                        <a:defRPr sz="740" b="0">
                          <a:solidFill>
                            <a:srgbClr val="C8102E"/>
                          </a:solidFill>
                          <a:latin typeface="Poppins"/>
                        </a:defRPr>
                      </a:pPr>
                      <a:r>
                        <a:t>0.0%</a:t>
                      </a:r>
                    </a:p>
                  </a:txBody>
                  <a:tcPr marL="54864" marR="54864" marT="13716" marB="13716" anchor="ctr">
                    <a:solidFill>
                      <a:srgbClr val="FFFFFF"/>
                    </a:solidFill>
                  </a:tcPr>
                </a:tc>
                <a:tc>
                  <a:txBody>
                    <a:bodyPr/>
                    <a:lstStyle/>
                    <a:p>
                      <a:pPr algn="r">
                        <a:defRPr sz="740" b="0">
                          <a:solidFill>
                            <a:srgbClr val="4A4D55"/>
                          </a:solidFill>
                          <a:latin typeface="Poppins"/>
                        </a:defRPr>
                      </a:pPr>
                      <a:r>
                        <a:t>16.7%</a:t>
                      </a:r>
                    </a:p>
                  </a:txBody>
                  <a:tcPr marL="54864" marR="54864" marT="13716" marB="13716" anchor="ctr">
                    <a:solidFill>
                      <a:srgbClr val="FFFFFF"/>
                    </a:solidFill>
                  </a:tcPr>
                </a:tc>
                <a:tc>
                  <a:txBody>
                    <a:bodyPr/>
                    <a:lstStyle/>
                    <a:p>
                      <a:pPr algn="r">
                        <a:defRPr sz="740" b="0">
                          <a:solidFill>
                            <a:srgbClr val="4A4D55"/>
                          </a:solidFill>
                          <a:latin typeface="Poppins"/>
                        </a:defRPr>
                      </a:pPr>
                      <a:r>
                        <a:t>0.5000</a:t>
                      </a:r>
                    </a:p>
                  </a:txBody>
                  <a:tcPr marL="54864" marR="54864" marT="13716" marB="13716" anchor="ctr">
                    <a:solidFill>
                      <a:srgbClr val="FFFFFF"/>
                    </a:solidFill>
                  </a:tcPr>
                </a:tc>
                <a:tc>
                  <a:txBody>
                    <a:bodyPr/>
                    <a:lstStyle/>
                    <a:p>
                      <a:pPr algn="r">
                        <a:defRPr sz="740" b="0">
                          <a:solidFill>
                            <a:srgbClr val="C8102E"/>
                          </a:solidFill>
                          <a:latin typeface="Poppins"/>
                        </a:defRPr>
                      </a:pPr>
                      <a:r>
                        <a:t>≥10%    ✗ / ✗</a:t>
                      </a:r>
                    </a:p>
                  </a:txBody>
                  <a:tcPr marL="54864" marR="54864" marT="13716" marB="13716" anchor="ctr">
                    <a:solidFill>
                      <a:srgbClr val="FFFFFF"/>
                    </a:solidFill>
                  </a:tcPr>
                </a:tc>
              </a:tr>
              <a:tr h="260603">
                <a:tc>
                  <a:txBody>
                    <a:bodyPr/>
                    <a:lstStyle/>
                    <a:p>
                      <a:pPr algn="l">
                        <a:defRPr sz="740" b="0">
                          <a:solidFill>
                            <a:srgbClr val="4A4D55"/>
                          </a:solidFill>
                          <a:latin typeface="Poppins"/>
                        </a:defRPr>
                      </a:pPr>
                      <a:r>
                        <a:t>2 months</a:t>
                      </a:r>
                    </a:p>
                  </a:txBody>
                  <a:tcPr marL="54864" marR="54864" marT="13716" marB="13716" anchor="ctr">
                    <a:solidFill>
                      <a:srgbClr val="FFFFFF"/>
                    </a:solidFill>
                  </a:tcPr>
                </a:tc>
                <a:tc>
                  <a:txBody>
                    <a:bodyPr/>
                    <a:lstStyle/>
                    <a:p>
                      <a:pPr algn="r">
                        <a:defRPr sz="740" b="0">
                          <a:solidFill>
                            <a:srgbClr val="4A4D55"/>
                          </a:solidFill>
                          <a:latin typeface="Poppins"/>
                        </a:defRPr>
                      </a:pPr>
                      <a:r>
                        <a:t>6.40%</a:t>
                      </a:r>
                    </a:p>
                  </a:txBody>
                  <a:tcPr marL="54864" marR="54864" marT="13716" marB="13716" anchor="ctr">
                    <a:solidFill>
                      <a:srgbClr val="FFFFFF"/>
                    </a:solidFill>
                  </a:tcPr>
                </a:tc>
                <a:tc>
                  <a:txBody>
                    <a:bodyPr/>
                    <a:lstStyle/>
                    <a:p>
                      <a:pPr algn="r">
                        <a:defRPr sz="740" b="0">
                          <a:solidFill>
                            <a:srgbClr val="4A4D55"/>
                          </a:solidFill>
                          <a:latin typeface="Poppins"/>
                        </a:defRPr>
                      </a:pPr>
                      <a:r>
                        <a:t>6.59%</a:t>
                      </a:r>
                    </a:p>
                  </a:txBody>
                  <a:tcPr marL="54864" marR="54864" marT="13716" marB="13716" anchor="ctr">
                    <a:solidFill>
                      <a:srgbClr val="FFFFFF"/>
                    </a:solidFill>
                  </a:tcPr>
                </a:tc>
                <a:tc>
                  <a:txBody>
                    <a:bodyPr/>
                    <a:lstStyle/>
                    <a:p>
                      <a:pPr algn="r">
                        <a:defRPr sz="740" b="0">
                          <a:solidFill>
                            <a:srgbClr val="C8102E"/>
                          </a:solidFill>
                          <a:latin typeface="Poppins"/>
                        </a:defRPr>
                      </a:pPr>
                      <a:r>
                        <a:t>3.0%</a:t>
                      </a:r>
                    </a:p>
                  </a:txBody>
                  <a:tcPr marL="54864" marR="54864" marT="13716" marB="13716" anchor="ctr">
                    <a:solidFill>
                      <a:srgbClr val="FFFFFF"/>
                    </a:solidFill>
                  </a:tcPr>
                </a:tc>
                <a:tc>
                  <a:txBody>
                    <a:bodyPr/>
                    <a:lstStyle/>
                    <a:p>
                      <a:pPr algn="r">
                        <a:defRPr sz="740" b="0">
                          <a:solidFill>
                            <a:srgbClr val="4A4D55"/>
                          </a:solidFill>
                          <a:latin typeface="Poppins"/>
                        </a:defRPr>
                      </a:pPr>
                      <a:r>
                        <a:t>62.1%</a:t>
                      </a:r>
                    </a:p>
                  </a:txBody>
                  <a:tcPr marL="54864" marR="54864" marT="13716" marB="13716" anchor="ctr">
                    <a:solidFill>
                      <a:srgbClr val="FFFFFF"/>
                    </a:solidFill>
                  </a:tcPr>
                </a:tc>
                <a:tc>
                  <a:txBody>
                    <a:bodyPr/>
                    <a:lstStyle/>
                    <a:p>
                      <a:pPr algn="r">
                        <a:defRPr sz="740" b="0">
                          <a:solidFill>
                            <a:srgbClr val="4A4D55"/>
                          </a:solidFill>
                          <a:latin typeface="Poppins"/>
                        </a:defRPr>
                      </a:pPr>
                      <a:r>
                        <a:t>0.2649</a:t>
                      </a:r>
                    </a:p>
                  </a:txBody>
                  <a:tcPr marL="54864" marR="54864" marT="13716" marB="13716" anchor="ctr">
                    <a:solidFill>
                      <a:srgbClr val="FFFFFF"/>
                    </a:solidFill>
                  </a:tcPr>
                </a:tc>
                <a:tc>
                  <a:txBody>
                    <a:bodyPr/>
                    <a:lstStyle/>
                    <a:p>
                      <a:pPr algn="r">
                        <a:defRPr sz="740" b="0">
                          <a:solidFill>
                            <a:srgbClr val="4A4D55"/>
                          </a:solidFill>
                          <a:latin typeface="Poppins"/>
                        </a:defRPr>
                      </a:pPr>
                      <a:r>
                        <a:t>11.39%</a:t>
                      </a:r>
                    </a:p>
                  </a:txBody>
                  <a:tcPr marL="54864" marR="54864" marT="13716" marB="13716" anchor="ctr">
                    <a:solidFill>
                      <a:srgbClr val="FFFFFF"/>
                    </a:solidFill>
                  </a:tcPr>
                </a:tc>
                <a:tc>
                  <a:txBody>
                    <a:bodyPr/>
                    <a:lstStyle/>
                    <a:p>
                      <a:pPr algn="r">
                        <a:defRPr sz="740" b="0">
                          <a:solidFill>
                            <a:srgbClr val="4A4D55"/>
                          </a:solidFill>
                          <a:latin typeface="Poppins"/>
                        </a:defRPr>
                      </a:pPr>
                      <a:r>
                        <a:t>10.01%</a:t>
                      </a:r>
                    </a:p>
                  </a:txBody>
                  <a:tcPr marL="54864" marR="54864" marT="13716" marB="13716" anchor="ctr">
                    <a:solidFill>
                      <a:srgbClr val="FFFFFF"/>
                    </a:solidFill>
                  </a:tcPr>
                </a:tc>
                <a:tc>
                  <a:txBody>
                    <a:bodyPr/>
                    <a:lstStyle/>
                    <a:p>
                      <a:pPr algn="r">
                        <a:defRPr sz="740" b="0">
                          <a:solidFill>
                            <a:srgbClr val="C8102E"/>
                          </a:solidFill>
                          <a:latin typeface="Poppins"/>
                        </a:defRPr>
                      </a:pPr>
                      <a:r>
                        <a:t>-13.8%</a:t>
                      </a:r>
                    </a:p>
                  </a:txBody>
                  <a:tcPr marL="54864" marR="54864" marT="13716" marB="13716" anchor="ctr">
                    <a:solidFill>
                      <a:srgbClr val="FFFFFF"/>
                    </a:solidFill>
                  </a:tcPr>
                </a:tc>
                <a:tc>
                  <a:txBody>
                    <a:bodyPr/>
                    <a:lstStyle/>
                    <a:p>
                      <a:pPr algn="r">
                        <a:defRPr sz="740" b="0">
                          <a:solidFill>
                            <a:srgbClr val="4A4D55"/>
                          </a:solidFill>
                          <a:latin typeface="Poppins"/>
                        </a:defRPr>
                      </a:pPr>
                      <a:r>
                        <a:t>30.3%</a:t>
                      </a:r>
                    </a:p>
                  </a:txBody>
                  <a:tcPr marL="54864" marR="54864" marT="13716" marB="13716" anchor="ctr">
                    <a:solidFill>
                      <a:srgbClr val="FFFFFF"/>
                    </a:solidFill>
                  </a:tcPr>
                </a:tc>
                <a:tc>
                  <a:txBody>
                    <a:bodyPr/>
                    <a:lstStyle/>
                    <a:p>
                      <a:pPr algn="r">
                        <a:defRPr sz="740" b="0">
                          <a:solidFill>
                            <a:srgbClr val="4A4D55"/>
                          </a:solidFill>
                          <a:latin typeface="Poppins"/>
                        </a:defRPr>
                      </a:pPr>
                      <a:r>
                        <a:t>0.1015</a:t>
                      </a:r>
                    </a:p>
                  </a:txBody>
                  <a:tcPr marL="54864" marR="54864" marT="13716" marB="13716" anchor="ctr">
                    <a:solidFill>
                      <a:srgbClr val="FFFFFF"/>
                    </a:solidFill>
                  </a:tcPr>
                </a:tc>
                <a:tc>
                  <a:txBody>
                    <a:bodyPr/>
                    <a:lstStyle/>
                    <a:p>
                      <a:pPr algn="r">
                        <a:defRPr sz="740" b="0">
                          <a:solidFill>
                            <a:srgbClr val="C8102E"/>
                          </a:solidFill>
                          <a:latin typeface="Poppins"/>
                        </a:defRPr>
                      </a:pPr>
                      <a:r>
                        <a:t>≥12%    ✗ / ✗</a:t>
                      </a:r>
                    </a:p>
                  </a:txBody>
                  <a:tcPr marL="54864" marR="54864" marT="13716" marB="13716" anchor="ctr">
                    <a:solidFill>
                      <a:srgbClr val="FFFFFF"/>
                    </a:solidFill>
                  </a:tcPr>
                </a:tc>
              </a:tr>
              <a:tr h="260603">
                <a:tc>
                  <a:txBody>
                    <a:bodyPr/>
                    <a:lstStyle/>
                    <a:p>
                      <a:pPr algn="l">
                        <a:defRPr sz="740" b="1">
                          <a:solidFill>
                            <a:srgbClr val="4A4D55"/>
                          </a:solidFill>
                          <a:latin typeface="Poppins"/>
                        </a:defRPr>
                      </a:pPr>
                      <a:r>
                        <a:t>3 months</a:t>
                      </a:r>
                    </a:p>
                  </a:txBody>
                  <a:tcPr marL="54864" marR="54864" marT="13716" marB="13716" anchor="ctr">
                    <a:solidFill>
                      <a:srgbClr val="FDF2F4"/>
                    </a:solidFill>
                  </a:tcPr>
                </a:tc>
                <a:tc>
                  <a:txBody>
                    <a:bodyPr/>
                    <a:lstStyle/>
                    <a:p>
                      <a:pPr algn="r">
                        <a:defRPr sz="740" b="1">
                          <a:solidFill>
                            <a:srgbClr val="4A4D55"/>
                          </a:solidFill>
                          <a:latin typeface="Poppins"/>
                        </a:defRPr>
                      </a:pPr>
                      <a:r>
                        <a:t>7.73%</a:t>
                      </a:r>
                    </a:p>
                  </a:txBody>
                  <a:tcPr marL="54864" marR="54864" marT="13716" marB="13716" anchor="ctr">
                    <a:solidFill>
                      <a:srgbClr val="FDF2F4"/>
                    </a:solidFill>
                  </a:tcPr>
                </a:tc>
                <a:tc>
                  <a:txBody>
                    <a:bodyPr/>
                    <a:lstStyle/>
                    <a:p>
                      <a:pPr algn="r">
                        <a:defRPr sz="740" b="1">
                          <a:solidFill>
                            <a:srgbClr val="4A4D55"/>
                          </a:solidFill>
                          <a:latin typeface="Poppins"/>
                        </a:defRPr>
                      </a:pPr>
                      <a:r>
                        <a:t>8.53%</a:t>
                      </a:r>
                    </a:p>
                  </a:txBody>
                  <a:tcPr marL="54864" marR="54864" marT="13716" marB="13716" anchor="ctr">
                    <a:solidFill>
                      <a:srgbClr val="FDF2F4"/>
                    </a:solidFill>
                  </a:tcPr>
                </a:tc>
                <a:tc>
                  <a:txBody>
                    <a:bodyPr/>
                    <a:lstStyle/>
                    <a:p>
                      <a:pPr algn="r">
                        <a:defRPr sz="740" b="1">
                          <a:solidFill>
                            <a:srgbClr val="C8102E"/>
                          </a:solidFill>
                          <a:latin typeface="Poppins"/>
                        </a:defRPr>
                      </a:pPr>
                      <a:r>
                        <a:t>9.4%</a:t>
                      </a:r>
                    </a:p>
                  </a:txBody>
                  <a:tcPr marL="54864" marR="54864" marT="13716" marB="13716" anchor="ctr">
                    <a:solidFill>
                      <a:srgbClr val="FDF2F4"/>
                    </a:solidFill>
                  </a:tcPr>
                </a:tc>
                <a:tc>
                  <a:txBody>
                    <a:bodyPr/>
                    <a:lstStyle/>
                    <a:p>
                      <a:pPr algn="r">
                        <a:defRPr sz="740" b="1">
                          <a:solidFill>
                            <a:srgbClr val="4A4D55"/>
                          </a:solidFill>
                          <a:latin typeface="Poppins"/>
                        </a:defRPr>
                      </a:pPr>
                      <a:r>
                        <a:t>71.2%</a:t>
                      </a:r>
                    </a:p>
                  </a:txBody>
                  <a:tcPr marL="54864" marR="54864" marT="13716" marB="13716" anchor="ctr">
                    <a:solidFill>
                      <a:srgbClr val="FDF2F4"/>
                    </a:solidFill>
                  </a:tcPr>
                </a:tc>
                <a:tc>
                  <a:txBody>
                    <a:bodyPr/>
                    <a:lstStyle/>
                    <a:p>
                      <a:pPr algn="r">
                        <a:defRPr sz="740" b="1">
                          <a:solidFill>
                            <a:srgbClr val="4A4D55"/>
                          </a:solidFill>
                          <a:latin typeface="Poppins"/>
                        </a:defRPr>
                      </a:pPr>
                      <a:r>
                        <a:t>0.0409</a:t>
                      </a:r>
                    </a:p>
                  </a:txBody>
                  <a:tcPr marL="54864" marR="54864" marT="13716" marB="13716" anchor="ctr">
                    <a:solidFill>
                      <a:srgbClr val="FDF2F4"/>
                    </a:solidFill>
                  </a:tcPr>
                </a:tc>
                <a:tc>
                  <a:txBody>
                    <a:bodyPr/>
                    <a:lstStyle/>
                    <a:p>
                      <a:pPr algn="r">
                        <a:defRPr sz="740" b="1">
                          <a:solidFill>
                            <a:srgbClr val="4A4D55"/>
                          </a:solidFill>
                          <a:latin typeface="Poppins"/>
                        </a:defRPr>
                      </a:pPr>
                      <a:r>
                        <a:t>10.69%</a:t>
                      </a:r>
                    </a:p>
                  </a:txBody>
                  <a:tcPr marL="54864" marR="54864" marT="13716" marB="13716" anchor="ctr">
                    <a:solidFill>
                      <a:srgbClr val="FDF2F4"/>
                    </a:solidFill>
                  </a:tcPr>
                </a:tc>
                <a:tc>
                  <a:txBody>
                    <a:bodyPr/>
                    <a:lstStyle/>
                    <a:p>
                      <a:pPr algn="r">
                        <a:defRPr sz="740" b="1">
                          <a:solidFill>
                            <a:srgbClr val="4A4D55"/>
                          </a:solidFill>
                          <a:latin typeface="Poppins"/>
                        </a:defRPr>
                      </a:pPr>
                      <a:r>
                        <a:t>12.65%</a:t>
                      </a:r>
                    </a:p>
                  </a:txBody>
                  <a:tcPr marL="54864" marR="54864" marT="13716" marB="13716" anchor="ctr">
                    <a:solidFill>
                      <a:srgbClr val="FDF2F4"/>
                    </a:solidFill>
                  </a:tcPr>
                </a:tc>
                <a:tc>
                  <a:txBody>
                    <a:bodyPr/>
                    <a:lstStyle/>
                    <a:p>
                      <a:pPr algn="r">
                        <a:defRPr sz="740" b="1">
                          <a:solidFill>
                            <a:srgbClr val="0F6B3F"/>
                          </a:solidFill>
                          <a:latin typeface="Poppins"/>
                        </a:defRPr>
                      </a:pPr>
                      <a:r>
                        <a:t>+15.5%</a:t>
                      </a:r>
                    </a:p>
                  </a:txBody>
                  <a:tcPr marL="54864" marR="54864" marT="13716" marB="13716" anchor="ctr">
                    <a:solidFill>
                      <a:srgbClr val="FDF2F4"/>
                    </a:solidFill>
                  </a:tcPr>
                </a:tc>
                <a:tc>
                  <a:txBody>
                    <a:bodyPr/>
                    <a:lstStyle/>
                    <a:p>
                      <a:pPr algn="r">
                        <a:defRPr sz="740" b="1">
                          <a:solidFill>
                            <a:srgbClr val="4A4D55"/>
                          </a:solidFill>
                          <a:latin typeface="Poppins"/>
                        </a:defRPr>
                      </a:pPr>
                      <a:r>
                        <a:t>63.6%</a:t>
                      </a:r>
                    </a:p>
                  </a:txBody>
                  <a:tcPr marL="54864" marR="54864" marT="13716" marB="13716" anchor="ctr">
                    <a:solidFill>
                      <a:srgbClr val="FDF2F4"/>
                    </a:solidFill>
                  </a:tcPr>
                </a:tc>
                <a:tc>
                  <a:txBody>
                    <a:bodyPr/>
                    <a:lstStyle/>
                    <a:p>
                      <a:pPr algn="r">
                        <a:defRPr sz="740" b="1">
                          <a:solidFill>
                            <a:srgbClr val="4A4D55"/>
                          </a:solidFill>
                          <a:latin typeface="Poppins"/>
                        </a:defRPr>
                      </a:pPr>
                      <a:r>
                        <a:t>0.0894</a:t>
                      </a:r>
                    </a:p>
                  </a:txBody>
                  <a:tcPr marL="54864" marR="54864" marT="13716" marB="13716" anchor="ctr">
                    <a:solidFill>
                      <a:srgbClr val="FDF2F4"/>
                    </a:solidFill>
                  </a:tcPr>
                </a:tc>
                <a:tc>
                  <a:txBody>
                    <a:bodyPr/>
                    <a:lstStyle/>
                    <a:p>
                      <a:pPr algn="r">
                        <a:defRPr sz="740" b="1">
                          <a:solidFill>
                            <a:srgbClr val="C8102E"/>
                          </a:solidFill>
                          <a:latin typeface="Poppins"/>
                        </a:defRPr>
                      </a:pPr>
                      <a:r>
                        <a:t>≥15%    ✗ / ✓</a:t>
                      </a:r>
                    </a:p>
                  </a:txBody>
                  <a:tcPr marL="54864" marR="54864" marT="13716" marB="13716" anchor="ctr">
                    <a:solidFill>
                      <a:srgbClr val="FDF2F4"/>
                    </a:solidFill>
                  </a:tcPr>
                </a:tc>
              </a:tr>
              <a:tr h="260603">
                <a:tc>
                  <a:txBody>
                    <a:bodyPr/>
                    <a:lstStyle/>
                    <a:p>
                      <a:pPr algn="l">
                        <a:defRPr sz="740" b="0">
                          <a:solidFill>
                            <a:srgbClr val="4A4D55"/>
                          </a:solidFill>
                          <a:latin typeface="Poppins"/>
                        </a:defRPr>
                      </a:pPr>
                      <a:r>
                        <a:t>4 months</a:t>
                      </a:r>
                    </a:p>
                  </a:txBody>
                  <a:tcPr marL="54864" marR="54864" marT="13716" marB="13716" anchor="ctr">
                    <a:solidFill>
                      <a:srgbClr val="FFFFFF"/>
                    </a:solidFill>
                  </a:tcPr>
                </a:tc>
                <a:tc>
                  <a:txBody>
                    <a:bodyPr/>
                    <a:lstStyle/>
                    <a:p>
                      <a:pPr algn="r">
                        <a:defRPr sz="740" b="0">
                          <a:solidFill>
                            <a:srgbClr val="4A4D55"/>
                          </a:solidFill>
                          <a:latin typeface="Poppins"/>
                        </a:defRPr>
                      </a:pPr>
                      <a:r>
                        <a:t>8.63%</a:t>
                      </a:r>
                    </a:p>
                  </a:txBody>
                  <a:tcPr marL="54864" marR="54864" marT="13716" marB="13716" anchor="ctr">
                    <a:solidFill>
                      <a:srgbClr val="FFFFFF"/>
                    </a:solidFill>
                  </a:tcPr>
                </a:tc>
                <a:tc>
                  <a:txBody>
                    <a:bodyPr/>
                    <a:lstStyle/>
                    <a:p>
                      <a:pPr algn="r">
                        <a:defRPr sz="740" b="0">
                          <a:solidFill>
                            <a:srgbClr val="4A4D55"/>
                          </a:solidFill>
                          <a:latin typeface="Poppins"/>
                        </a:defRPr>
                      </a:pPr>
                      <a:r>
                        <a:t>9.93%</a:t>
                      </a:r>
                    </a:p>
                  </a:txBody>
                  <a:tcPr marL="54864" marR="54864" marT="13716" marB="13716" anchor="ctr">
                    <a:solidFill>
                      <a:srgbClr val="FFFFFF"/>
                    </a:solidFill>
                  </a:tcPr>
                </a:tc>
                <a:tc>
                  <a:txBody>
                    <a:bodyPr/>
                    <a:lstStyle/>
                    <a:p>
                      <a:pPr algn="r">
                        <a:defRPr sz="740" b="0">
                          <a:solidFill>
                            <a:srgbClr val="0F6B3F"/>
                          </a:solidFill>
                          <a:latin typeface="Poppins"/>
                        </a:defRPr>
                      </a:pPr>
                      <a:r>
                        <a:t>+13.2%</a:t>
                      </a:r>
                    </a:p>
                  </a:txBody>
                  <a:tcPr marL="54864" marR="54864" marT="13716" marB="13716" anchor="ctr">
                    <a:solidFill>
                      <a:srgbClr val="FFFFFF"/>
                    </a:solidFill>
                  </a:tcPr>
                </a:tc>
                <a:tc>
                  <a:txBody>
                    <a:bodyPr/>
                    <a:lstStyle/>
                    <a:p>
                      <a:pPr algn="r">
                        <a:defRPr sz="740" b="0">
                          <a:solidFill>
                            <a:srgbClr val="4A4D55"/>
                          </a:solidFill>
                          <a:latin typeface="Poppins"/>
                        </a:defRPr>
                      </a:pPr>
                      <a:r>
                        <a:t>71.2%</a:t>
                      </a:r>
                    </a:p>
                  </a:txBody>
                  <a:tcPr marL="54864" marR="54864" marT="13716" marB="13716" anchor="ctr">
                    <a:solidFill>
                      <a:srgbClr val="FFFFFF"/>
                    </a:solidFill>
                  </a:tcPr>
                </a:tc>
                <a:tc>
                  <a:txBody>
                    <a:bodyPr/>
                    <a:lstStyle/>
                    <a:p>
                      <a:pPr algn="r">
                        <a:defRPr sz="740" b="0">
                          <a:solidFill>
                            <a:srgbClr val="4A4D55"/>
                          </a:solidFill>
                          <a:latin typeface="Poppins"/>
                        </a:defRPr>
                      </a:pPr>
                      <a:r>
                        <a:t>0.0548</a:t>
                      </a:r>
                    </a:p>
                  </a:txBody>
                  <a:tcPr marL="54864" marR="54864" marT="13716" marB="13716" anchor="ctr">
                    <a:solidFill>
                      <a:srgbClr val="FFFFFF"/>
                    </a:solidFill>
                  </a:tcPr>
                </a:tc>
                <a:tc>
                  <a:txBody>
                    <a:bodyPr/>
                    <a:lstStyle/>
                    <a:p>
                      <a:pPr algn="r">
                        <a:defRPr sz="740" b="0">
                          <a:solidFill>
                            <a:srgbClr val="4A4D55"/>
                          </a:solidFill>
                          <a:latin typeface="Poppins"/>
                        </a:defRPr>
                      </a:pPr>
                      <a:r>
                        <a:t>9.68%</a:t>
                      </a:r>
                    </a:p>
                  </a:txBody>
                  <a:tcPr marL="54864" marR="54864" marT="13716" marB="13716" anchor="ctr">
                    <a:solidFill>
                      <a:srgbClr val="FFFFFF"/>
                    </a:solidFill>
                  </a:tcPr>
                </a:tc>
                <a:tc>
                  <a:txBody>
                    <a:bodyPr/>
                    <a:lstStyle/>
                    <a:p>
                      <a:pPr algn="r">
                        <a:defRPr sz="740" b="0">
                          <a:solidFill>
                            <a:srgbClr val="4A4D55"/>
                          </a:solidFill>
                          <a:latin typeface="Poppins"/>
                        </a:defRPr>
                      </a:pPr>
                      <a:r>
                        <a:t>12.34%</a:t>
                      </a:r>
                    </a:p>
                  </a:txBody>
                  <a:tcPr marL="54864" marR="54864" marT="13716" marB="13716" anchor="ctr">
                    <a:solidFill>
                      <a:srgbClr val="FFFFFF"/>
                    </a:solidFill>
                  </a:tcPr>
                </a:tc>
                <a:tc>
                  <a:txBody>
                    <a:bodyPr/>
                    <a:lstStyle/>
                    <a:p>
                      <a:pPr algn="r">
                        <a:defRPr sz="740" b="0">
                          <a:solidFill>
                            <a:srgbClr val="0F6B3F"/>
                          </a:solidFill>
                          <a:latin typeface="Poppins"/>
                        </a:defRPr>
                      </a:pPr>
                      <a:r>
                        <a:t>+21.6%</a:t>
                      </a:r>
                    </a:p>
                  </a:txBody>
                  <a:tcPr marL="54864" marR="54864" marT="13716" marB="13716" anchor="ctr">
                    <a:solidFill>
                      <a:srgbClr val="FFFFFF"/>
                    </a:solidFill>
                  </a:tcPr>
                </a:tc>
                <a:tc>
                  <a:txBody>
                    <a:bodyPr/>
                    <a:lstStyle/>
                    <a:p>
                      <a:pPr algn="r">
                        <a:defRPr sz="740" b="0">
                          <a:solidFill>
                            <a:srgbClr val="4A4D55"/>
                          </a:solidFill>
                          <a:latin typeface="Poppins"/>
                        </a:defRPr>
                      </a:pPr>
                      <a:r>
                        <a:t>69.7%</a:t>
                      </a:r>
                    </a:p>
                  </a:txBody>
                  <a:tcPr marL="54864" marR="54864" marT="13716" marB="13716" anchor="ctr">
                    <a:solidFill>
                      <a:srgbClr val="FFFFFF"/>
                    </a:solidFill>
                  </a:tcPr>
                </a:tc>
                <a:tc>
                  <a:txBody>
                    <a:bodyPr/>
                    <a:lstStyle/>
                    <a:p>
                      <a:pPr algn="r">
                        <a:defRPr sz="740" b="0">
                          <a:solidFill>
                            <a:srgbClr val="4A4D55"/>
                          </a:solidFill>
                          <a:latin typeface="Poppins"/>
                        </a:defRPr>
                      </a:pPr>
                      <a:r>
                        <a:t>0.0557</a:t>
                      </a:r>
                    </a:p>
                  </a:txBody>
                  <a:tcPr marL="54864" marR="54864" marT="13716" marB="13716" anchor="ctr">
                    <a:solidFill>
                      <a:srgbClr val="FFFFFF"/>
                    </a:solidFill>
                  </a:tcPr>
                </a:tc>
                <a:tc>
                  <a:txBody>
                    <a:bodyPr/>
                    <a:lstStyle/>
                    <a:p>
                      <a:pPr algn="r">
                        <a:defRPr sz="740" b="0">
                          <a:solidFill>
                            <a:srgbClr val="0F6B3F"/>
                          </a:solidFill>
                          <a:latin typeface="Poppins"/>
                        </a:defRPr>
                      </a:pPr>
                      <a:r>
                        <a:t>≥12%    ✓ / ✓</a:t>
                      </a:r>
                    </a:p>
                  </a:txBody>
                  <a:tcPr marL="54864" marR="54864" marT="13716" marB="13716" anchor="ctr">
                    <a:solidFill>
                      <a:srgbClr val="FFFFFF"/>
                    </a:solidFill>
                  </a:tcPr>
                </a:tc>
              </a:tr>
              <a:tr h="260603">
                <a:tc>
                  <a:txBody>
                    <a:bodyPr/>
                    <a:lstStyle/>
                    <a:p>
                      <a:pPr algn="l">
                        <a:defRPr sz="740" b="0">
                          <a:solidFill>
                            <a:srgbClr val="4A4D55"/>
                          </a:solidFill>
                          <a:latin typeface="Poppins"/>
                        </a:defRPr>
                      </a:pPr>
                      <a:r>
                        <a:t>5 months</a:t>
                      </a:r>
                    </a:p>
                  </a:txBody>
                  <a:tcPr marL="54864" marR="54864" marT="13716" marB="13716" anchor="ctr">
                    <a:solidFill>
                      <a:srgbClr val="FFFFFF"/>
                    </a:solidFill>
                  </a:tcPr>
                </a:tc>
                <a:tc>
                  <a:txBody>
                    <a:bodyPr/>
                    <a:lstStyle/>
                    <a:p>
                      <a:pPr algn="r">
                        <a:defRPr sz="740" b="0">
                          <a:solidFill>
                            <a:srgbClr val="4A4D55"/>
                          </a:solidFill>
                          <a:latin typeface="Poppins"/>
                        </a:defRPr>
                      </a:pPr>
                      <a:r>
                        <a:t>9.82%</a:t>
                      </a:r>
                    </a:p>
                  </a:txBody>
                  <a:tcPr marL="54864" marR="54864" marT="13716" marB="13716" anchor="ctr">
                    <a:solidFill>
                      <a:srgbClr val="FFFFFF"/>
                    </a:solidFill>
                  </a:tcPr>
                </a:tc>
                <a:tc>
                  <a:txBody>
                    <a:bodyPr/>
                    <a:lstStyle/>
                    <a:p>
                      <a:pPr algn="r">
                        <a:defRPr sz="740" b="0">
                          <a:solidFill>
                            <a:srgbClr val="4A4D55"/>
                          </a:solidFill>
                          <a:latin typeface="Poppins"/>
                        </a:defRPr>
                      </a:pPr>
                      <a:r>
                        <a:t>11.05%</a:t>
                      </a:r>
                    </a:p>
                  </a:txBody>
                  <a:tcPr marL="54864" marR="54864" marT="13716" marB="13716" anchor="ctr">
                    <a:solidFill>
                      <a:srgbClr val="FFFFFF"/>
                    </a:solidFill>
                  </a:tcPr>
                </a:tc>
                <a:tc>
                  <a:txBody>
                    <a:bodyPr/>
                    <a:lstStyle/>
                    <a:p>
                      <a:pPr algn="r">
                        <a:defRPr sz="740" b="0">
                          <a:solidFill>
                            <a:srgbClr val="0F6B3F"/>
                          </a:solidFill>
                          <a:latin typeface="Poppins"/>
                        </a:defRPr>
                      </a:pPr>
                      <a:r>
                        <a:t>+11.1%</a:t>
                      </a:r>
                    </a:p>
                  </a:txBody>
                  <a:tcPr marL="54864" marR="54864" marT="13716" marB="13716" anchor="ctr">
                    <a:solidFill>
                      <a:srgbClr val="FFFFFF"/>
                    </a:solidFill>
                  </a:tcPr>
                </a:tc>
                <a:tc>
                  <a:txBody>
                    <a:bodyPr/>
                    <a:lstStyle/>
                    <a:p>
                      <a:pPr algn="r">
                        <a:defRPr sz="740" b="0">
                          <a:solidFill>
                            <a:srgbClr val="4A4D55"/>
                          </a:solidFill>
                          <a:latin typeface="Poppins"/>
                        </a:defRPr>
                      </a:pPr>
                      <a:r>
                        <a:t>75.8%</a:t>
                      </a:r>
                    </a:p>
                  </a:txBody>
                  <a:tcPr marL="54864" marR="54864" marT="13716" marB="13716" anchor="ctr">
                    <a:solidFill>
                      <a:srgbClr val="FFFFFF"/>
                    </a:solidFill>
                  </a:tcPr>
                </a:tc>
                <a:tc>
                  <a:txBody>
                    <a:bodyPr/>
                    <a:lstStyle/>
                    <a:p>
                      <a:pPr algn="r">
                        <a:defRPr sz="740" b="0">
                          <a:solidFill>
                            <a:srgbClr val="4A4D55"/>
                          </a:solidFill>
                          <a:latin typeface="Poppins"/>
                        </a:defRPr>
                      </a:pPr>
                      <a:r>
                        <a:t>0.2104</a:t>
                      </a:r>
                    </a:p>
                  </a:txBody>
                  <a:tcPr marL="54864" marR="54864" marT="13716" marB="13716" anchor="ctr">
                    <a:solidFill>
                      <a:srgbClr val="FFFFFF"/>
                    </a:solidFill>
                  </a:tcPr>
                </a:tc>
                <a:tc>
                  <a:txBody>
                    <a:bodyPr/>
                    <a:lstStyle/>
                    <a:p>
                      <a:pPr algn="r">
                        <a:defRPr sz="740" b="0">
                          <a:solidFill>
                            <a:srgbClr val="4A4D55"/>
                          </a:solidFill>
                          <a:latin typeface="Poppins"/>
                        </a:defRPr>
                      </a:pPr>
                      <a:r>
                        <a:t>11.58%</a:t>
                      </a:r>
                    </a:p>
                  </a:txBody>
                  <a:tcPr marL="54864" marR="54864" marT="13716" marB="13716" anchor="ctr">
                    <a:solidFill>
                      <a:srgbClr val="FFFFFF"/>
                    </a:solidFill>
                  </a:tcPr>
                </a:tc>
                <a:tc>
                  <a:txBody>
                    <a:bodyPr/>
                    <a:lstStyle/>
                    <a:p>
                      <a:pPr algn="r">
                        <a:defRPr sz="740" b="0">
                          <a:solidFill>
                            <a:srgbClr val="4A4D55"/>
                          </a:solidFill>
                          <a:latin typeface="Poppins"/>
                        </a:defRPr>
                      </a:pPr>
                      <a:r>
                        <a:t>11.92%</a:t>
                      </a:r>
                    </a:p>
                  </a:txBody>
                  <a:tcPr marL="54864" marR="54864" marT="13716" marB="13716" anchor="ctr">
                    <a:solidFill>
                      <a:srgbClr val="FFFFFF"/>
                    </a:solidFill>
                  </a:tcPr>
                </a:tc>
                <a:tc>
                  <a:txBody>
                    <a:bodyPr/>
                    <a:lstStyle/>
                    <a:p>
                      <a:pPr algn="r">
                        <a:defRPr sz="740" b="0">
                          <a:solidFill>
                            <a:srgbClr val="C8102E"/>
                          </a:solidFill>
                          <a:latin typeface="Poppins"/>
                        </a:defRPr>
                      </a:pPr>
                      <a:r>
                        <a:t>2.8%</a:t>
                      </a:r>
                    </a:p>
                  </a:txBody>
                  <a:tcPr marL="54864" marR="54864" marT="13716" marB="13716" anchor="ctr">
                    <a:solidFill>
                      <a:srgbClr val="FFFFFF"/>
                    </a:solidFill>
                  </a:tcPr>
                </a:tc>
                <a:tc>
                  <a:txBody>
                    <a:bodyPr/>
                    <a:lstStyle/>
                    <a:p>
                      <a:pPr algn="r">
                        <a:defRPr sz="740" b="0">
                          <a:solidFill>
                            <a:srgbClr val="4A4D55"/>
                          </a:solidFill>
                          <a:latin typeface="Poppins"/>
                        </a:defRPr>
                      </a:pPr>
                      <a:r>
                        <a:t>54.5%</a:t>
                      </a:r>
                    </a:p>
                  </a:txBody>
                  <a:tcPr marL="54864" marR="54864" marT="13716" marB="13716" anchor="ctr">
                    <a:solidFill>
                      <a:srgbClr val="FFFFFF"/>
                    </a:solidFill>
                  </a:tcPr>
                </a:tc>
                <a:tc>
                  <a:txBody>
                    <a:bodyPr/>
                    <a:lstStyle/>
                    <a:p>
                      <a:pPr algn="r">
                        <a:defRPr sz="740" b="0">
                          <a:solidFill>
                            <a:srgbClr val="4A4D55"/>
                          </a:solidFill>
                          <a:latin typeface="Poppins"/>
                        </a:defRPr>
                      </a:pPr>
                      <a:r>
                        <a:t>0.4321</a:t>
                      </a:r>
                    </a:p>
                  </a:txBody>
                  <a:tcPr marL="54864" marR="54864" marT="13716" marB="13716" anchor="ctr">
                    <a:solidFill>
                      <a:srgbClr val="FFFFFF"/>
                    </a:solidFill>
                  </a:tcPr>
                </a:tc>
                <a:tc>
                  <a:txBody>
                    <a:bodyPr/>
                    <a:lstStyle/>
                    <a:p>
                      <a:pPr algn="r">
                        <a:defRPr sz="740" b="0">
                          <a:solidFill>
                            <a:srgbClr val="C8102E"/>
                          </a:solidFill>
                          <a:latin typeface="Poppins"/>
                        </a:defRPr>
                      </a:pPr>
                      <a:r>
                        <a:t>≥10%    ✓ / ✗</a:t>
                      </a:r>
                    </a:p>
                  </a:txBody>
                  <a:tcPr marL="54864" marR="54864" marT="13716" marB="13716" anchor="ctr">
                    <a:solidFill>
                      <a:srgbClr val="FFFFFF"/>
                    </a:solidFill>
                  </a:tcPr>
                </a:tc>
              </a:tr>
              <a:tr h="260603">
                <a:tc>
                  <a:txBody>
                    <a:bodyPr/>
                    <a:lstStyle/>
                    <a:p>
                      <a:pPr algn="l">
                        <a:defRPr sz="740" b="0">
                          <a:solidFill>
                            <a:srgbClr val="4A4D55"/>
                          </a:solidFill>
                          <a:latin typeface="Poppins"/>
                        </a:defRPr>
                      </a:pPr>
                      <a:r>
                        <a:t>6 months</a:t>
                      </a:r>
                    </a:p>
                  </a:txBody>
                  <a:tcPr marL="54864" marR="54864" marT="13716" marB="13716" anchor="ctr">
                    <a:solidFill>
                      <a:srgbClr val="FFFFFF"/>
                    </a:solidFill>
                  </a:tcPr>
                </a:tc>
                <a:tc>
                  <a:txBody>
                    <a:bodyPr/>
                    <a:lstStyle/>
                    <a:p>
                      <a:pPr algn="r">
                        <a:defRPr sz="740" b="0">
                          <a:solidFill>
                            <a:srgbClr val="4A4D55"/>
                          </a:solidFill>
                          <a:latin typeface="Poppins"/>
                        </a:defRPr>
                      </a:pPr>
                      <a:r>
                        <a:t>9.75%</a:t>
                      </a:r>
                    </a:p>
                  </a:txBody>
                  <a:tcPr marL="54864" marR="54864" marT="13716" marB="13716" anchor="ctr">
                    <a:solidFill>
                      <a:srgbClr val="FFFFFF"/>
                    </a:solidFill>
                  </a:tcPr>
                </a:tc>
                <a:tc>
                  <a:txBody>
                    <a:bodyPr/>
                    <a:lstStyle/>
                    <a:p>
                      <a:pPr algn="r">
                        <a:defRPr sz="740" b="0">
                          <a:solidFill>
                            <a:srgbClr val="4A4D55"/>
                          </a:solidFill>
                          <a:latin typeface="Poppins"/>
                        </a:defRPr>
                      </a:pPr>
                      <a:r>
                        <a:t>12.06%</a:t>
                      </a:r>
                    </a:p>
                  </a:txBody>
                  <a:tcPr marL="54864" marR="54864" marT="13716" marB="13716" anchor="ctr">
                    <a:solidFill>
                      <a:srgbClr val="FFFFFF"/>
                    </a:solidFill>
                  </a:tcPr>
                </a:tc>
                <a:tc>
                  <a:txBody>
                    <a:bodyPr/>
                    <a:lstStyle/>
                    <a:p>
                      <a:pPr algn="r">
                        <a:defRPr sz="740" b="0">
                          <a:solidFill>
                            <a:srgbClr val="0F6B3F"/>
                          </a:solidFill>
                          <a:latin typeface="Poppins"/>
                        </a:defRPr>
                      </a:pPr>
                      <a:r>
                        <a:t>+19.1%</a:t>
                      </a:r>
                    </a:p>
                  </a:txBody>
                  <a:tcPr marL="54864" marR="54864" marT="13716" marB="13716" anchor="ctr">
                    <a:solidFill>
                      <a:srgbClr val="FFFFFF"/>
                    </a:solidFill>
                  </a:tcPr>
                </a:tc>
                <a:tc>
                  <a:txBody>
                    <a:bodyPr/>
                    <a:lstStyle/>
                    <a:p>
                      <a:pPr algn="r">
                        <a:defRPr sz="740" b="0">
                          <a:solidFill>
                            <a:srgbClr val="4A4D55"/>
                          </a:solidFill>
                          <a:latin typeface="Poppins"/>
                        </a:defRPr>
                      </a:pPr>
                      <a:r>
                        <a:t>74.2%</a:t>
                      </a:r>
                    </a:p>
                  </a:txBody>
                  <a:tcPr marL="54864" marR="54864" marT="13716" marB="13716" anchor="ctr">
                    <a:solidFill>
                      <a:srgbClr val="FFFFFF"/>
                    </a:solidFill>
                  </a:tcPr>
                </a:tc>
                <a:tc>
                  <a:txBody>
                    <a:bodyPr/>
                    <a:lstStyle/>
                    <a:p>
                      <a:pPr algn="r">
                        <a:defRPr sz="740" b="0">
                          <a:solidFill>
                            <a:srgbClr val="4A4D55"/>
                          </a:solidFill>
                          <a:latin typeface="Poppins"/>
                        </a:defRPr>
                      </a:pPr>
                      <a:r>
                        <a:t>0.0904</a:t>
                      </a:r>
                    </a:p>
                  </a:txBody>
                  <a:tcPr marL="54864" marR="54864" marT="13716" marB="13716" anchor="ctr">
                    <a:solidFill>
                      <a:srgbClr val="FFFFFF"/>
                    </a:solidFill>
                  </a:tcPr>
                </a:tc>
                <a:tc>
                  <a:txBody>
                    <a:bodyPr/>
                    <a:lstStyle/>
                    <a:p>
                      <a:pPr algn="r">
                        <a:defRPr sz="740" b="0">
                          <a:solidFill>
                            <a:srgbClr val="4A4D55"/>
                          </a:solidFill>
                          <a:latin typeface="Poppins"/>
                        </a:defRPr>
                      </a:pPr>
                      <a:r>
                        <a:t>10.99%</a:t>
                      </a:r>
                    </a:p>
                  </a:txBody>
                  <a:tcPr marL="54864" marR="54864" marT="13716" marB="13716" anchor="ctr">
                    <a:solidFill>
                      <a:srgbClr val="FFFFFF"/>
                    </a:solidFill>
                  </a:tcPr>
                </a:tc>
                <a:tc>
                  <a:txBody>
                    <a:bodyPr/>
                    <a:lstStyle/>
                    <a:p>
                      <a:pPr algn="r">
                        <a:defRPr sz="740" b="0">
                          <a:solidFill>
                            <a:srgbClr val="4A4D55"/>
                          </a:solidFill>
                          <a:latin typeface="Poppins"/>
                        </a:defRPr>
                      </a:pPr>
                      <a:r>
                        <a:t>13.16%</a:t>
                      </a:r>
                    </a:p>
                  </a:txBody>
                  <a:tcPr marL="54864" marR="54864" marT="13716" marB="13716" anchor="ctr">
                    <a:solidFill>
                      <a:srgbClr val="FFFFFF"/>
                    </a:solidFill>
                  </a:tcPr>
                </a:tc>
                <a:tc>
                  <a:txBody>
                    <a:bodyPr/>
                    <a:lstStyle/>
                    <a:p>
                      <a:pPr algn="r">
                        <a:defRPr sz="740" b="0">
                          <a:solidFill>
                            <a:srgbClr val="0F6B3F"/>
                          </a:solidFill>
                          <a:latin typeface="Poppins"/>
                        </a:defRPr>
                      </a:pPr>
                      <a:r>
                        <a:t>+16.4%</a:t>
                      </a:r>
                    </a:p>
                  </a:txBody>
                  <a:tcPr marL="54864" marR="54864" marT="13716" marB="13716" anchor="ctr">
                    <a:solidFill>
                      <a:srgbClr val="FFFFFF"/>
                    </a:solidFill>
                  </a:tcPr>
                </a:tc>
                <a:tc>
                  <a:txBody>
                    <a:bodyPr/>
                    <a:lstStyle/>
                    <a:p>
                      <a:pPr algn="r">
                        <a:defRPr sz="740" b="0">
                          <a:solidFill>
                            <a:srgbClr val="4A4D55"/>
                          </a:solidFill>
                          <a:latin typeface="Poppins"/>
                        </a:defRPr>
                      </a:pPr>
                      <a:r>
                        <a:t>66.7%</a:t>
                      </a:r>
                    </a:p>
                  </a:txBody>
                  <a:tcPr marL="54864" marR="54864" marT="13716" marB="13716" anchor="ctr">
                    <a:solidFill>
                      <a:srgbClr val="FFFFFF"/>
                    </a:solidFill>
                  </a:tcPr>
                </a:tc>
                <a:tc>
                  <a:txBody>
                    <a:bodyPr/>
                    <a:lstStyle/>
                    <a:p>
                      <a:pPr algn="r">
                        <a:defRPr sz="740" b="0">
                          <a:solidFill>
                            <a:srgbClr val="4A4D55"/>
                          </a:solidFill>
                          <a:latin typeface="Poppins"/>
                        </a:defRPr>
                      </a:pPr>
                      <a:r>
                        <a:t>0.1697</a:t>
                      </a:r>
                    </a:p>
                  </a:txBody>
                  <a:tcPr marL="54864" marR="54864" marT="13716" marB="13716" anchor="ctr">
                    <a:solidFill>
                      <a:srgbClr val="FFFFFF"/>
                    </a:solidFill>
                  </a:tcPr>
                </a:tc>
                <a:tc>
                  <a:txBody>
                    <a:bodyPr/>
                    <a:lstStyle/>
                    <a:p>
                      <a:pPr algn="r">
                        <a:defRPr sz="740" b="0">
                          <a:solidFill>
                            <a:srgbClr val="0F6B3F"/>
                          </a:solidFill>
                          <a:latin typeface="Poppins"/>
                        </a:defRPr>
                      </a:pPr>
                      <a:r>
                        <a:t>≥10%    ✓ / ✓</a:t>
                      </a:r>
                    </a:p>
                  </a:txBody>
                  <a:tcPr marL="54864" marR="54864" marT="13716" marB="13716" anchor="ctr">
                    <a:solidFill>
                      <a:srgbClr val="FFFFFF"/>
                    </a:solidFill>
                  </a:tcPr>
                </a:tc>
              </a:tr>
            </a:tbl>
          </a:graphicData>
        </a:graphic>
      </p:graphicFrame>
      <p:cxnSp>
        <p:nvCxnSpPr>
          <p:cNvPr id="16" name="Connector 15"/>
          <p:cNvCxnSpPr/>
          <p:nvPr/>
        </p:nvCxnSpPr>
        <p:spPr>
          <a:xfrm>
            <a:off x="502920" y="406908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gate we missed</a:t>
            </a:r>
          </a:p>
        </p:txBody>
      </p:sp>
      <p:sp>
        <p:nvSpPr>
          <p:cNvPr id="18" name="Rectangle 17"/>
          <p:cNvSpPr/>
          <p:nvPr/>
        </p:nvSpPr>
        <p:spPr>
          <a:xfrm>
            <a:off x="502920" y="4462272"/>
            <a:ext cx="3520440" cy="1417320"/>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4572000"/>
            <a:ext cx="3246120" cy="1188720"/>
          </a:xfrm>
          <a:prstGeom prst="rect">
            <a:avLst/>
          </a:prstGeom>
          <a:noFill/>
        </p:spPr>
        <p:txBody>
          <a:bodyPr wrap="square" lIns="0" rIns="0" tIns="0" bIns="0">
            <a:spAutoFit/>
          </a:bodyPr>
          <a:lstStyle/>
          <a:p>
            <a:pPr algn="l">
              <a:lnSpc>
                <a:spcPct val="130000"/>
              </a:lnSpc>
              <a:defRPr sz="819" b="1" i="0">
                <a:solidFill>
                  <a:srgbClr val="C8102E"/>
                </a:solidFill>
                <a:latin typeface="Poppins"/>
              </a:defRPr>
            </a:pPr>
            <a:r>
              <a:t>Aluminium skill at h=3 came in at 9.4% against the ≥15% threshold we published in Round 1.</a:t>
            </a:r>
          </a:p>
          <a:p>
            <a:pPr algn="l">
              <a:lnSpc>
                <a:spcPct val="130000"/>
              </a:lnSpc>
              <a:defRPr sz="819" b="1" i="0">
                <a:solidFill>
                  <a:srgbClr val="C8102E"/>
                </a:solidFill>
                <a:latin typeface="Poppins"/>
              </a:defRPr>
            </a:pPr>
          </a:p>
          <a:p>
            <a:pPr algn="l">
              <a:lnSpc>
                <a:spcPct val="130000"/>
              </a:lnSpc>
              <a:defRPr sz="819" b="1" i="0">
                <a:solidFill>
                  <a:srgbClr val="C8102E"/>
                </a:solidFill>
                <a:latin typeface="Poppins"/>
              </a:defRPr>
            </a:pPr>
            <a:r>
              <a:t>We are reporting it unchanged rather than relaxing the gate.</a:t>
            </a:r>
          </a:p>
        </p:txBody>
      </p:sp>
      <p:sp>
        <p:nvSpPr>
          <p:cNvPr id="20" name="TextBox 19"/>
          <p:cNvSpPr txBox="1"/>
          <p:nvPr/>
        </p:nvSpPr>
        <p:spPr>
          <a:xfrm>
            <a:off x="502920" y="5961888"/>
            <a:ext cx="3520440" cy="457200"/>
          </a:xfrm>
          <a:prstGeom prst="rect">
            <a:avLst/>
          </a:prstGeom>
          <a:noFill/>
        </p:spPr>
        <p:txBody>
          <a:bodyPr wrap="square" lIns="0" rIns="0" tIns="0" bIns="0">
            <a:spAutoFit/>
          </a:bodyPr>
          <a:lstStyle/>
          <a:p>
            <a:pPr algn="l">
              <a:lnSpc>
                <a:spcPct val="125000"/>
              </a:lnSpc>
              <a:defRPr sz="760" b="0" i="0">
                <a:solidFill>
                  <a:srgbClr val="4A4D55"/>
                </a:solidFill>
                <a:latin typeface="Poppins"/>
              </a:defRPr>
            </a:pPr>
            <a:r>
              <a:t>Aluminium is exchange-traded and close to efficient, so price-level skill is genuinely hard. The value is in direction.</a:t>
            </a:r>
          </a:p>
        </p:txBody>
      </p:sp>
      <p:sp>
        <p:nvSpPr>
          <p:cNvPr id="21" name="TextBox 20"/>
          <p:cNvSpPr txBox="1"/>
          <p:nvPr/>
        </p:nvSpPr>
        <p:spPr>
          <a:xfrm>
            <a:off x="4343400" y="4206240"/>
            <a:ext cx="35661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Where the value actually is</a:t>
            </a:r>
          </a:p>
        </p:txBody>
      </p:sp>
      <p:sp>
        <p:nvSpPr>
          <p:cNvPr id="22" name="TextBox 21"/>
          <p:cNvSpPr txBox="1"/>
          <p:nvPr/>
        </p:nvSpPr>
        <p:spPr>
          <a:xfrm>
            <a:off x="4343400" y="449884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3" name="TextBox 22"/>
          <p:cNvSpPr txBox="1"/>
          <p:nvPr/>
        </p:nvSpPr>
        <p:spPr>
          <a:xfrm>
            <a:off x="4462272" y="4498848"/>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PVC clears the h=3 skill gate at +15.5%, and rises to +21.6% at four months.</a:t>
            </a:r>
          </a:p>
        </p:txBody>
      </p:sp>
      <p:sp>
        <p:nvSpPr>
          <p:cNvPr id="24" name="TextBox 23"/>
          <p:cNvSpPr txBox="1"/>
          <p:nvPr/>
        </p:nvSpPr>
        <p:spPr>
          <a:xfrm>
            <a:off x="4343400" y="488289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5" name="TextBox 24"/>
          <p:cNvSpPr txBox="1"/>
          <p:nvPr/>
        </p:nvSpPr>
        <p:spPr>
          <a:xfrm>
            <a:off x="4462272" y="4882896"/>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Aluminium directional accuracy is 71.2% at h=3 against a 62% gate, with DM p = 0.041, inside our 0.10 threshold.</a:t>
            </a:r>
          </a:p>
        </p:txBody>
      </p:sp>
      <p:sp>
        <p:nvSpPr>
          <p:cNvPr id="26" name="TextBox 25"/>
          <p:cNvSpPr txBox="1"/>
          <p:nvPr/>
        </p:nvSpPr>
        <p:spPr>
          <a:xfrm>
            <a:off x="4343400" y="526694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7" name="TextBox 26"/>
          <p:cNvSpPr txBox="1"/>
          <p:nvPr/>
        </p:nvSpPr>
        <p:spPr>
          <a:xfrm>
            <a:off x="4462272" y="5266944"/>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Five of twelve horizon-material pairs clear DM p &lt; 0.10, including h=3 and h=4 on both materials. Beyond that we are not claiming significance.</a:t>
            </a:r>
          </a:p>
        </p:txBody>
      </p:sp>
      <p:sp>
        <p:nvSpPr>
          <p:cNvPr id="28" name="TextBox 27"/>
          <p:cNvSpPr txBox="1"/>
          <p:nvPr/>
        </p:nvSpPr>
        <p:spPr>
          <a:xfrm>
            <a:off x="4343400" y="5650992"/>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9" name="TextBox 28"/>
          <p:cNvSpPr txBox="1"/>
          <p:nvPr/>
        </p:nvSpPr>
        <p:spPr>
          <a:xfrm>
            <a:off x="4462272" y="5650992"/>
            <a:ext cx="344728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Skill at h=1 is negative on aluminium and zero on PVC, where the naïve gate left naïve holding the entire weight. The ensemble refused to bet, which is the gate working.</a:t>
            </a:r>
          </a:p>
        </p:txBody>
      </p:sp>
      <p:sp>
        <p:nvSpPr>
          <p:cNvPr id="30" name="TextBox 29"/>
          <p:cNvSpPr txBox="1"/>
          <p:nvPr/>
        </p:nvSpPr>
        <p:spPr>
          <a:xfrm>
            <a:off x="8183879" y="4206240"/>
            <a:ext cx="35204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 correction we made to our own result</a:t>
            </a:r>
          </a:p>
        </p:txBody>
      </p:sp>
      <p:sp>
        <p:nvSpPr>
          <p:cNvPr id="31" name="Rectangle 30"/>
          <p:cNvSpPr/>
          <p:nvPr/>
        </p:nvSpPr>
        <p:spPr>
          <a:xfrm>
            <a:off x="8183879" y="4462272"/>
            <a:ext cx="3520440" cy="1417320"/>
          </a:xfrm>
          <a:prstGeom prst="rect">
            <a:avLst/>
          </a:prstGeom>
          <a:no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21040" y="4572000"/>
            <a:ext cx="3246120" cy="1188720"/>
          </a:xfrm>
          <a:prstGeom prst="rect">
            <a:avLst/>
          </a:prstGeom>
          <a:noFill/>
        </p:spPr>
        <p:txBody>
          <a:bodyPr wrap="square" lIns="0" rIns="0" tIns="0" bIns="0">
            <a:spAutoFit/>
          </a:bodyPr>
          <a:lstStyle/>
          <a:p>
            <a:pPr algn="l">
              <a:lnSpc>
                <a:spcPct val="128000"/>
              </a:lnSpc>
              <a:defRPr sz="780" b="0" i="0">
                <a:solidFill>
                  <a:srgbClr val="4A4D55"/>
                </a:solidFill>
                <a:latin typeface="Poppins"/>
              </a:defRPr>
            </a:pPr>
            <a:r>
              <a:t>An earlier run estimated ensemble weights using errors from every fold, including the fold being scored. That is leakage, and it flattered the result.</a:t>
            </a:r>
          </a:p>
          <a:p>
            <a:pPr algn="l">
              <a:lnSpc>
                <a:spcPct val="128000"/>
              </a:lnSpc>
              <a:defRPr sz="780" b="0" i="0">
                <a:solidFill>
                  <a:srgbClr val="4A4D55"/>
                </a:solidFill>
                <a:latin typeface="Poppins"/>
              </a:defRPr>
            </a:pPr>
          </a:p>
          <a:p>
            <a:pPr algn="l">
              <a:lnSpc>
                <a:spcPct val="128000"/>
              </a:lnSpc>
              <a:defRPr sz="780" b="0" i="0">
                <a:solidFill>
                  <a:srgbClr val="4A4D55"/>
                </a:solidFill>
                <a:latin typeface="Poppins"/>
              </a:defRPr>
            </a:pPr>
            <a:r>
              <a:t>Re-estimated with weights from strictly prior folds only, aluminium h=3 moved from 7.06% to 7.73% and PVC from 9.77% to 10.69%. The first 12 origins become burn-in, so the window is 66 folds rather than 78.</a:t>
            </a:r>
          </a:p>
          <a:p>
            <a:pPr algn="l">
              <a:lnSpc>
                <a:spcPct val="128000"/>
              </a:lnSpc>
              <a:defRPr sz="780" b="0" i="0">
                <a:solidFill>
                  <a:srgbClr val="4A4D55"/>
                </a:solidFill>
                <a:latin typeface="Poppins"/>
              </a:defRPr>
            </a:pPr>
          </a:p>
          <a:p>
            <a:pPr algn="l">
              <a:lnSpc>
                <a:spcPct val="128000"/>
              </a:lnSpc>
              <a:defRPr sz="780" b="0" i="0">
                <a:solidFill>
                  <a:srgbClr val="4A4D55"/>
                </a:solidFill>
                <a:latin typeface="Poppins"/>
              </a:defRPr>
            </a:pPr>
            <a:r>
              <a:t>Every figure on this slide is the corrected one. We found this ourselves and are showing it.</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Thresholds  Set in the Round 1 submission before any modelling and carried here unchanged. MAPE is mean absolute percentage error per horizon. Skill is 1 − MAPE(model)/MAPE(naïve). Directional accuracy is the share of origins where the sign of the predicted change matches the realised change. DM p-values are HAC-corrected.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Rounded Rectangle 6"/>
          <p:cNvSpPr/>
          <p:nvPr/>
        </p:nvSpPr>
        <p:spPr>
          <a:xfrm>
            <a:off x="532428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Validation</a:t>
            </a:r>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1  ·  V A L I D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The bands are the product, and ours are too narrow — measured, reported, and</a:t>
            </a:r>
          </a:p>
          <a:p>
            <a:pPr algn="l">
              <a:lnSpc>
                <a:spcPct val="112000"/>
              </a:lnSpc>
              <a:defRPr sz="1700" b="1" i="0">
                <a:solidFill>
                  <a:srgbClr val="16181D"/>
                </a:solidFill>
                <a:latin typeface="Poppins"/>
              </a:defRPr>
            </a:pPr>
            <a:r>
              <a:t>diagnosed rather than quietly dropped</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Aluminium — P10–P90 coverage against the 75–85% gate</a:t>
            </a:r>
          </a:p>
        </p:txBody>
      </p:sp>
      <p:pic>
        <p:nvPicPr>
          <p:cNvPr id="15" name="Picture 14" descr="aluminium_bands.png"/>
          <p:cNvPicPr>
            <a:picLocks noChangeAspect="1"/>
          </p:cNvPicPr>
          <p:nvPr/>
        </p:nvPicPr>
        <p:blipFill>
          <a:blip r:embed="rId2"/>
          <a:stretch>
            <a:fillRect/>
          </a:stretch>
        </p:blipFill>
        <p:spPr>
          <a:xfrm>
            <a:off x="502920" y="2029968"/>
            <a:ext cx="5029200" cy="2433642"/>
          </a:xfrm>
          <a:prstGeom prst="rect">
            <a:avLst/>
          </a:prstGeom>
        </p:spPr>
      </p:pic>
      <p:sp>
        <p:nvSpPr>
          <p:cNvPr id="16" name="TextBox 15"/>
          <p:cNvSpPr txBox="1"/>
          <p:nvPr/>
        </p:nvSpPr>
        <p:spPr>
          <a:xfrm>
            <a:off x="502920" y="416052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resin</a:t>
            </a:r>
          </a:p>
        </p:txBody>
      </p:sp>
      <p:pic>
        <p:nvPicPr>
          <p:cNvPr id="17" name="Picture 16" descr="pvc_bands.png"/>
          <p:cNvPicPr>
            <a:picLocks noChangeAspect="1"/>
          </p:cNvPicPr>
          <p:nvPr/>
        </p:nvPicPr>
        <p:blipFill>
          <a:blip r:embed="rId3"/>
          <a:stretch>
            <a:fillRect/>
          </a:stretch>
        </p:blipFill>
        <p:spPr>
          <a:xfrm>
            <a:off x="502920" y="4407408"/>
            <a:ext cx="5029200" cy="2433642"/>
          </a:xfrm>
          <a:prstGeom prst="rect">
            <a:avLst/>
          </a:prstGeom>
        </p:spPr>
      </p:pic>
      <p:sp>
        <p:nvSpPr>
          <p:cNvPr id="18" name="TextBox 17"/>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the numbers say</a:t>
            </a:r>
          </a:p>
        </p:txBody>
      </p:sp>
      <p:graphicFrame>
        <p:nvGraphicFramePr>
          <p:cNvPr id="19" name="Table 18"/>
          <p:cNvGraphicFramePr>
            <a:graphicFrameLocks noGrp="1"/>
          </p:cNvGraphicFramePr>
          <p:nvPr/>
        </p:nvGraphicFramePr>
        <p:xfrm>
          <a:off x="6263640" y="2066543"/>
          <a:ext cx="5440677" cy="1773936"/>
        </p:xfrm>
        <a:graphic>
          <a:graphicData uri="http://schemas.openxmlformats.org/drawingml/2006/table">
            <a:tbl>
              <a:tblPr>
                <a:tableStyleId>{5C22544A-7EE6-4342-B048-85BDC9FD1C3A}</a:tableStyleId>
              </a:tblPr>
              <a:tblGrid>
                <a:gridCol w="1005840"/>
                <a:gridCol w="1188719"/>
                <a:gridCol w="1234440"/>
                <a:gridCol w="1188719"/>
                <a:gridCol w="822959"/>
              </a:tblGrid>
              <a:tr h="237744">
                <a:tc>
                  <a:txBody>
                    <a:bodyPr/>
                    <a:lstStyle/>
                    <a:p>
                      <a:pPr algn="l">
                        <a:defRPr sz="700" b="1">
                          <a:solidFill>
                            <a:srgbClr val="FFFFFF"/>
                          </a:solidFill>
                          <a:latin typeface="Poppins"/>
                        </a:defRPr>
                      </a:pPr>
                      <a:r>
                        <a:t>Horizon</a:t>
                      </a:r>
                    </a:p>
                  </a:txBody>
                  <a:tcPr marL="54864" marR="54864" marT="18288" marB="18288" anchor="ctr">
                    <a:solidFill>
                      <a:srgbClr val="C8102E"/>
                    </a:solidFill>
                  </a:tcPr>
                </a:tc>
                <a:tc>
                  <a:txBody>
                    <a:bodyPr/>
                    <a:lstStyle/>
                    <a:p>
                      <a:pPr algn="r">
                        <a:defRPr sz="700" b="1">
                          <a:solidFill>
                            <a:srgbClr val="FFFFFF"/>
                          </a:solidFill>
                          <a:latin typeface="Poppins"/>
                        </a:defRPr>
                      </a:pPr>
                      <a:r>
                        <a:t>Coverage</a:t>
                      </a:r>
                    </a:p>
                  </a:txBody>
                  <a:tcPr marL="54864" marR="54864" marT="18288" marB="18288" anchor="ctr">
                    <a:solidFill>
                      <a:srgbClr val="C8102E"/>
                    </a:solidFill>
                  </a:tcPr>
                </a:tc>
                <a:tc>
                  <a:txBody>
                    <a:bodyPr/>
                    <a:lstStyle/>
                    <a:p>
                      <a:pPr algn="r">
                        <a:defRPr sz="700" b="1">
                          <a:solidFill>
                            <a:srgbClr val="FFFFFF"/>
                          </a:solidFill>
                          <a:latin typeface="Poppins"/>
                        </a:defRPr>
                      </a:pPr>
                      <a:r>
                        <a:t>Band width</a:t>
                      </a:r>
                    </a:p>
                  </a:txBody>
                  <a:tcPr marL="54864" marR="54864" marT="18288" marB="18288" anchor="ctr">
                    <a:solidFill>
                      <a:srgbClr val="C8102E"/>
                    </a:solidFill>
                  </a:tcPr>
                </a:tc>
                <a:tc>
                  <a:txBody>
                    <a:bodyPr/>
                    <a:lstStyle/>
                    <a:p>
                      <a:pPr algn="r">
                        <a:defRPr sz="700" b="1">
                          <a:solidFill>
                            <a:srgbClr val="FFFFFF"/>
                          </a:solidFill>
                          <a:latin typeface="Poppins"/>
                        </a:defRPr>
                      </a:pPr>
                      <a:r>
                        <a:t>Signed bias</a:t>
                      </a:r>
                    </a:p>
                  </a:txBody>
                  <a:tcPr marL="54864" marR="54864" marT="18288" marB="18288" anchor="ctr">
                    <a:solidFill>
                      <a:srgbClr val="C8102E"/>
                    </a:solidFill>
                  </a:tcPr>
                </a:tc>
                <a:tc>
                  <a:txBody>
                    <a:bodyPr/>
                    <a:lstStyle/>
                    <a:p>
                      <a:pPr algn="r">
                        <a:defRPr sz="700" b="1">
                          <a:solidFill>
                            <a:srgbClr val="FFFFFF"/>
                          </a:solidFill>
                          <a:latin typeface="Poppins"/>
                        </a:defRPr>
                      </a:pPr>
                      <a:r>
                        <a:t>Gate</a:t>
                      </a:r>
                    </a:p>
                  </a:txBody>
                  <a:tcPr marL="54864" marR="54864" marT="18288" marB="18288" anchor="ctr">
                    <a:solidFill>
                      <a:srgbClr val="C8102E"/>
                    </a:solidFill>
                  </a:tcPr>
                </a:tc>
              </a:tr>
              <a:tr h="256032">
                <a:tc>
                  <a:txBody>
                    <a:bodyPr/>
                    <a:lstStyle/>
                    <a:p>
                      <a:pPr algn="l">
                        <a:defRPr sz="760" b="0">
                          <a:solidFill>
                            <a:srgbClr val="4A4D55"/>
                          </a:solidFill>
                          <a:latin typeface="Poppins"/>
                        </a:defRPr>
                      </a:pPr>
                      <a:r>
                        <a:t>1 mo</a:t>
                      </a:r>
                    </a:p>
                  </a:txBody>
                  <a:tcPr marL="54864" marR="54864" marT="13716" marB="13716" anchor="ctr">
                    <a:solidFill>
                      <a:srgbClr val="FFFFFF"/>
                    </a:solidFill>
                  </a:tcPr>
                </a:tc>
                <a:tc>
                  <a:txBody>
                    <a:bodyPr/>
                    <a:lstStyle/>
                    <a:p>
                      <a:pPr algn="r">
                        <a:defRPr sz="760" b="0">
                          <a:solidFill>
                            <a:srgbClr val="4A4D55"/>
                          </a:solidFill>
                          <a:latin typeface="Poppins"/>
                        </a:defRPr>
                      </a:pPr>
                      <a:r>
                        <a:t>56.1%</a:t>
                      </a:r>
                    </a:p>
                  </a:txBody>
                  <a:tcPr marL="54864" marR="54864" marT="13716" marB="13716" anchor="ctr">
                    <a:solidFill>
                      <a:srgbClr val="FFFFFF"/>
                    </a:solidFill>
                  </a:tcPr>
                </a:tc>
                <a:tc>
                  <a:txBody>
                    <a:bodyPr/>
                    <a:lstStyle/>
                    <a:p>
                      <a:pPr algn="r">
                        <a:defRPr sz="760" b="0">
                          <a:solidFill>
                            <a:srgbClr val="4A4D55"/>
                          </a:solidFill>
                          <a:latin typeface="Poppins"/>
                        </a:defRPr>
                      </a:pPr>
                      <a:r>
                        <a:t>8.3%</a:t>
                      </a:r>
                    </a:p>
                  </a:txBody>
                  <a:tcPr marL="54864" marR="54864" marT="13716" marB="13716" anchor="ctr">
                    <a:solidFill>
                      <a:srgbClr val="FFFFFF"/>
                    </a:solidFill>
                  </a:tcPr>
                </a:tc>
                <a:tc>
                  <a:txBody>
                    <a:bodyPr/>
                    <a:lstStyle/>
                    <a:p>
                      <a:pPr algn="r">
                        <a:defRPr sz="760" b="0">
                          <a:solidFill>
                            <a:srgbClr val="0F6B3F"/>
                          </a:solidFill>
                          <a:latin typeface="Poppins"/>
                        </a:defRPr>
                      </a:pPr>
                      <a:r>
                        <a:t>0.03%</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2 mo</a:t>
                      </a:r>
                    </a:p>
                  </a:txBody>
                  <a:tcPr marL="54864" marR="54864" marT="13716" marB="13716" anchor="ctr">
                    <a:solidFill>
                      <a:srgbClr val="FFFFFF"/>
                    </a:solidFill>
                  </a:tcPr>
                </a:tc>
                <a:tc>
                  <a:txBody>
                    <a:bodyPr/>
                    <a:lstStyle/>
                    <a:p>
                      <a:pPr algn="r">
                        <a:defRPr sz="760" b="0">
                          <a:solidFill>
                            <a:srgbClr val="4A4D55"/>
                          </a:solidFill>
                          <a:latin typeface="Poppins"/>
                        </a:defRPr>
                      </a:pPr>
                      <a:r>
                        <a:t>56.1%</a:t>
                      </a:r>
                    </a:p>
                  </a:txBody>
                  <a:tcPr marL="54864" marR="54864" marT="13716" marB="13716" anchor="ctr">
                    <a:solidFill>
                      <a:srgbClr val="FFFFFF"/>
                    </a:solidFill>
                  </a:tcPr>
                </a:tc>
                <a:tc>
                  <a:txBody>
                    <a:bodyPr/>
                    <a:lstStyle/>
                    <a:p>
                      <a:pPr algn="r">
                        <a:defRPr sz="760" b="0">
                          <a:solidFill>
                            <a:srgbClr val="4A4D55"/>
                          </a:solidFill>
                          <a:latin typeface="Poppins"/>
                        </a:defRPr>
                      </a:pPr>
                      <a:r>
                        <a:t>12.9%</a:t>
                      </a:r>
                    </a:p>
                  </a:txBody>
                  <a:tcPr marL="54864" marR="54864" marT="13716" marB="13716" anchor="ctr">
                    <a:solidFill>
                      <a:srgbClr val="FFFFFF"/>
                    </a:solidFill>
                  </a:tcPr>
                </a:tc>
                <a:tc>
                  <a:txBody>
                    <a:bodyPr/>
                    <a:lstStyle/>
                    <a:p>
                      <a:pPr algn="r">
                        <a:defRPr sz="760" b="0">
                          <a:solidFill>
                            <a:srgbClr val="4A4D55"/>
                          </a:solidFill>
                          <a:latin typeface="Poppins"/>
                        </a:defRPr>
                      </a:pPr>
                      <a:r>
                        <a:t>-0.33%</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3 mo</a:t>
                      </a:r>
                    </a:p>
                  </a:txBody>
                  <a:tcPr marL="54864" marR="54864" marT="13716" marB="13716" anchor="ctr">
                    <a:solidFill>
                      <a:srgbClr val="FFFFFF"/>
                    </a:solidFill>
                  </a:tcPr>
                </a:tc>
                <a:tc>
                  <a:txBody>
                    <a:bodyPr/>
                    <a:lstStyle/>
                    <a:p>
                      <a:pPr algn="r">
                        <a:defRPr sz="760" b="0">
                          <a:solidFill>
                            <a:srgbClr val="4A4D55"/>
                          </a:solidFill>
                          <a:latin typeface="Poppins"/>
                        </a:defRPr>
                      </a:pPr>
                      <a:r>
                        <a:t>57.6%</a:t>
                      </a:r>
                    </a:p>
                  </a:txBody>
                  <a:tcPr marL="54864" marR="54864" marT="13716" marB="13716" anchor="ctr">
                    <a:solidFill>
                      <a:srgbClr val="FFFFFF"/>
                    </a:solidFill>
                  </a:tcPr>
                </a:tc>
                <a:tc>
                  <a:txBody>
                    <a:bodyPr/>
                    <a:lstStyle/>
                    <a:p>
                      <a:pPr algn="r">
                        <a:defRPr sz="760" b="0">
                          <a:solidFill>
                            <a:srgbClr val="4A4D55"/>
                          </a:solidFill>
                          <a:latin typeface="Poppins"/>
                        </a:defRPr>
                      </a:pPr>
                      <a:r>
                        <a:t>16.6%</a:t>
                      </a:r>
                    </a:p>
                  </a:txBody>
                  <a:tcPr marL="54864" marR="54864" marT="13716" marB="13716" anchor="ctr">
                    <a:solidFill>
                      <a:srgbClr val="FFFFFF"/>
                    </a:solidFill>
                  </a:tcPr>
                </a:tc>
                <a:tc>
                  <a:txBody>
                    <a:bodyPr/>
                    <a:lstStyle/>
                    <a:p>
                      <a:pPr algn="r">
                        <a:defRPr sz="760" b="0">
                          <a:solidFill>
                            <a:srgbClr val="4A4D55"/>
                          </a:solidFill>
                          <a:latin typeface="Poppins"/>
                        </a:defRPr>
                      </a:pPr>
                      <a:r>
                        <a:t>-0.13%</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4 mo</a:t>
                      </a:r>
                    </a:p>
                  </a:txBody>
                  <a:tcPr marL="54864" marR="54864" marT="13716" marB="13716" anchor="ctr">
                    <a:solidFill>
                      <a:srgbClr val="FFFFFF"/>
                    </a:solidFill>
                  </a:tcPr>
                </a:tc>
                <a:tc>
                  <a:txBody>
                    <a:bodyPr/>
                    <a:lstStyle/>
                    <a:p>
                      <a:pPr algn="r">
                        <a:defRPr sz="760" b="0">
                          <a:solidFill>
                            <a:srgbClr val="4A4D55"/>
                          </a:solidFill>
                          <a:latin typeface="Poppins"/>
                        </a:defRPr>
                      </a:pPr>
                      <a:r>
                        <a:t>57.6%</a:t>
                      </a:r>
                    </a:p>
                  </a:txBody>
                  <a:tcPr marL="54864" marR="54864" marT="13716" marB="13716" anchor="ctr">
                    <a:solidFill>
                      <a:srgbClr val="FFFFFF"/>
                    </a:solidFill>
                  </a:tcPr>
                </a:tc>
                <a:tc>
                  <a:txBody>
                    <a:bodyPr/>
                    <a:lstStyle/>
                    <a:p>
                      <a:pPr algn="r">
                        <a:defRPr sz="760" b="0">
                          <a:solidFill>
                            <a:srgbClr val="4A4D55"/>
                          </a:solidFill>
                          <a:latin typeface="Poppins"/>
                        </a:defRPr>
                      </a:pPr>
                      <a:r>
                        <a:t>18.9%</a:t>
                      </a:r>
                    </a:p>
                  </a:txBody>
                  <a:tcPr marL="54864" marR="54864" marT="13716" marB="13716" anchor="ctr">
                    <a:solidFill>
                      <a:srgbClr val="FFFFFF"/>
                    </a:solidFill>
                  </a:tcPr>
                </a:tc>
                <a:tc>
                  <a:txBody>
                    <a:bodyPr/>
                    <a:lstStyle/>
                    <a:p>
                      <a:pPr algn="r">
                        <a:defRPr sz="760" b="0">
                          <a:solidFill>
                            <a:srgbClr val="4A4D55"/>
                          </a:solidFill>
                          <a:latin typeface="Poppins"/>
                        </a:defRPr>
                      </a:pPr>
                      <a:r>
                        <a:t>-0.89%</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5 mo</a:t>
                      </a:r>
                    </a:p>
                  </a:txBody>
                  <a:tcPr marL="54864" marR="54864" marT="13716" marB="13716" anchor="ctr">
                    <a:solidFill>
                      <a:srgbClr val="FFFFFF"/>
                    </a:solidFill>
                  </a:tcPr>
                </a:tc>
                <a:tc>
                  <a:txBody>
                    <a:bodyPr/>
                    <a:lstStyle/>
                    <a:p>
                      <a:pPr algn="r">
                        <a:defRPr sz="760" b="0">
                          <a:solidFill>
                            <a:srgbClr val="4A4D55"/>
                          </a:solidFill>
                          <a:latin typeface="Poppins"/>
                        </a:defRPr>
                      </a:pPr>
                      <a:r>
                        <a:t>63.6%</a:t>
                      </a:r>
                    </a:p>
                  </a:txBody>
                  <a:tcPr marL="54864" marR="54864" marT="13716" marB="13716" anchor="ctr">
                    <a:solidFill>
                      <a:srgbClr val="FFFFFF"/>
                    </a:solidFill>
                  </a:tcPr>
                </a:tc>
                <a:tc>
                  <a:txBody>
                    <a:bodyPr/>
                    <a:lstStyle/>
                    <a:p>
                      <a:pPr algn="r">
                        <a:defRPr sz="760" b="0">
                          <a:solidFill>
                            <a:srgbClr val="4A4D55"/>
                          </a:solidFill>
                          <a:latin typeface="Poppins"/>
                        </a:defRPr>
                      </a:pPr>
                      <a:r>
                        <a:t>22.5%</a:t>
                      </a:r>
                    </a:p>
                  </a:txBody>
                  <a:tcPr marL="54864" marR="54864" marT="13716" marB="13716" anchor="ctr">
                    <a:solidFill>
                      <a:srgbClr val="FFFFFF"/>
                    </a:solidFill>
                  </a:tcPr>
                </a:tc>
                <a:tc>
                  <a:txBody>
                    <a:bodyPr/>
                    <a:lstStyle/>
                    <a:p>
                      <a:pPr algn="r">
                        <a:defRPr sz="760" b="0">
                          <a:solidFill>
                            <a:srgbClr val="4A4D55"/>
                          </a:solidFill>
                          <a:latin typeface="Poppins"/>
                        </a:defRPr>
                      </a:pPr>
                      <a:r>
                        <a:t>-0.99%</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r h="256032">
                <a:tc>
                  <a:txBody>
                    <a:bodyPr/>
                    <a:lstStyle/>
                    <a:p>
                      <a:pPr algn="l">
                        <a:defRPr sz="760" b="0">
                          <a:solidFill>
                            <a:srgbClr val="4A4D55"/>
                          </a:solidFill>
                          <a:latin typeface="Poppins"/>
                        </a:defRPr>
                      </a:pPr>
                      <a:r>
                        <a:t>6 mo</a:t>
                      </a:r>
                    </a:p>
                  </a:txBody>
                  <a:tcPr marL="54864" marR="54864" marT="13716" marB="13716" anchor="ctr">
                    <a:solidFill>
                      <a:srgbClr val="FFFFFF"/>
                    </a:solidFill>
                  </a:tcPr>
                </a:tc>
                <a:tc>
                  <a:txBody>
                    <a:bodyPr/>
                    <a:lstStyle/>
                    <a:p>
                      <a:pPr algn="r">
                        <a:defRPr sz="760" b="0">
                          <a:solidFill>
                            <a:srgbClr val="4A4D55"/>
                          </a:solidFill>
                          <a:latin typeface="Poppins"/>
                        </a:defRPr>
                      </a:pPr>
                      <a:r>
                        <a:t>63.6%</a:t>
                      </a:r>
                    </a:p>
                  </a:txBody>
                  <a:tcPr marL="54864" marR="54864" marT="13716" marB="13716" anchor="ctr">
                    <a:solidFill>
                      <a:srgbClr val="FFFFFF"/>
                    </a:solidFill>
                  </a:tcPr>
                </a:tc>
                <a:tc>
                  <a:txBody>
                    <a:bodyPr/>
                    <a:lstStyle/>
                    <a:p>
                      <a:pPr algn="r">
                        <a:defRPr sz="760" b="0">
                          <a:solidFill>
                            <a:srgbClr val="4A4D55"/>
                          </a:solidFill>
                          <a:latin typeface="Poppins"/>
                        </a:defRPr>
                      </a:pPr>
                      <a:r>
                        <a:t>23.4%</a:t>
                      </a:r>
                    </a:p>
                  </a:txBody>
                  <a:tcPr marL="54864" marR="54864" marT="13716" marB="13716" anchor="ctr">
                    <a:solidFill>
                      <a:srgbClr val="FFFFFF"/>
                    </a:solidFill>
                  </a:tcPr>
                </a:tc>
                <a:tc>
                  <a:txBody>
                    <a:bodyPr/>
                    <a:lstStyle/>
                    <a:p>
                      <a:pPr algn="r">
                        <a:defRPr sz="760" b="0">
                          <a:solidFill>
                            <a:srgbClr val="4A4D55"/>
                          </a:solidFill>
                          <a:latin typeface="Poppins"/>
                        </a:defRPr>
                      </a:pPr>
                      <a:r>
                        <a:t>-1.93%</a:t>
                      </a:r>
                    </a:p>
                  </a:txBody>
                  <a:tcPr marL="54864" marR="54864" marT="13716" marB="13716" anchor="ctr">
                    <a:solidFill>
                      <a:srgbClr val="FFFFFF"/>
                    </a:solidFill>
                  </a:tcPr>
                </a:tc>
                <a:tc>
                  <a:txBody>
                    <a:bodyPr/>
                    <a:lstStyle/>
                    <a:p>
                      <a:pPr algn="r">
                        <a:defRPr sz="760" b="0">
                          <a:solidFill>
                            <a:srgbClr val="C8102E"/>
                          </a:solidFill>
                          <a:latin typeface="Poppins"/>
                        </a:defRPr>
                      </a:pPr>
                      <a:r>
                        <a:t>miss</a:t>
                      </a:r>
                    </a:p>
                  </a:txBody>
                  <a:tcPr marL="54864" marR="54864" marT="13716" marB="13716" anchor="ctr">
                    <a:solidFill>
                      <a:srgbClr val="FFFFFF"/>
                    </a:solidFill>
                  </a:tcPr>
                </a:tc>
              </a:tr>
            </a:tbl>
          </a:graphicData>
        </a:graphic>
      </p:graphicFrame>
      <p:sp>
        <p:nvSpPr>
          <p:cNvPr id="20" name="TextBox 19"/>
          <p:cNvSpPr txBox="1"/>
          <p:nvPr/>
        </p:nvSpPr>
        <p:spPr>
          <a:xfrm>
            <a:off x="6263640" y="39319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diagnosis</a:t>
            </a:r>
          </a:p>
        </p:txBody>
      </p:sp>
      <p:sp>
        <p:nvSpPr>
          <p:cNvPr id="21" name="TextBox 20"/>
          <p:cNvSpPr txBox="1"/>
          <p:nvPr/>
        </p:nvSpPr>
        <p:spPr>
          <a:xfrm>
            <a:off x="6263640" y="4224528"/>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2" name="TextBox 21"/>
          <p:cNvSpPr txBox="1"/>
          <p:nvPr/>
        </p:nvSpPr>
        <p:spPr>
          <a:xfrm>
            <a:off x="6382512" y="4224528"/>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Coverage runs 55–65% against a 75–85% gate. The conformal calibration is applied but the residual quantile spread is still too tight.</a:t>
            </a:r>
          </a:p>
        </p:txBody>
      </p:sp>
      <p:sp>
        <p:nvSpPr>
          <p:cNvPr id="23" name="TextBox 22"/>
          <p:cNvSpPr txBox="1"/>
          <p:nvPr/>
        </p:nvSpPr>
        <p:spPr>
          <a:xfrm>
            <a:off x="6263640" y="4626864"/>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4" name="TextBox 23"/>
          <p:cNvSpPr txBox="1"/>
          <p:nvPr/>
        </p:nvSpPr>
        <p:spPr>
          <a:xfrm>
            <a:off x="6382512" y="4626864"/>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Band width does widen with horizon, from 8% at one month to 23% at six, so the shape is right even where the level is not.</a:t>
            </a:r>
          </a:p>
        </p:txBody>
      </p:sp>
      <p:sp>
        <p:nvSpPr>
          <p:cNvPr id="25" name="TextBox 24"/>
          <p:cNvSpPr txBox="1"/>
          <p:nvPr/>
        </p:nvSpPr>
        <p:spPr>
          <a:xfrm>
            <a:off x="6263640" y="5029200"/>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6" name="TextBox 25"/>
          <p:cNvSpPr txBox="1"/>
          <p:nvPr/>
        </p:nvSpPr>
        <p:spPr>
          <a:xfrm>
            <a:off x="6382512" y="5029200"/>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Coverage collapses to 33% in COVID and in the 2021–22 spike, and sits near 79% in calm periods. The failure is concentrated in regime breaks, which is the honest diagnosis.</a:t>
            </a:r>
          </a:p>
        </p:txBody>
      </p:sp>
      <p:sp>
        <p:nvSpPr>
          <p:cNvPr id="27" name="TextBox 26"/>
          <p:cNvSpPr txBox="1"/>
          <p:nvPr/>
        </p:nvSpPr>
        <p:spPr>
          <a:xfrm>
            <a:off x="6263640" y="5431536"/>
            <a:ext cx="91440" cy="182880"/>
          </a:xfrm>
          <a:prstGeom prst="rect">
            <a:avLst/>
          </a:prstGeom>
          <a:noFill/>
        </p:spPr>
        <p:txBody>
          <a:bodyPr wrap="square" lIns="0" rIns="0" tIns="0" bIns="0">
            <a:spAutoFit/>
          </a:bodyPr>
          <a:lstStyle/>
          <a:p>
            <a:pPr algn="l">
              <a:lnSpc>
                <a:spcPct val="115000"/>
              </a:lnSpc>
              <a:defRPr sz="800" b="0" i="0">
                <a:solidFill>
                  <a:srgbClr val="C8102E"/>
                </a:solidFill>
                <a:latin typeface="Poppins"/>
              </a:defRPr>
            </a:pPr>
            <a:r>
              <a:t>•</a:t>
            </a:r>
          </a:p>
        </p:txBody>
      </p:sp>
      <p:sp>
        <p:nvSpPr>
          <p:cNvPr id="28" name="TextBox 27"/>
          <p:cNvSpPr txBox="1"/>
          <p:nvPr/>
        </p:nvSpPr>
        <p:spPr>
          <a:xfrm>
            <a:off x="6382512" y="5431536"/>
            <a:ext cx="5321808" cy="384048"/>
          </a:xfrm>
          <a:prstGeom prst="rect">
            <a:avLst/>
          </a:prstGeom>
          <a:noFill/>
        </p:spPr>
        <p:txBody>
          <a:bodyPr wrap="square" lIns="0" rIns="0" tIns="0" bIns="0">
            <a:spAutoFit/>
          </a:bodyPr>
          <a:lstStyle/>
          <a:p>
            <a:pPr algn="l">
              <a:lnSpc>
                <a:spcPct val="120000"/>
              </a:lnSpc>
              <a:defRPr sz="800" b="0" i="0">
                <a:solidFill>
                  <a:srgbClr val="4A4D55"/>
                </a:solidFill>
                <a:latin typeface="Poppins"/>
              </a:defRPr>
            </a:pPr>
            <a:r>
              <a:t>Signed bias passes the ±1% gate at most horizons; where it does not, the Jensen shift from exponentiating the log-return accounts for nearly all of it.</a:t>
            </a:r>
          </a:p>
        </p:txBody>
      </p:sp>
      <p:sp>
        <p:nvSpPr>
          <p:cNvPr id="29" name="TextBox 28"/>
          <p:cNvSpPr txBox="1"/>
          <p:nvPr/>
        </p:nvSpPr>
        <p:spPr>
          <a:xfrm>
            <a:off x="6263640" y="5943600"/>
            <a:ext cx="5440680" cy="457200"/>
          </a:xfrm>
          <a:prstGeom prst="rect">
            <a:avLst/>
          </a:prstGeom>
          <a:noFill/>
        </p:spPr>
        <p:txBody>
          <a:bodyPr wrap="square" lIns="0" rIns="0" tIns="0" bIns="0">
            <a:spAutoFit/>
          </a:bodyPr>
          <a:lstStyle/>
          <a:p>
            <a:pPr algn="l">
              <a:lnSpc>
                <a:spcPct val="125000"/>
              </a:lnSpc>
              <a:defRPr sz="760" b="1" i="0">
                <a:solidFill>
                  <a:srgbClr val="C8102E"/>
                </a:solidFill>
                <a:latin typeface="Poppins"/>
              </a:defRPr>
            </a:pPr>
            <a:r>
              <a:t>Consequence for the decision rule. Because the bands understate tail risk in shocks, the confidence gate is doing more work than the band is. We would recalibrate on volatility regime before the pilot.</a:t>
            </a:r>
          </a:p>
        </p:txBody>
      </p:sp>
      <p:sp>
        <p:nvSpPr>
          <p:cNvPr id="30" name="TextBox 29"/>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Quantile models trained with pinball loss at q = 0.10 / 0.50 / 0.90, then split-conformal calibration on a held-out slice of each fold. Coverage is measured, not assumed. [1] Romano, Patterson &amp; Candès (2019), Conformalized Quantile Regression, NeurIPS.</a:t>
            </a:r>
          </a:p>
        </p:txBody>
      </p:sp>
      <p:sp>
        <p:nvSpPr>
          <p:cNvPr id="31" name="TextBox 30"/>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Rounded Rectangle 7"/>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2  ·  P R O T O T Y P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The decision rule replayed over 84 months: what it would have saved, and what it</a:t>
            </a:r>
          </a:p>
          <a:p>
            <a:pPr algn="l">
              <a:lnSpc>
                <a:spcPct val="112000"/>
              </a:lnSpc>
              <a:defRPr sz="1700" b="1" i="0">
                <a:solidFill>
                  <a:srgbClr val="16181D"/>
                </a:solidFill>
                <a:latin typeface="Poppins"/>
              </a:defRPr>
            </a:pPr>
            <a:r>
              <a:t>would have cost in inventory</a:t>
            </a:r>
          </a:p>
        </p:txBody>
      </p:sp>
      <p:sp>
        <p:nvSpPr>
          <p:cNvPr id="14" name="TextBox 13"/>
          <p:cNvSpPr txBox="1"/>
          <p:nvPr/>
        </p:nvSpPr>
        <p:spPr>
          <a:xfrm>
            <a:off x="502920" y="1737360"/>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rule</a:t>
            </a:r>
          </a:p>
        </p:txBody>
      </p:sp>
      <p:sp>
        <p:nvSpPr>
          <p:cNvPr id="15" name="Rectangle 14"/>
          <p:cNvSpPr/>
          <p:nvPr/>
        </p:nvSpPr>
        <p:spPr>
          <a:xfrm>
            <a:off x="502920" y="1993392"/>
            <a:ext cx="5669280" cy="475488"/>
          </a:xfrm>
          <a:prstGeom prst="rect">
            <a:avLst/>
          </a:prstGeom>
          <a:solidFill>
            <a:srgbClr val="FD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03120"/>
            <a:ext cx="5394960" cy="274320"/>
          </a:xfrm>
          <a:prstGeom prst="rect">
            <a:avLst/>
          </a:prstGeom>
          <a:noFill/>
        </p:spPr>
        <p:txBody>
          <a:bodyPr wrap="square" lIns="0" rIns="0" tIns="0" bIns="0">
            <a:spAutoFit/>
          </a:bodyPr>
          <a:lstStyle/>
          <a:p>
            <a:pPr algn="l">
              <a:lnSpc>
                <a:spcPct val="115000"/>
              </a:lnSpc>
              <a:defRPr sz="1300" b="1" i="0">
                <a:solidFill>
                  <a:srgbClr val="C8102E"/>
                </a:solidFill>
                <a:latin typeface="Poppins"/>
              </a:defRPr>
            </a:pPr>
            <a:r>
              <a:t>S(h) = (P̂(h) − P₀) / P₀  −  c × h</a:t>
            </a:r>
          </a:p>
        </p:txBody>
      </p:sp>
      <p:sp>
        <p:nvSpPr>
          <p:cNvPr id="17" name="Rectangle 16"/>
          <p:cNvSpPr/>
          <p:nvPr/>
        </p:nvSpPr>
        <p:spPr>
          <a:xfrm>
            <a:off x="502920" y="2633472"/>
            <a:ext cx="841248" cy="310896"/>
          </a:xfrm>
          <a:prstGeom prst="rect">
            <a:avLst/>
          </a:prstGeom>
          <a:solidFill>
            <a:srgbClr val="0F6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2920" y="2711196"/>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Poppins"/>
              </a:defRPr>
            </a:pPr>
            <a:r>
              <a:t>Buy now</a:t>
            </a:r>
          </a:p>
        </p:txBody>
      </p:sp>
      <p:sp>
        <p:nvSpPr>
          <p:cNvPr id="19" name="TextBox 18"/>
          <p:cNvSpPr txBox="1"/>
          <p:nvPr/>
        </p:nvSpPr>
        <p:spPr>
          <a:xfrm>
            <a:off x="1463040" y="2651760"/>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S(h) &gt; +2% and P(up) ≥ 60%</a:t>
            </a:r>
          </a:p>
        </p:txBody>
      </p:sp>
      <p:sp>
        <p:nvSpPr>
          <p:cNvPr id="20" name="TextBox 19"/>
          <p:cNvSpPr txBox="1"/>
          <p:nvPr/>
        </p:nvSpPr>
        <p:spPr>
          <a:xfrm>
            <a:off x="1463040" y="2807208"/>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Poppins"/>
              </a:defRPr>
            </a:pPr>
            <a:r>
              <a:t>Forward-cover 3 months</a:t>
            </a:r>
          </a:p>
        </p:txBody>
      </p:sp>
      <p:sp>
        <p:nvSpPr>
          <p:cNvPr id="21" name="Rectangle 20"/>
          <p:cNvSpPr/>
          <p:nvPr/>
        </p:nvSpPr>
        <p:spPr>
          <a:xfrm>
            <a:off x="502920" y="3035808"/>
            <a:ext cx="841248" cy="310896"/>
          </a:xfrm>
          <a:prstGeom prst="rect">
            <a:avLst/>
          </a:prstGeom>
          <a:solidFill>
            <a:srgbClr val="4A4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920" y="3113532"/>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Poppins"/>
              </a:defRPr>
            </a:pPr>
            <a:r>
              <a:t>Buy normal</a:t>
            </a:r>
          </a:p>
        </p:txBody>
      </p:sp>
      <p:sp>
        <p:nvSpPr>
          <p:cNvPr id="23" name="TextBox 22"/>
          <p:cNvSpPr txBox="1"/>
          <p:nvPr/>
        </p:nvSpPr>
        <p:spPr>
          <a:xfrm>
            <a:off x="1463040" y="3054096"/>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−2% ≤ S(h) ≤ +2%, or confidence &lt; 60%</a:t>
            </a:r>
          </a:p>
        </p:txBody>
      </p:sp>
      <p:sp>
        <p:nvSpPr>
          <p:cNvPr id="24" name="TextBox 23"/>
          <p:cNvSpPr txBox="1"/>
          <p:nvPr/>
        </p:nvSpPr>
        <p:spPr>
          <a:xfrm>
            <a:off x="1463040" y="3209544"/>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Poppins"/>
              </a:defRPr>
            </a:pPr>
            <a:r>
              <a:t>BoM requirement, 1.5 months</a:t>
            </a:r>
          </a:p>
        </p:txBody>
      </p:sp>
      <p:sp>
        <p:nvSpPr>
          <p:cNvPr id="25" name="Rectangle 24"/>
          <p:cNvSpPr/>
          <p:nvPr/>
        </p:nvSpPr>
        <p:spPr>
          <a:xfrm>
            <a:off x="502920" y="3438144"/>
            <a:ext cx="841248" cy="310896"/>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02920" y="3515868"/>
            <a:ext cx="841248" cy="182880"/>
          </a:xfrm>
          <a:prstGeom prst="rect">
            <a:avLst/>
          </a:prstGeom>
          <a:noFill/>
        </p:spPr>
        <p:txBody>
          <a:bodyPr wrap="square" lIns="0" rIns="0" tIns="0" bIns="0">
            <a:spAutoFit/>
          </a:bodyPr>
          <a:lstStyle/>
          <a:p>
            <a:pPr algn="ctr">
              <a:lnSpc>
                <a:spcPct val="115000"/>
              </a:lnSpc>
              <a:defRPr sz="800" b="1" i="0">
                <a:solidFill>
                  <a:srgbClr val="FFFFFF"/>
                </a:solidFill>
                <a:latin typeface="Poppins"/>
              </a:defRPr>
            </a:pPr>
            <a:r>
              <a:t>Defer</a:t>
            </a:r>
          </a:p>
        </p:txBody>
      </p:sp>
      <p:sp>
        <p:nvSpPr>
          <p:cNvPr id="27" name="TextBox 26"/>
          <p:cNvSpPr txBox="1"/>
          <p:nvPr/>
        </p:nvSpPr>
        <p:spPr>
          <a:xfrm>
            <a:off x="1463040" y="3456432"/>
            <a:ext cx="2834640" cy="27432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S(h) &lt; −2% and P(down) ≥ 60%</a:t>
            </a:r>
          </a:p>
        </p:txBody>
      </p:sp>
      <p:sp>
        <p:nvSpPr>
          <p:cNvPr id="28" name="TextBox 27"/>
          <p:cNvSpPr txBox="1"/>
          <p:nvPr/>
        </p:nvSpPr>
        <p:spPr>
          <a:xfrm>
            <a:off x="1463040" y="3611879"/>
            <a:ext cx="4663440" cy="219456"/>
          </a:xfrm>
          <a:prstGeom prst="rect">
            <a:avLst/>
          </a:prstGeom>
          <a:noFill/>
        </p:spPr>
        <p:txBody>
          <a:bodyPr wrap="square" lIns="0" rIns="0" tIns="0" bIns="0">
            <a:spAutoFit/>
          </a:bodyPr>
          <a:lstStyle/>
          <a:p>
            <a:pPr algn="l">
              <a:lnSpc>
                <a:spcPct val="115000"/>
              </a:lnSpc>
              <a:defRPr sz="760" b="0" i="0">
                <a:solidFill>
                  <a:srgbClr val="4A4D55"/>
                </a:solidFill>
                <a:latin typeface="Poppins"/>
              </a:defRPr>
            </a:pPr>
            <a:r>
              <a:t>Minimum safety cover, 1 month</a:t>
            </a:r>
          </a:p>
        </p:txBody>
      </p:sp>
      <p:sp>
        <p:nvSpPr>
          <p:cNvPr id="29" name="TextBox 28"/>
          <p:cNvSpPr txBox="1"/>
          <p:nvPr/>
        </p:nvSpPr>
        <p:spPr>
          <a:xfrm>
            <a:off x="502920" y="3886200"/>
            <a:ext cx="5669280" cy="219456"/>
          </a:xfrm>
          <a:prstGeom prst="rect">
            <a:avLst/>
          </a:prstGeom>
          <a:noFill/>
        </p:spPr>
        <p:txBody>
          <a:bodyPr wrap="square" lIns="0" rIns="0" tIns="0" bIns="0">
            <a:spAutoFit/>
          </a:bodyPr>
          <a:lstStyle/>
          <a:p>
            <a:pPr algn="l">
              <a:lnSpc>
                <a:spcPct val="115000"/>
              </a:lnSpc>
              <a:defRPr sz="760" b="0" i="1">
                <a:solidFill>
                  <a:srgbClr val="7C8089"/>
                </a:solidFill>
                <a:latin typeface="Poppins"/>
              </a:defRPr>
            </a:pPr>
            <a:r>
              <a:t>c is carrying cost per month, set at 1.0% pending ACG Finance inputs.</a:t>
            </a:r>
          </a:p>
        </p:txBody>
      </p:sp>
      <p:cxnSp>
        <p:nvCxnSpPr>
          <p:cNvPr id="30" name="Connector 29"/>
          <p:cNvCxnSpPr/>
          <p:nvPr/>
        </p:nvCxnSpPr>
        <p:spPr>
          <a:xfrm>
            <a:off x="502920" y="4133087"/>
            <a:ext cx="566928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20" y="4261104"/>
            <a:ext cx="56692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Results over 78 months, both materials</a:t>
            </a:r>
          </a:p>
        </p:txBody>
      </p:sp>
      <p:graphicFrame>
        <p:nvGraphicFramePr>
          <p:cNvPr id="32" name="Table 31"/>
          <p:cNvGraphicFramePr>
            <a:graphicFrameLocks noGrp="1"/>
          </p:cNvGraphicFramePr>
          <p:nvPr/>
        </p:nvGraphicFramePr>
        <p:xfrm>
          <a:off x="502920" y="4535424"/>
          <a:ext cx="5669280" cy="1805940"/>
        </p:xfrm>
        <a:graphic>
          <a:graphicData uri="http://schemas.openxmlformats.org/drawingml/2006/table">
            <a:tbl>
              <a:tblPr>
                <a:tableStyleId>{5C22544A-7EE6-4342-B048-85BDC9FD1C3A}</a:tableStyleId>
              </a:tblPr>
              <a:tblGrid>
                <a:gridCol w="2926080"/>
                <a:gridCol w="1371600"/>
                <a:gridCol w="1371600"/>
              </a:tblGrid>
              <a:tr h="237744">
                <a:tc>
                  <a:txBody>
                    <a:bodyPr/>
                    <a:lstStyle/>
                    <a:p>
                      <a:pPr algn="l">
                        <a:defRPr sz="700" b="1">
                          <a:solidFill>
                            <a:srgbClr val="FFFFFF"/>
                          </a:solidFill>
                          <a:latin typeface="Poppins"/>
                        </a:defRPr>
                      </a:pPr>
                      <a:r>
                        <a:t>Metric</a:t>
                      </a:r>
                    </a:p>
                  </a:txBody>
                  <a:tcPr marL="54864" marR="54864" marT="18288" marB="18288" anchor="ctr">
                    <a:solidFill>
                      <a:srgbClr val="C8102E"/>
                    </a:solidFill>
                  </a:tcPr>
                </a:tc>
                <a:tc>
                  <a:txBody>
                    <a:bodyPr/>
                    <a:lstStyle/>
                    <a:p>
                      <a:pPr algn="r">
                        <a:defRPr sz="700" b="1">
                          <a:solidFill>
                            <a:srgbClr val="FFFFFF"/>
                          </a:solidFill>
                          <a:latin typeface="Poppins"/>
                        </a:defRPr>
                      </a:pPr>
                      <a:r>
                        <a:t>Aluminium</a:t>
                      </a:r>
                    </a:p>
                  </a:txBody>
                  <a:tcPr marL="54864" marR="54864" marT="18288" marB="18288" anchor="ctr">
                    <a:solidFill>
                      <a:srgbClr val="C8102E"/>
                    </a:solidFill>
                  </a:tcPr>
                </a:tc>
                <a:tc>
                  <a:txBody>
                    <a:bodyPr/>
                    <a:lstStyle/>
                    <a:p>
                      <a:pPr algn="r">
                        <a:defRPr sz="700" b="1">
                          <a:solidFill>
                            <a:srgbClr val="FFFFFF"/>
                          </a:solidFill>
                          <a:latin typeface="Poppins"/>
                        </a:defRPr>
                      </a:pPr>
                      <a:r>
                        <a:t>PVC resin</a:t>
                      </a:r>
                    </a:p>
                  </a:txBody>
                  <a:tcPr marL="54864" marR="54864" marT="18288" marB="18288" anchor="ctr">
                    <a:solidFill>
                      <a:srgbClr val="C8102E"/>
                    </a:solidFill>
                  </a:tcPr>
                </a:tc>
              </a:tr>
              <a:tr h="224028">
                <a:tc>
                  <a:txBody>
                    <a:bodyPr/>
                    <a:lstStyle/>
                    <a:p>
                      <a:pPr algn="l">
                        <a:defRPr sz="760" b="0">
                          <a:solidFill>
                            <a:srgbClr val="4A4D55"/>
                          </a:solidFill>
                          <a:latin typeface="Poppins"/>
                        </a:defRPr>
                      </a:pPr>
                      <a:r>
                        <a:t>Average price paid</a:t>
                      </a:r>
                    </a:p>
                  </a:txBody>
                  <a:tcPr marL="54864" marR="54864" marT="13716" marB="13716" anchor="ctr">
                    <a:solidFill>
                      <a:srgbClr val="FFFFFF"/>
                    </a:solidFill>
                  </a:tcPr>
                </a:tc>
                <a:tc>
                  <a:txBody>
                    <a:bodyPr/>
                    <a:lstStyle/>
                    <a:p>
                      <a:pPr algn="r">
                        <a:defRPr sz="760" b="0">
                          <a:solidFill>
                            <a:srgbClr val="4A4D55"/>
                          </a:solidFill>
                          <a:latin typeface="Poppins"/>
                        </a:defRPr>
                      </a:pPr>
                      <a:r>
                        <a:t>$2,197</a:t>
                      </a:r>
                    </a:p>
                  </a:txBody>
                  <a:tcPr marL="54864" marR="54864" marT="13716" marB="13716" anchor="ctr">
                    <a:solidFill>
                      <a:srgbClr val="FFFFFF"/>
                    </a:solidFill>
                  </a:tcPr>
                </a:tc>
                <a:tc>
                  <a:txBody>
                    <a:bodyPr/>
                    <a:lstStyle/>
                    <a:p>
                      <a:pPr algn="r">
                        <a:defRPr sz="760" b="0">
                          <a:solidFill>
                            <a:srgbClr val="4A4D55"/>
                          </a:solidFill>
                          <a:latin typeface="Poppins"/>
                        </a:defRPr>
                      </a:pPr>
                      <a:r>
                        <a:t>$767</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Buying one month at a time</a:t>
                      </a:r>
                    </a:p>
                  </a:txBody>
                  <a:tcPr marL="54864" marR="54864" marT="13716" marB="13716" anchor="ctr">
                    <a:solidFill>
                      <a:srgbClr val="FFFFFF"/>
                    </a:solidFill>
                  </a:tcPr>
                </a:tc>
                <a:tc>
                  <a:txBody>
                    <a:bodyPr/>
                    <a:lstStyle/>
                    <a:p>
                      <a:pPr algn="r">
                        <a:defRPr sz="760" b="0">
                          <a:solidFill>
                            <a:srgbClr val="4A4D55"/>
                          </a:solidFill>
                          <a:latin typeface="Poppins"/>
                        </a:defRPr>
                      </a:pPr>
                      <a:r>
                        <a:t>$2,202</a:t>
                      </a:r>
                    </a:p>
                  </a:txBody>
                  <a:tcPr marL="54864" marR="54864" marT="13716" marB="13716" anchor="ctr">
                    <a:solidFill>
                      <a:srgbClr val="FFFFFF"/>
                    </a:solidFill>
                  </a:tcPr>
                </a:tc>
                <a:tc>
                  <a:txBody>
                    <a:bodyPr/>
                    <a:lstStyle/>
                    <a:p>
                      <a:pPr algn="r">
                        <a:defRPr sz="760" b="0">
                          <a:solidFill>
                            <a:srgbClr val="4A4D55"/>
                          </a:solidFill>
                          <a:latin typeface="Poppins"/>
                        </a:defRPr>
                      </a:pPr>
                      <a:r>
                        <a:t>$780</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Gross price saving</a:t>
                      </a:r>
                    </a:p>
                  </a:txBody>
                  <a:tcPr marL="54864" marR="54864" marT="13716" marB="13716" anchor="ctr">
                    <a:solidFill>
                      <a:srgbClr val="FFFFFF"/>
                    </a:solidFill>
                  </a:tcPr>
                </a:tc>
                <a:tc>
                  <a:txBody>
                    <a:bodyPr/>
                    <a:lstStyle/>
                    <a:p>
                      <a:pPr algn="r">
                        <a:defRPr sz="760" b="0">
                          <a:solidFill>
                            <a:srgbClr val="0F6B3F"/>
                          </a:solidFill>
                          <a:latin typeface="Poppins"/>
                        </a:defRPr>
                      </a:pPr>
                      <a:r>
                        <a:t>0.23%</a:t>
                      </a:r>
                    </a:p>
                  </a:txBody>
                  <a:tcPr marL="54864" marR="54864" marT="13716" marB="13716" anchor="ctr">
                    <a:solidFill>
                      <a:srgbClr val="FFFFFF"/>
                    </a:solidFill>
                  </a:tcPr>
                </a:tc>
                <a:tc>
                  <a:txBody>
                    <a:bodyPr/>
                    <a:lstStyle/>
                    <a:p>
                      <a:pPr algn="r">
                        <a:defRPr sz="760" b="0">
                          <a:solidFill>
                            <a:srgbClr val="0F6B3F"/>
                          </a:solidFill>
                          <a:latin typeface="Poppins"/>
                        </a:defRPr>
                      </a:pPr>
                      <a:r>
                        <a:t>1.70%</a:t>
                      </a:r>
                    </a:p>
                  </a:txBody>
                  <a:tcPr marL="54864" marR="54864" marT="13716" marB="13716" anchor="ctr">
                    <a:solidFill>
                      <a:srgbClr val="FFFFFF"/>
                    </a:solidFill>
                  </a:tcPr>
                </a:tc>
              </a:tr>
              <a:tr h="224028">
                <a:tc>
                  <a:txBody>
                    <a:bodyPr/>
                    <a:lstStyle/>
                    <a:p>
                      <a:pPr algn="l">
                        <a:defRPr sz="760" b="1">
                          <a:solidFill>
                            <a:srgbClr val="4A4D55"/>
                          </a:solidFill>
                          <a:latin typeface="Poppins"/>
                        </a:defRPr>
                      </a:pPr>
                      <a:r>
                        <a:t>Net saving after carrying cost</a:t>
                      </a:r>
                    </a:p>
                  </a:txBody>
                  <a:tcPr marL="54864" marR="54864" marT="13716" marB="13716" anchor="ctr">
                    <a:solidFill>
                      <a:srgbClr val="FDF2F4"/>
                    </a:solidFill>
                  </a:tcPr>
                </a:tc>
                <a:tc>
                  <a:txBody>
                    <a:bodyPr/>
                    <a:lstStyle/>
                    <a:p>
                      <a:pPr algn="r">
                        <a:defRPr sz="760" b="1">
                          <a:solidFill>
                            <a:srgbClr val="0F6B3F"/>
                          </a:solidFill>
                          <a:latin typeface="Poppins"/>
                        </a:defRPr>
                      </a:pPr>
                      <a:r>
                        <a:t>0.19%</a:t>
                      </a:r>
                    </a:p>
                  </a:txBody>
                  <a:tcPr marL="54864" marR="54864" marT="13716" marB="13716" anchor="ctr">
                    <a:solidFill>
                      <a:srgbClr val="FDF2F4"/>
                    </a:solidFill>
                  </a:tcPr>
                </a:tc>
                <a:tc>
                  <a:txBody>
                    <a:bodyPr/>
                    <a:lstStyle/>
                    <a:p>
                      <a:pPr algn="r">
                        <a:defRPr sz="760" b="1">
                          <a:solidFill>
                            <a:srgbClr val="0F6B3F"/>
                          </a:solidFill>
                          <a:latin typeface="Poppins"/>
                        </a:defRPr>
                      </a:pPr>
                      <a:r>
                        <a:t>1.68%</a:t>
                      </a:r>
                    </a:p>
                  </a:txBody>
                  <a:tcPr marL="54864" marR="54864" marT="13716" marB="13716" anchor="ctr">
                    <a:solidFill>
                      <a:srgbClr val="FDF2F4"/>
                    </a:solidFill>
                  </a:tcPr>
                </a:tc>
              </a:tr>
              <a:tr h="224028">
                <a:tc>
                  <a:txBody>
                    <a:bodyPr/>
                    <a:lstStyle/>
                    <a:p>
                      <a:pPr algn="l">
                        <a:defRPr sz="760" b="0">
                          <a:solidFill>
                            <a:srgbClr val="4A4D55"/>
                          </a:solidFill>
                          <a:latin typeface="Poppins"/>
                        </a:defRPr>
                      </a:pPr>
                      <a:r>
                        <a:t>Average inventory cover</a:t>
                      </a:r>
                    </a:p>
                  </a:txBody>
                  <a:tcPr marL="54864" marR="54864" marT="13716" marB="13716" anchor="ctr">
                    <a:solidFill>
                      <a:srgbClr val="FFFFFF"/>
                    </a:solidFill>
                  </a:tcPr>
                </a:tc>
                <a:tc>
                  <a:txBody>
                    <a:bodyPr/>
                    <a:lstStyle/>
                    <a:p>
                      <a:pPr algn="r">
                        <a:defRPr sz="760" b="0">
                          <a:solidFill>
                            <a:srgbClr val="4A4D55"/>
                          </a:solidFill>
                          <a:latin typeface="Poppins"/>
                        </a:defRPr>
                      </a:pPr>
                      <a:r>
                        <a:t>47.0 d</a:t>
                      </a:r>
                    </a:p>
                  </a:txBody>
                  <a:tcPr marL="54864" marR="54864" marT="13716" marB="13716" anchor="ctr">
                    <a:solidFill>
                      <a:srgbClr val="FFFFFF"/>
                    </a:solidFill>
                  </a:tcPr>
                </a:tc>
                <a:tc>
                  <a:txBody>
                    <a:bodyPr/>
                    <a:lstStyle/>
                    <a:p>
                      <a:pPr algn="r">
                        <a:defRPr sz="760" b="0">
                          <a:solidFill>
                            <a:srgbClr val="4A4D55"/>
                          </a:solidFill>
                          <a:latin typeface="Poppins"/>
                        </a:defRPr>
                      </a:pPr>
                      <a:r>
                        <a:t>45.2 d</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Change vs baseline</a:t>
                      </a:r>
                    </a:p>
                  </a:txBody>
                  <a:tcPr marL="54864" marR="54864" marT="13716" marB="13716" anchor="ctr">
                    <a:solidFill>
                      <a:srgbClr val="FFFFFF"/>
                    </a:solidFill>
                  </a:tcPr>
                </a:tc>
                <a:tc>
                  <a:txBody>
                    <a:bodyPr/>
                    <a:lstStyle/>
                    <a:p>
                      <a:pPr algn="r">
                        <a:defRPr sz="760" b="0">
                          <a:solidFill>
                            <a:srgbClr val="C8102E"/>
                          </a:solidFill>
                          <a:latin typeface="Poppins"/>
                        </a:defRPr>
                      </a:pPr>
                      <a:r>
                        <a:t>1.4 d</a:t>
                      </a:r>
                    </a:p>
                  </a:txBody>
                  <a:tcPr marL="54864" marR="54864" marT="13716" marB="13716" anchor="ctr">
                    <a:solidFill>
                      <a:srgbClr val="FFFFFF"/>
                    </a:solidFill>
                  </a:tcPr>
                </a:tc>
                <a:tc>
                  <a:txBody>
                    <a:bodyPr/>
                    <a:lstStyle/>
                    <a:p>
                      <a:pPr algn="r">
                        <a:defRPr sz="760" b="0">
                          <a:solidFill>
                            <a:srgbClr val="C8102E"/>
                          </a:solidFill>
                          <a:latin typeface="Poppins"/>
                        </a:defRPr>
                      </a:pPr>
                      <a:r>
                        <a:t>-0.5 d</a:t>
                      </a:r>
                    </a:p>
                  </a:txBody>
                  <a:tcPr marL="54864" marR="54864" marT="13716" marB="13716" anchor="ctr">
                    <a:solidFill>
                      <a:srgbClr val="FFFFFF"/>
                    </a:solidFill>
                  </a:tcPr>
                </a:tc>
              </a:tr>
              <a:tr h="224028">
                <a:tc>
                  <a:txBody>
                    <a:bodyPr/>
                    <a:lstStyle/>
                    <a:p>
                      <a:pPr algn="l">
                        <a:defRPr sz="760" b="0">
                          <a:solidFill>
                            <a:srgbClr val="4A4D55"/>
                          </a:solidFill>
                          <a:latin typeface="Poppins"/>
                        </a:defRPr>
                      </a:pPr>
                      <a:r>
                        <a:t>Working capital per ₹100 Cr</a:t>
                      </a:r>
                    </a:p>
                  </a:txBody>
                  <a:tcPr marL="54864" marR="54864" marT="13716" marB="13716" anchor="ctr">
                    <a:solidFill>
                      <a:srgbClr val="FFFFFF"/>
                    </a:solidFill>
                  </a:tcPr>
                </a:tc>
                <a:tc>
                  <a:txBody>
                    <a:bodyPr/>
                    <a:lstStyle/>
                    <a:p>
                      <a:pPr algn="r">
                        <a:defRPr sz="760" b="0">
                          <a:solidFill>
                            <a:srgbClr val="4A4D55"/>
                          </a:solidFill>
                          <a:latin typeface="Poppins"/>
                        </a:defRPr>
                      </a:pPr>
                      <a:r>
                        <a:t>−₹0.38 Cr</a:t>
                      </a:r>
                    </a:p>
                  </a:txBody>
                  <a:tcPr marL="54864" marR="54864" marT="13716" marB="13716" anchor="ctr">
                    <a:solidFill>
                      <a:srgbClr val="FFFFFF"/>
                    </a:solidFill>
                  </a:tcPr>
                </a:tc>
                <a:tc>
                  <a:txBody>
                    <a:bodyPr/>
                    <a:lstStyle/>
                    <a:p>
                      <a:pPr algn="r">
                        <a:defRPr sz="760" b="0">
                          <a:solidFill>
                            <a:srgbClr val="4A4D55"/>
                          </a:solidFill>
                          <a:latin typeface="Poppins"/>
                        </a:defRPr>
                      </a:pPr>
                      <a:r>
                        <a:t>−₹0.13 Cr</a:t>
                      </a:r>
                    </a:p>
                  </a:txBody>
                  <a:tcPr marL="54864" marR="54864" marT="13716" marB="13716" anchor="ctr">
                    <a:solidFill>
                      <a:srgbClr val="FFFFFF"/>
                    </a:solidFill>
                  </a:tcPr>
                </a:tc>
              </a:tr>
            </a:tbl>
          </a:graphicData>
        </a:graphic>
      </p:graphicFrame>
      <p:sp>
        <p:nvSpPr>
          <p:cNvPr id="33" name="TextBox 32"/>
          <p:cNvSpPr txBox="1"/>
          <p:nvPr/>
        </p:nvSpPr>
        <p:spPr>
          <a:xfrm>
            <a:off x="6537960" y="173736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PVC resin — cumulative saving and the signals that produced it</a:t>
            </a:r>
          </a:p>
        </p:txBody>
      </p:sp>
      <p:pic>
        <p:nvPicPr>
          <p:cNvPr id="34" name="Picture 33" descr="pvc_replay.png"/>
          <p:cNvPicPr>
            <a:picLocks noChangeAspect="1"/>
          </p:cNvPicPr>
          <p:nvPr/>
        </p:nvPicPr>
        <p:blipFill>
          <a:blip r:embed="rId2"/>
          <a:stretch>
            <a:fillRect/>
          </a:stretch>
        </p:blipFill>
        <p:spPr>
          <a:xfrm>
            <a:off x="6537960" y="1975104"/>
            <a:ext cx="5166360" cy="2850926"/>
          </a:xfrm>
          <a:prstGeom prst="rect">
            <a:avLst/>
          </a:prstGeom>
        </p:spPr>
      </p:pic>
      <p:cxnSp>
        <p:nvCxnSpPr>
          <p:cNvPr id="35" name="Connector 34"/>
          <p:cNvCxnSpPr/>
          <p:nvPr/>
        </p:nvCxnSpPr>
        <p:spPr>
          <a:xfrm>
            <a:off x="6537960" y="4434840"/>
            <a:ext cx="516636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537960" y="4572000"/>
            <a:ext cx="51663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The trade we are making, stated plainly</a:t>
            </a:r>
          </a:p>
        </p:txBody>
      </p:sp>
      <p:sp>
        <p:nvSpPr>
          <p:cNvPr id="37" name="TextBox 36"/>
          <p:cNvSpPr txBox="1"/>
          <p:nvPr/>
        </p:nvSpPr>
        <p:spPr>
          <a:xfrm>
            <a:off x="6537960" y="4846320"/>
            <a:ext cx="5166360" cy="128016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The rule buys earlier when it expects a rise, so average cover goes up: +1.4 days on aluminium and -0.5 days on PVC. It trades inventory days for price capture.</a:t>
            </a:r>
          </a:p>
          <a:p>
            <a:pPr algn="l">
              <a:lnSpc>
                <a:spcPct val="130000"/>
              </a:lnSpc>
              <a:defRPr sz="819" b="0" i="0">
                <a:solidFill>
                  <a:srgbClr val="4A4D55"/>
                </a:solidFill>
                <a:latin typeface="Poppins"/>
              </a:defRPr>
            </a:pPr>
          </a:p>
          <a:p>
            <a:pPr algn="l">
              <a:lnSpc>
                <a:spcPct val="130000"/>
              </a:lnSpc>
              <a:defRPr sz="819" b="0" i="0">
                <a:solidFill>
                  <a:srgbClr val="4A4D55"/>
                </a:solidFill>
                <a:latin typeface="Poppins"/>
              </a:defRPr>
            </a:pPr>
            <a:r>
              <a:t>That trade is already paid for. Carrying cost at 1% per month is subtracted inside the signal, so the net figures above — +0.19% and +1.68% — are after carry. On a ₹100 Cr PVC spend that is ₹1.68 Cr a year against about ₹0.13 Cr more working capital tied up.</a:t>
            </a:r>
          </a:p>
        </p:txBody>
      </p:sp>
      <p:sp>
        <p:nvSpPr>
          <p:cNvPr id="38" name="TextBox 37"/>
          <p:cNvSpPr txBox="1"/>
          <p:nvPr/>
        </p:nvSpPr>
        <p:spPr>
          <a:xfrm>
            <a:off x="6537960" y="6035040"/>
            <a:ext cx="5166360" cy="457200"/>
          </a:xfrm>
          <a:prstGeom prst="rect">
            <a:avLst/>
          </a:prstGeom>
          <a:noFill/>
        </p:spPr>
        <p:txBody>
          <a:bodyPr wrap="square" lIns="0" rIns="0" tIns="0" bIns="0">
            <a:spAutoFit/>
          </a:bodyPr>
          <a:lstStyle/>
          <a:p>
            <a:pPr algn="l">
              <a:lnSpc>
                <a:spcPct val="125000"/>
              </a:lnSpc>
              <a:defRPr sz="760" b="1" i="0">
                <a:solidFill>
                  <a:srgbClr val="C8102E"/>
                </a:solidFill>
                <a:latin typeface="Poppins"/>
              </a:defRPr>
            </a:pPr>
            <a:r>
              <a:t>The rule stays silent 95% of the time. It acts only when expected saving clears carry and confidence clears 60%.</a:t>
            </a:r>
          </a:p>
        </p:txBody>
      </p:sp>
      <p:sp>
        <p:nvSpPr>
          <p:cNvPr id="39" name="TextBox 38"/>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Method  Monthly requirement held constant at one unit; a proportional result is more honest than a fabricated demand curve, since we hold no ACG demand data. Cover is floored at 1 month and capped at 4, with a one-month lead time. Rupee figures are expressed per ₹100 Cr of annual spend for that material and use no ACG financial data.</a:t>
            </a:r>
          </a:p>
        </p:txBody>
      </p:sp>
      <p:sp>
        <p:nvSpPr>
          <p:cNvPr id="40" name="TextBox 39"/>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Rounded Rectangle 7"/>
          <p:cNvSpPr/>
          <p:nvPr/>
        </p:nvSpPr>
        <p:spPr>
          <a:xfrm>
            <a:off x="6922269"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Prototype</a:t>
            </a:r>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3  ·  P R O T O T Y P E</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A working decision desk, not a mock-up: every number on screen is a model output</a:t>
            </a:r>
          </a:p>
        </p:txBody>
      </p:sp>
      <p:sp>
        <p:nvSpPr>
          <p:cNvPr id="14" name="TextBox 13"/>
          <p:cNvSpPr txBox="1"/>
          <p:nvPr/>
        </p:nvSpPr>
        <p:spPr>
          <a:xfrm>
            <a:off x="502920" y="1783080"/>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What procurement opens each month</a:t>
            </a:r>
          </a:p>
        </p:txBody>
      </p:sp>
      <p:sp>
        <p:nvSpPr>
          <p:cNvPr id="15" name="TextBox 14"/>
          <p:cNvSpPr txBox="1"/>
          <p:nvPr/>
        </p:nvSpPr>
        <p:spPr>
          <a:xfrm>
            <a:off x="502920" y="2084831"/>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Recommendation</a:t>
            </a:r>
          </a:p>
        </p:txBody>
      </p:sp>
      <p:sp>
        <p:nvSpPr>
          <p:cNvPr id="16" name="TextBox 15"/>
          <p:cNvSpPr txBox="1"/>
          <p:nvPr/>
        </p:nvSpPr>
        <p:spPr>
          <a:xfrm>
            <a:off x="2194560" y="2084831"/>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Signal, expected saving net of carry, P(up), recommended cover, and the P10–P90 range, for any horizon from one to six months.</a:t>
            </a:r>
          </a:p>
        </p:txBody>
      </p:sp>
      <p:sp>
        <p:nvSpPr>
          <p:cNvPr id="17" name="TextBox 16"/>
          <p:cNvSpPr txBox="1"/>
          <p:nvPr/>
        </p:nvSpPr>
        <p:spPr>
          <a:xfrm>
            <a:off x="502920" y="2660903"/>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Price and forecast</a:t>
            </a:r>
          </a:p>
        </p:txBody>
      </p:sp>
      <p:sp>
        <p:nvSpPr>
          <p:cNvPr id="18" name="TextBox 17"/>
          <p:cNvSpPr txBox="1"/>
          <p:nvPr/>
        </p:nvSpPr>
        <p:spPr>
          <a:xfrm>
            <a:off x="2194560" y="2660903"/>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Three years of actuals, the six-month fan, and the naïve path shown alongside so the comparison is always visible.</a:t>
            </a:r>
          </a:p>
        </p:txBody>
      </p:sp>
      <p:sp>
        <p:nvSpPr>
          <p:cNvPr id="19" name="TextBox 18"/>
          <p:cNvSpPr txBox="1"/>
          <p:nvPr/>
        </p:nvSpPr>
        <p:spPr>
          <a:xfrm>
            <a:off x="502920" y="3236975"/>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Purchase order</a:t>
            </a:r>
          </a:p>
        </p:txBody>
      </p:sp>
      <p:sp>
        <p:nvSpPr>
          <p:cNvPr id="20" name="TextBox 19"/>
          <p:cNvSpPr txBox="1"/>
          <p:nvPr/>
        </p:nvSpPr>
        <p:spPr>
          <a:xfrm>
            <a:off x="2194560" y="3236975"/>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Cover × BoM − on-hand − in-transit, computed live from the buyer's own numbers, with the arithmetic shown.</a:t>
            </a:r>
          </a:p>
        </p:txBody>
      </p:sp>
      <p:sp>
        <p:nvSpPr>
          <p:cNvPr id="21" name="TextBox 20"/>
          <p:cNvSpPr txBox="1"/>
          <p:nvPr/>
        </p:nvSpPr>
        <p:spPr>
          <a:xfrm>
            <a:off x="502920" y="3813048"/>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Accuracy scorecard</a:t>
            </a:r>
          </a:p>
        </p:txBody>
      </p:sp>
      <p:sp>
        <p:nvSpPr>
          <p:cNvPr id="22" name="TextBox 21"/>
          <p:cNvSpPr txBox="1"/>
          <p:nvPr/>
        </p:nvSpPr>
        <p:spPr>
          <a:xfrm>
            <a:off x="2194560" y="3813048"/>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Model against naïve at every horizon, with the pre-set gate marked pass or miss.</a:t>
            </a:r>
          </a:p>
        </p:txBody>
      </p:sp>
      <p:sp>
        <p:nvSpPr>
          <p:cNvPr id="23" name="TextBox 22"/>
          <p:cNvSpPr txBox="1"/>
          <p:nvPr/>
        </p:nvSpPr>
        <p:spPr>
          <a:xfrm>
            <a:off x="502920" y="4389120"/>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Drivers</a:t>
            </a:r>
          </a:p>
        </p:txBody>
      </p:sp>
      <p:sp>
        <p:nvSpPr>
          <p:cNvPr id="24" name="TextBox 23"/>
          <p:cNvSpPr txBox="1"/>
          <p:nvPr/>
        </p:nvSpPr>
        <p:spPr>
          <a:xfrm>
            <a:off x="2194560" y="4389120"/>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Which indicators lead, by how many months, with FDR-corrected Granger significance flagged.</a:t>
            </a:r>
          </a:p>
        </p:txBody>
      </p:sp>
      <p:sp>
        <p:nvSpPr>
          <p:cNvPr id="25" name="TextBox 24"/>
          <p:cNvSpPr txBox="1"/>
          <p:nvPr/>
        </p:nvSpPr>
        <p:spPr>
          <a:xfrm>
            <a:off x="502920" y="4965192"/>
            <a:ext cx="1600200" cy="274320"/>
          </a:xfrm>
          <a:prstGeom prst="rect">
            <a:avLst/>
          </a:prstGeom>
          <a:noFill/>
        </p:spPr>
        <p:txBody>
          <a:bodyPr wrap="square" lIns="0" rIns="0" tIns="0" bIns="0">
            <a:spAutoFit/>
          </a:bodyPr>
          <a:lstStyle/>
          <a:p>
            <a:pPr algn="l">
              <a:lnSpc>
                <a:spcPct val="115000"/>
              </a:lnSpc>
              <a:defRPr sz="860" b="1" i="0">
                <a:solidFill>
                  <a:srgbClr val="C8102E"/>
                </a:solidFill>
                <a:latin typeface="Poppins"/>
              </a:defRPr>
            </a:pPr>
            <a:r>
              <a:t>Buying replay</a:t>
            </a:r>
          </a:p>
        </p:txBody>
      </p:sp>
      <p:sp>
        <p:nvSpPr>
          <p:cNvPr id="26" name="TextBox 25"/>
          <p:cNvSpPr txBox="1"/>
          <p:nvPr/>
        </p:nvSpPr>
        <p:spPr>
          <a:xfrm>
            <a:off x="2194560" y="4965192"/>
            <a:ext cx="3886200" cy="457200"/>
          </a:xfrm>
          <a:prstGeom prst="rect">
            <a:avLst/>
          </a:prstGeom>
          <a:noFill/>
        </p:spPr>
        <p:txBody>
          <a:bodyPr wrap="square" lIns="0" rIns="0" tIns="0" bIns="0">
            <a:spAutoFit/>
          </a:bodyPr>
          <a:lstStyle/>
          <a:p>
            <a:pPr algn="l">
              <a:lnSpc>
                <a:spcPct val="125000"/>
              </a:lnSpc>
              <a:defRPr sz="780" b="0" i="0">
                <a:solidFill>
                  <a:srgbClr val="4A4D55"/>
                </a:solidFill>
                <a:latin typeface="Poppins"/>
              </a:defRPr>
            </a:pPr>
            <a:r>
              <a:t>Cumulative saving against buying monthly, and the signal that produced it, month by month.</a:t>
            </a:r>
          </a:p>
        </p:txBody>
      </p:sp>
      <p:cxnSp>
        <p:nvCxnSpPr>
          <p:cNvPr id="27" name="Connector 26"/>
          <p:cNvCxnSpPr/>
          <p:nvPr/>
        </p:nvCxnSpPr>
        <p:spPr>
          <a:xfrm>
            <a:off x="502920" y="5449824"/>
            <a:ext cx="5577839"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5586983"/>
            <a:ext cx="557784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Built for the shadow pilot</a:t>
            </a:r>
          </a:p>
        </p:txBody>
      </p:sp>
      <p:sp>
        <p:nvSpPr>
          <p:cNvPr id="29" name="TextBox 28"/>
          <p:cNvSpPr txBox="1"/>
          <p:nvPr/>
        </p:nvSpPr>
        <p:spPr>
          <a:xfrm>
            <a:off x="502920" y="5861303"/>
            <a:ext cx="5577840" cy="731520"/>
          </a:xfrm>
          <a:prstGeom prst="rect">
            <a:avLst/>
          </a:prstGeom>
          <a:noFill/>
        </p:spPr>
        <p:txBody>
          <a:bodyPr wrap="square" lIns="0" rIns="0" tIns="0" bIns="0">
            <a:spAutoFit/>
          </a:bodyPr>
          <a:lstStyle/>
          <a:p>
            <a:pPr algn="l">
              <a:lnSpc>
                <a:spcPct val="130000"/>
              </a:lnSpc>
              <a:defRPr sz="819" b="0" i="0">
                <a:solidFill>
                  <a:srgbClr val="4A4D55"/>
                </a:solidFill>
                <a:latin typeface="Poppins"/>
              </a:defRPr>
            </a:pPr>
            <a:r>
              <a:t>In the pilot the pack goes to procurement and buyers decide exactly as they do today. We compare the signal against actual buys and track price capture. Nothing is risked, and the value is measured before any behaviour changes.</a:t>
            </a:r>
          </a:p>
        </p:txBody>
      </p:sp>
      <p:sp>
        <p:nvSpPr>
          <p:cNvPr id="30" name="Rectangle 29"/>
          <p:cNvSpPr/>
          <p:nvPr/>
        </p:nvSpPr>
        <p:spPr>
          <a:xfrm>
            <a:off x="6446520" y="1783080"/>
            <a:ext cx="5257800" cy="41605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dashboard_cropped.png"/>
          <p:cNvPicPr>
            <a:picLocks noChangeAspect="1"/>
          </p:cNvPicPr>
          <p:nvPr/>
        </p:nvPicPr>
        <p:blipFill>
          <a:blip r:embed="rId2"/>
          <a:stretch>
            <a:fillRect/>
          </a:stretch>
        </p:blipFill>
        <p:spPr>
          <a:xfrm>
            <a:off x="6446520" y="1783080"/>
            <a:ext cx="5257800" cy="3943350"/>
          </a:xfrm>
          <a:prstGeom prst="rect">
            <a:avLst/>
          </a:prstGeom>
        </p:spPr>
      </p:pic>
      <p:sp>
        <p:nvSpPr>
          <p:cNvPr id="32" name="TextBox 31"/>
          <p:cNvSpPr txBox="1"/>
          <p:nvPr/>
        </p:nvSpPr>
        <p:spPr>
          <a:xfrm>
            <a:off x="6446520" y="6053328"/>
            <a:ext cx="5257800" cy="457200"/>
          </a:xfrm>
          <a:prstGeom prst="rect">
            <a:avLst/>
          </a:prstGeom>
          <a:noFill/>
        </p:spPr>
        <p:txBody>
          <a:bodyPr wrap="square" lIns="0" rIns="0" tIns="0" bIns="0">
            <a:spAutoFit/>
          </a:bodyPr>
          <a:lstStyle/>
          <a:p>
            <a:pPr algn="l">
              <a:lnSpc>
                <a:spcPct val="125000"/>
              </a:lnSpc>
              <a:defRPr sz="760" b="1" i="0">
                <a:solidFill>
                  <a:srgbClr val="C8102E"/>
                </a:solidFill>
                <a:latin typeface="Poppins"/>
              </a:defRPr>
            </a:pPr>
            <a:r>
              <a:t>Every figure in the dashboard is read from the pipeline's output files. There are no illustrative values anywhere in it.</a:t>
            </a:r>
          </a:p>
        </p:txBody>
      </p:sp>
      <p:sp>
        <p:nvSpPr>
          <p:cNvPr id="33" name="TextBox 32"/>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Delivery: Single-page dashboard, hosted and shareable by link. Excel export and a REST hook into the ERP requisition step are specified but not built in this round.</a:t>
            </a:r>
          </a:p>
        </p:txBody>
      </p:sp>
      <p:sp>
        <p:nvSpPr>
          <p:cNvPr id="34" name="TextBox 33"/>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9" name="Rounded Rectangle 8"/>
          <p:cNvSpPr/>
          <p:nvPr/>
        </p:nvSpPr>
        <p:spPr>
          <a:xfrm>
            <a:off x="8520248"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Implementation</a:t>
            </a:r>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4  ·  I M P L E M E N T A T I O N</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90-day zero-capex shadow pilot: phased timeline, operating model, and success gates</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90-day shadow pilot — timeline and phases</a:t>
            </a:r>
          </a:p>
        </p:txBody>
      </p:sp>
      <p:sp>
        <p:nvSpPr>
          <p:cNvPr id="15" name="Rectangle 14"/>
          <p:cNvSpPr/>
          <p:nvPr/>
        </p:nvSpPr>
        <p:spPr>
          <a:xfrm>
            <a:off x="502920" y="2057400"/>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2057400"/>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130552"/>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Poppins"/>
              </a:defRPr>
            </a:pPr>
            <a:r>
              <a:t>Weeks 1–2</a:t>
            </a:r>
          </a:p>
        </p:txBody>
      </p:sp>
      <p:sp>
        <p:nvSpPr>
          <p:cNvPr id="18" name="TextBox 17"/>
          <p:cNvSpPr txBox="1"/>
          <p:nvPr/>
        </p:nvSpPr>
        <p:spPr>
          <a:xfrm>
            <a:off x="1828800" y="2130552"/>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Data Ingestion &amp; Pipeline Setup</a:t>
            </a:r>
          </a:p>
        </p:txBody>
      </p:sp>
      <p:sp>
        <p:nvSpPr>
          <p:cNvPr id="19" name="TextBox 18"/>
          <p:cNvSpPr txBox="1"/>
          <p:nvPr/>
        </p:nvSpPr>
        <p:spPr>
          <a:xfrm>
            <a:off x="640080" y="2350008"/>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Ingest 12–24 months of ACG PO history for aluminium and PVC resin to baseline price and volume curves.</a:t>
            </a:r>
          </a:p>
        </p:txBody>
      </p:sp>
      <p:sp>
        <p:nvSpPr>
          <p:cNvPr id="20" name="Rectangle 19"/>
          <p:cNvSpPr/>
          <p:nvPr/>
        </p:nvSpPr>
        <p:spPr>
          <a:xfrm>
            <a:off x="502920" y="2862072"/>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2920" y="2862072"/>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080" y="2935224"/>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Poppins"/>
              </a:defRPr>
            </a:pPr>
            <a:r>
              <a:t>Weeks 3–4</a:t>
            </a:r>
          </a:p>
        </p:txBody>
      </p:sp>
      <p:sp>
        <p:nvSpPr>
          <p:cNvPr id="23" name="TextBox 22"/>
          <p:cNvSpPr txBox="1"/>
          <p:nvPr/>
        </p:nvSpPr>
        <p:spPr>
          <a:xfrm>
            <a:off x="1828800" y="2935224"/>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Landed-Cost Overlay Calibration</a:t>
            </a:r>
          </a:p>
        </p:txBody>
      </p:sp>
      <p:sp>
        <p:nvSpPr>
          <p:cNvPr id="24" name="TextBox 23"/>
          <p:cNvSpPr txBox="1"/>
          <p:nvPr/>
        </p:nvSpPr>
        <p:spPr>
          <a:xfrm>
            <a:off x="640080" y="3154679"/>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Fit the landed-cost bridge (freight, FX, customs duty, port handling) against actual ACG invoice settlement prices.</a:t>
            </a:r>
          </a:p>
        </p:txBody>
      </p:sp>
      <p:sp>
        <p:nvSpPr>
          <p:cNvPr id="25" name="Rectangle 24"/>
          <p:cNvSpPr/>
          <p:nvPr/>
        </p:nvSpPr>
        <p:spPr>
          <a:xfrm>
            <a:off x="502920" y="3666744"/>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02920" y="3666744"/>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3739896"/>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Poppins"/>
              </a:defRPr>
            </a:pPr>
            <a:r>
              <a:t>Months 2–3</a:t>
            </a:r>
          </a:p>
        </p:txBody>
      </p:sp>
      <p:sp>
        <p:nvSpPr>
          <p:cNvPr id="28" name="TextBox 27"/>
          <p:cNvSpPr txBox="1"/>
          <p:nvPr/>
        </p:nvSpPr>
        <p:spPr>
          <a:xfrm>
            <a:off x="1828800" y="3739896"/>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Shadow Scoring &amp; Buyer Cadence</a:t>
            </a:r>
          </a:p>
        </p:txBody>
      </p:sp>
      <p:sp>
        <p:nvSpPr>
          <p:cNvPr id="29" name="TextBox 28"/>
          <p:cNvSpPr txBox="1"/>
          <p:nvPr/>
        </p:nvSpPr>
        <p:spPr>
          <a:xfrm>
            <a:off x="640080" y="3959352"/>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Bi-weekly forecast intelligence packs delivered to procurement; buyers decide as today while shadow P&amp;L savings are logged.</a:t>
            </a:r>
          </a:p>
        </p:txBody>
      </p:sp>
      <p:sp>
        <p:nvSpPr>
          <p:cNvPr id="30" name="Rectangle 29"/>
          <p:cNvSpPr/>
          <p:nvPr/>
        </p:nvSpPr>
        <p:spPr>
          <a:xfrm>
            <a:off x="502920" y="4471416"/>
            <a:ext cx="41148" cy="6949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02920" y="4471416"/>
            <a:ext cx="5394960" cy="694944"/>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4544568"/>
            <a:ext cx="1188720" cy="201168"/>
          </a:xfrm>
          <a:prstGeom prst="rect">
            <a:avLst/>
          </a:prstGeom>
          <a:noFill/>
        </p:spPr>
        <p:txBody>
          <a:bodyPr wrap="square" lIns="0" rIns="0" tIns="0" bIns="0">
            <a:spAutoFit/>
          </a:bodyPr>
          <a:lstStyle/>
          <a:p>
            <a:pPr algn="l">
              <a:lnSpc>
                <a:spcPct val="115000"/>
              </a:lnSpc>
              <a:defRPr sz="780" b="1" i="0">
                <a:solidFill>
                  <a:srgbClr val="C8102E"/>
                </a:solidFill>
                <a:latin typeface="Poppins"/>
              </a:defRPr>
            </a:pPr>
            <a:r>
              <a:t>Month 4</a:t>
            </a:r>
          </a:p>
        </p:txBody>
      </p:sp>
      <p:sp>
        <p:nvSpPr>
          <p:cNvPr id="33" name="TextBox 32"/>
          <p:cNvSpPr txBox="1"/>
          <p:nvPr/>
        </p:nvSpPr>
        <p:spPr>
          <a:xfrm>
            <a:off x="1828800" y="4544568"/>
            <a:ext cx="3931920" cy="201168"/>
          </a:xfrm>
          <a:prstGeom prst="rect">
            <a:avLst/>
          </a:prstGeom>
          <a:noFill/>
        </p:spPr>
        <p:txBody>
          <a:bodyPr wrap="square" lIns="0" rIns="0" tIns="0" bIns="0">
            <a:spAutoFit/>
          </a:bodyPr>
          <a:lstStyle/>
          <a:p>
            <a:pPr algn="l">
              <a:lnSpc>
                <a:spcPct val="115000"/>
              </a:lnSpc>
              <a:defRPr sz="880" b="1" i="0">
                <a:solidFill>
                  <a:srgbClr val="16181D"/>
                </a:solidFill>
                <a:latin typeface="Poppins"/>
              </a:defRPr>
            </a:pPr>
            <a:r>
              <a:t>Executive Review &amp; Go/No-Go Gate</a:t>
            </a:r>
          </a:p>
        </p:txBody>
      </p:sp>
      <p:sp>
        <p:nvSpPr>
          <p:cNvPr id="34" name="TextBox 33"/>
          <p:cNvSpPr txBox="1"/>
          <p:nvPr/>
        </p:nvSpPr>
        <p:spPr>
          <a:xfrm>
            <a:off x="640080" y="4764024"/>
            <a:ext cx="5120640" cy="365760"/>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Formal leadership evaluation against pre-set criteria; if passed, connect REST hook into SAP/ERP purchase requisition.</a:t>
            </a:r>
          </a:p>
        </p:txBody>
      </p:sp>
      <p:sp>
        <p:nvSpPr>
          <p:cNvPr id="35" name="TextBox 34"/>
          <p:cNvSpPr txBox="1"/>
          <p:nvPr/>
        </p:nvSpPr>
        <p:spPr>
          <a:xfrm>
            <a:off x="502920" y="5349240"/>
            <a:ext cx="5394960" cy="457200"/>
          </a:xfrm>
          <a:prstGeom prst="rect">
            <a:avLst/>
          </a:prstGeom>
          <a:noFill/>
        </p:spPr>
        <p:txBody>
          <a:bodyPr wrap="square" lIns="0" rIns="0" tIns="0" bIns="0">
            <a:spAutoFit/>
          </a:bodyPr>
          <a:lstStyle/>
          <a:p>
            <a:pPr algn="l">
              <a:lnSpc>
                <a:spcPct val="125000"/>
              </a:lnSpc>
              <a:defRPr sz="740" b="1" i="0">
                <a:solidFill>
                  <a:srgbClr val="C8102E"/>
                </a:solidFill>
                <a:latin typeface="Poppins"/>
              </a:defRPr>
            </a:pPr>
            <a:r>
              <a:t>Pilot cost: ₹0 capex. Runs entirely on open-source Python and free public macro data.</a:t>
            </a:r>
          </a:p>
          <a:p>
            <a:pPr algn="l">
              <a:lnSpc>
                <a:spcPct val="125000"/>
              </a:lnSpc>
              <a:defRPr sz="740" b="1" i="0">
                <a:solidFill>
                  <a:srgbClr val="C8102E"/>
                </a:solidFill>
                <a:latin typeface="Poppins"/>
              </a:defRPr>
            </a:pPr>
            <a:r>
              <a:t>People: 1 sourcing sponsor (~1 hr/month) + 1 buyer per commodity (~30 min/fortnight).</a:t>
            </a:r>
          </a:p>
        </p:txBody>
      </p:sp>
      <p:sp>
        <p:nvSpPr>
          <p:cNvPr id="36" name="TextBox 35"/>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Pre-set success gates (all 4 must pass for go-live)</a:t>
            </a:r>
          </a:p>
        </p:txBody>
      </p:sp>
      <p:graphicFrame>
        <p:nvGraphicFramePr>
          <p:cNvPr id="37" name="Table 36"/>
          <p:cNvGraphicFramePr>
            <a:graphicFrameLocks noGrp="1"/>
          </p:cNvGraphicFramePr>
          <p:nvPr/>
        </p:nvGraphicFramePr>
        <p:xfrm>
          <a:off x="6263640" y="2057400"/>
          <a:ext cx="5440680" cy="1627632"/>
        </p:xfrm>
        <a:graphic>
          <a:graphicData uri="http://schemas.openxmlformats.org/drawingml/2006/table">
            <a:tbl>
              <a:tblPr>
                <a:tableStyleId>{5C22544A-7EE6-4342-B048-85BDC9FD1C3A}</a:tableStyleId>
              </a:tblPr>
              <a:tblGrid>
                <a:gridCol w="1280160"/>
                <a:gridCol w="4160520"/>
              </a:tblGrid>
              <a:tr h="237744">
                <a:tc>
                  <a:txBody>
                    <a:bodyPr/>
                    <a:lstStyle/>
                    <a:p>
                      <a:pPr algn="l">
                        <a:defRPr sz="700" b="1">
                          <a:solidFill>
                            <a:srgbClr val="FFFFFF"/>
                          </a:solidFill>
                          <a:latin typeface="Poppins"/>
                        </a:defRPr>
                      </a:pPr>
                      <a:r>
                        <a:t>Gate</a:t>
                      </a:r>
                    </a:p>
                  </a:txBody>
                  <a:tcPr marL="54864" marR="54864" marT="18288" marB="18288" anchor="ctr">
                    <a:solidFill>
                      <a:srgbClr val="C8102E"/>
                    </a:solidFill>
                  </a:tcPr>
                </a:tc>
                <a:tc>
                  <a:txBody>
                    <a:bodyPr/>
                    <a:lstStyle/>
                    <a:p>
                      <a:pPr algn="r">
                        <a:defRPr sz="700" b="1">
                          <a:solidFill>
                            <a:srgbClr val="FFFFFF"/>
                          </a:solidFill>
                          <a:latin typeface="Poppins"/>
                        </a:defRPr>
                      </a:pPr>
                      <a:r>
                        <a:t>Pass Criterion</a:t>
                      </a:r>
                    </a:p>
                  </a:txBody>
                  <a:tcPr marL="54864" marR="54864" marT="18288" marB="18288" anchor="ctr">
                    <a:solidFill>
                      <a:srgbClr val="C8102E"/>
                    </a:solidFill>
                  </a:tcPr>
                </a:tc>
              </a:tr>
              <a:tr h="347472">
                <a:tc>
                  <a:txBody>
                    <a:bodyPr/>
                    <a:lstStyle/>
                    <a:p>
                      <a:pPr algn="l">
                        <a:defRPr sz="740" b="0">
                          <a:solidFill>
                            <a:srgbClr val="4A4D55"/>
                          </a:solidFill>
                          <a:latin typeface="Poppins"/>
                        </a:defRPr>
                      </a:pPr>
                      <a:r>
                        <a:t>Accuracy</a:t>
                      </a:r>
                    </a:p>
                  </a:txBody>
                  <a:tcPr marL="54864" marR="54864" marT="13716" marB="13716" anchor="ctr">
                    <a:solidFill>
                      <a:srgbClr val="FFFFFF"/>
                    </a:solidFill>
                  </a:tcPr>
                </a:tc>
                <a:tc>
                  <a:txBody>
                    <a:bodyPr/>
                    <a:lstStyle/>
                    <a:p>
                      <a:pPr algn="r">
                        <a:defRPr sz="740" b="0">
                          <a:solidFill>
                            <a:srgbClr val="4A4D55"/>
                          </a:solidFill>
                          <a:latin typeface="Poppins"/>
                        </a:defRPr>
                      </a:pPr>
                      <a:r>
                        <a:t>Walk-forward MAPE ≤ naïve baseline for all 3 pilot months</a:t>
                      </a:r>
                    </a:p>
                  </a:txBody>
                  <a:tcPr marL="54864" marR="54864" marT="13716" marB="13716" anchor="ctr">
                    <a:solidFill>
                      <a:srgbClr val="FFFFFF"/>
                    </a:solidFill>
                  </a:tcPr>
                </a:tc>
              </a:tr>
              <a:tr h="347472">
                <a:tc>
                  <a:txBody>
                    <a:bodyPr/>
                    <a:lstStyle/>
                    <a:p>
                      <a:pPr algn="l">
                        <a:defRPr sz="740" b="0">
                          <a:solidFill>
                            <a:srgbClr val="4A4D55"/>
                          </a:solidFill>
                          <a:latin typeface="Poppins"/>
                        </a:defRPr>
                      </a:pPr>
                      <a:r>
                        <a:t>Basis risk</a:t>
                      </a:r>
                    </a:p>
                  </a:txBody>
                  <a:tcPr marL="54864" marR="54864" marT="13716" marB="13716" anchor="ctr">
                    <a:solidFill>
                      <a:srgbClr val="FFFFFF"/>
                    </a:solidFill>
                  </a:tcPr>
                </a:tc>
                <a:tc>
                  <a:txBody>
                    <a:bodyPr/>
                    <a:lstStyle/>
                    <a:p>
                      <a:pPr algn="r">
                        <a:defRPr sz="740" b="0">
                          <a:solidFill>
                            <a:srgbClr val="4A4D55"/>
                          </a:solidFill>
                          <a:latin typeface="Poppins"/>
                        </a:defRPr>
                      </a:pPr>
                      <a:r>
                        <a:t>Landed overlay vs ACG actual invoice: difference &lt; 2.5%</a:t>
                      </a:r>
                    </a:p>
                  </a:txBody>
                  <a:tcPr marL="54864" marR="54864" marT="13716" marB="13716" anchor="ctr">
                    <a:solidFill>
                      <a:srgbClr val="FFFFFF"/>
                    </a:solidFill>
                  </a:tcPr>
                </a:tc>
              </a:tr>
              <a:tr h="347472">
                <a:tc>
                  <a:txBody>
                    <a:bodyPr/>
                    <a:lstStyle/>
                    <a:p>
                      <a:pPr algn="l">
                        <a:defRPr sz="740" b="0">
                          <a:solidFill>
                            <a:srgbClr val="4A4D55"/>
                          </a:solidFill>
                          <a:latin typeface="Poppins"/>
                        </a:defRPr>
                      </a:pPr>
                      <a:r>
                        <a:t>Shadow value</a:t>
                      </a:r>
                    </a:p>
                  </a:txBody>
                  <a:tcPr marL="54864" marR="54864" marT="13716" marB="13716" anchor="ctr">
                    <a:solidFill>
                      <a:srgbClr val="FFFFFF"/>
                    </a:solidFill>
                  </a:tcPr>
                </a:tc>
                <a:tc>
                  <a:txBody>
                    <a:bodyPr/>
                    <a:lstStyle/>
                    <a:p>
                      <a:pPr algn="r">
                        <a:defRPr sz="740" b="0">
                          <a:solidFill>
                            <a:srgbClr val="4A4D55"/>
                          </a:solidFill>
                          <a:latin typeface="Poppins"/>
                        </a:defRPr>
                      </a:pPr>
                      <a:r>
                        <a:t>Simulated decisions yield ≥ 1.0% net savings over baseline</a:t>
                      </a:r>
                    </a:p>
                  </a:txBody>
                  <a:tcPr marL="54864" marR="54864" marT="13716" marB="13716" anchor="ctr">
                    <a:solidFill>
                      <a:srgbClr val="FFFFFF"/>
                    </a:solidFill>
                  </a:tcPr>
                </a:tc>
              </a:tr>
              <a:tr h="347472">
                <a:tc>
                  <a:txBody>
                    <a:bodyPr/>
                    <a:lstStyle/>
                    <a:p>
                      <a:pPr algn="l">
                        <a:defRPr sz="740" b="0">
                          <a:solidFill>
                            <a:srgbClr val="4A4D55"/>
                          </a:solidFill>
                          <a:latin typeface="Poppins"/>
                        </a:defRPr>
                      </a:pPr>
                      <a:r>
                        <a:t>Buyer trust</a:t>
                      </a:r>
                    </a:p>
                  </a:txBody>
                  <a:tcPr marL="54864" marR="54864" marT="13716" marB="13716" anchor="ctr">
                    <a:solidFill>
                      <a:srgbClr val="FFFFFF"/>
                    </a:solidFill>
                  </a:tcPr>
                </a:tc>
                <a:tc>
                  <a:txBody>
                    <a:bodyPr/>
                    <a:lstStyle/>
                    <a:p>
                      <a:pPr algn="r">
                        <a:defRPr sz="740" b="0">
                          <a:solidFill>
                            <a:srgbClr val="4A4D55"/>
                          </a:solidFill>
                          <a:latin typeface="Poppins"/>
                        </a:defRPr>
                      </a:pPr>
                      <a:r>
                        <a:t>≥ 80% buyer agreement on driver explanations &amp; signals</a:t>
                      </a:r>
                    </a:p>
                  </a:txBody>
                  <a:tcPr marL="54864" marR="54864" marT="13716" marB="13716" anchor="ctr">
                    <a:solidFill>
                      <a:srgbClr val="FFFFFF"/>
                    </a:solidFill>
                  </a:tcPr>
                </a:tc>
              </a:tr>
            </a:tbl>
          </a:graphicData>
        </a:graphic>
      </p:graphicFrame>
      <p:sp>
        <p:nvSpPr>
          <p:cNvPr id="38" name="TextBox 37"/>
          <p:cNvSpPr txBox="1"/>
          <p:nvPr/>
        </p:nvSpPr>
        <p:spPr>
          <a:xfrm>
            <a:off x="6263640" y="388620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Fail-safe kill switches (automated stop criteria)</a:t>
            </a:r>
          </a:p>
        </p:txBody>
      </p:sp>
      <p:graphicFrame>
        <p:nvGraphicFramePr>
          <p:cNvPr id="39" name="Table 38"/>
          <p:cNvGraphicFramePr>
            <a:graphicFrameLocks noGrp="1"/>
          </p:cNvGraphicFramePr>
          <p:nvPr/>
        </p:nvGraphicFramePr>
        <p:xfrm>
          <a:off x="6263640" y="4160520"/>
          <a:ext cx="5440680" cy="1389888"/>
        </p:xfrm>
        <a:graphic>
          <a:graphicData uri="http://schemas.openxmlformats.org/drawingml/2006/table">
            <a:tbl>
              <a:tblPr>
                <a:tableStyleId>{5C22544A-7EE6-4342-B048-85BDC9FD1C3A}</a:tableStyleId>
              </a:tblPr>
              <a:tblGrid>
                <a:gridCol w="1371600"/>
                <a:gridCol w="4069080"/>
              </a:tblGrid>
              <a:tr h="237744">
                <a:tc>
                  <a:txBody>
                    <a:bodyPr/>
                    <a:lstStyle/>
                    <a:p>
                      <a:pPr algn="l">
                        <a:defRPr sz="680" b="1">
                          <a:solidFill>
                            <a:srgbClr val="FFFFFF"/>
                          </a:solidFill>
                          <a:latin typeface="Poppins"/>
                        </a:defRPr>
                      </a:pPr>
                      <a:r>
                        <a:t>Trigger</a:t>
                      </a:r>
                    </a:p>
                  </a:txBody>
                  <a:tcPr marL="54864" marR="54864" marT="18288" marB="18288" anchor="ctr">
                    <a:solidFill>
                      <a:srgbClr val="C8102E"/>
                    </a:solidFill>
                  </a:tcPr>
                </a:tc>
                <a:tc>
                  <a:txBody>
                    <a:bodyPr/>
                    <a:lstStyle/>
                    <a:p>
                      <a:pPr algn="r">
                        <a:defRPr sz="680" b="1">
                          <a:solidFill>
                            <a:srgbClr val="FFFFFF"/>
                          </a:solidFill>
                          <a:latin typeface="Poppins"/>
                        </a:defRPr>
                      </a:pPr>
                      <a:r>
                        <a:t>Automated Action</a:t>
                      </a:r>
                    </a:p>
                  </a:txBody>
                  <a:tcPr marL="54864" marR="54864" marT="18288" marB="18288" anchor="ctr">
                    <a:solidFill>
                      <a:srgbClr val="C8102E"/>
                    </a:solidFill>
                  </a:tcPr>
                </a:tc>
              </a:tr>
              <a:tr h="384048">
                <a:tc>
                  <a:txBody>
                    <a:bodyPr/>
                    <a:lstStyle/>
                    <a:p>
                      <a:pPr algn="l">
                        <a:defRPr sz="720" b="0">
                          <a:solidFill>
                            <a:srgbClr val="4A4D55"/>
                          </a:solidFill>
                          <a:latin typeface="Poppins"/>
                        </a:defRPr>
                      </a:pPr>
                      <a:r>
                        <a:t>Accuracy failure</a:t>
                      </a:r>
                    </a:p>
                  </a:txBody>
                  <a:tcPr marL="54864" marR="54864" marT="13716" marB="13716" anchor="ctr">
                    <a:solidFill>
                      <a:srgbClr val="FFFFFF"/>
                    </a:solidFill>
                  </a:tcPr>
                </a:tc>
                <a:tc>
                  <a:txBody>
                    <a:bodyPr/>
                    <a:lstStyle/>
                    <a:p>
                      <a:pPr algn="r">
                        <a:defRPr sz="720" b="0">
                          <a:solidFill>
                            <a:srgbClr val="4A4D55"/>
                          </a:solidFill>
                          <a:latin typeface="Poppins"/>
                        </a:defRPr>
                      </a:pPr>
                      <a:r>
                        <a:t>Model MAPE &gt; naïve for 2 consecutive months → freeze signals, revert to baseline buying</a:t>
                      </a:r>
                    </a:p>
                  </a:txBody>
                  <a:tcPr marL="54864" marR="54864" marT="13716" marB="13716" anchor="ctr">
                    <a:solidFill>
                      <a:srgbClr val="FFFFFF"/>
                    </a:solidFill>
                  </a:tcPr>
                </a:tc>
              </a:tr>
              <a:tr h="384048">
                <a:tc>
                  <a:txBody>
                    <a:bodyPr/>
                    <a:lstStyle/>
                    <a:p>
                      <a:pPr algn="l">
                        <a:defRPr sz="720" b="0">
                          <a:solidFill>
                            <a:srgbClr val="4A4D55"/>
                          </a:solidFill>
                          <a:latin typeface="Poppins"/>
                        </a:defRPr>
                      </a:pPr>
                      <a:r>
                        <a:t>Basis divergence</a:t>
                      </a:r>
                    </a:p>
                  </a:txBody>
                  <a:tcPr marL="54864" marR="54864" marT="13716" marB="13716" anchor="ctr">
                    <a:solidFill>
                      <a:srgbClr val="FFFFFF"/>
                    </a:solidFill>
                  </a:tcPr>
                </a:tc>
                <a:tc>
                  <a:txBody>
                    <a:bodyPr/>
                    <a:lstStyle/>
                    <a:p>
                      <a:pPr algn="r">
                        <a:defRPr sz="720" b="0">
                          <a:solidFill>
                            <a:srgbClr val="4A4D55"/>
                          </a:solidFill>
                          <a:latin typeface="Poppins"/>
                        </a:defRPr>
                      </a:pPr>
                      <a:r>
                        <a:t>Supplier quotes diverge &gt; 5% from overlay → pause and recalibrate before resuming</a:t>
                      </a:r>
                    </a:p>
                  </a:txBody>
                  <a:tcPr marL="54864" marR="54864" marT="13716" marB="13716" anchor="ctr">
                    <a:solidFill>
                      <a:srgbClr val="FFFFFF"/>
                    </a:solidFill>
                  </a:tcPr>
                </a:tc>
              </a:tr>
              <a:tr h="384048">
                <a:tc>
                  <a:txBody>
                    <a:bodyPr/>
                    <a:lstStyle/>
                    <a:p>
                      <a:pPr algn="l">
                        <a:defRPr sz="720" b="0">
                          <a:solidFill>
                            <a:srgbClr val="4A4D55"/>
                          </a:solidFill>
                          <a:latin typeface="Poppins"/>
                        </a:defRPr>
                      </a:pPr>
                      <a:r>
                        <a:t>Regime break</a:t>
                      </a:r>
                    </a:p>
                  </a:txBody>
                  <a:tcPr marL="54864" marR="54864" marT="13716" marB="13716" anchor="ctr">
                    <a:solidFill>
                      <a:srgbClr val="FFFFFF"/>
                    </a:solidFill>
                  </a:tcPr>
                </a:tc>
                <a:tc>
                  <a:txBody>
                    <a:bodyPr/>
                    <a:lstStyle/>
                    <a:p>
                      <a:pPr algn="r">
                        <a:defRPr sz="720" b="0">
                          <a:solidFill>
                            <a:srgbClr val="4A4D55"/>
                          </a:solidFill>
                          <a:latin typeface="Poppins"/>
                        </a:defRPr>
                      </a:pPr>
                      <a:r>
                        <a:t>Band coverage drops &lt; 50% → force all signals to BUY NORMAL (capital preservation mode)</a:t>
                      </a:r>
                    </a:p>
                  </a:txBody>
                  <a:tcPr marL="54864" marR="54864" marT="13716" marB="13716" anchor="ctr">
                    <a:solidFill>
                      <a:srgbClr val="FFFFFF"/>
                    </a:solidFill>
                  </a:tcPr>
                </a:tc>
              </a:tr>
            </a:tbl>
          </a:graphicData>
        </a:graphic>
      </p:graphicFrame>
      <p:sp>
        <p:nvSpPr>
          <p:cNvPr id="40" name="TextBox 39"/>
          <p:cNvSpPr txBox="1"/>
          <p:nvPr/>
        </p:nvSpPr>
        <p:spPr>
          <a:xfrm>
            <a:off x="6263640" y="5715000"/>
            <a:ext cx="5440680" cy="457200"/>
          </a:xfrm>
          <a:prstGeom prst="rect">
            <a:avLst/>
          </a:prstGeom>
          <a:noFill/>
        </p:spPr>
        <p:txBody>
          <a:bodyPr wrap="square" lIns="0" rIns="0" tIns="0" bIns="0">
            <a:spAutoFit/>
          </a:bodyPr>
          <a:lstStyle/>
          <a:p>
            <a:pPr algn="l">
              <a:lnSpc>
                <a:spcPct val="125000"/>
              </a:lnSpc>
              <a:defRPr sz="720" b="0" i="0">
                <a:solidFill>
                  <a:srgbClr val="4A4D55"/>
                </a:solidFill>
                <a:latin typeface="Poppins"/>
              </a:defRPr>
            </a:pPr>
            <a:r>
              <a:t>ERP Integration: Shadow pilot operates out-of-band with zero systems risk. Requisition hook into SAP is activated only after Month 4 executive review passes all 4 gates.</a:t>
            </a:r>
          </a:p>
        </p:txBody>
      </p:sp>
      <p:sp>
        <p:nvSpPr>
          <p:cNvPr id="41" name="TextBox 40"/>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Governance: Phased 90-day shadow pilot with zero capital outlay. Live buyer decisions remain unchanged while shadow savings are benchmarked.</a:t>
            </a:r>
          </a:p>
        </p:txBody>
      </p:sp>
      <p:sp>
        <p:nvSpPr>
          <p:cNvPr id="42" name="TextBox 41"/>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502920" y="274320"/>
            <a:ext cx="11185855" cy="365760"/>
          </a:xfrm>
          <a:prstGeom prst="roundRect">
            <a:avLst>
              <a:gd name="adj" fmla="val 50000"/>
            </a:avLst>
          </a:prstGeom>
          <a:solidFill>
            <a:srgbClr val="F1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Problem</a:t>
            </a:r>
          </a:p>
        </p:txBody>
      </p:sp>
      <p:sp>
        <p:nvSpPr>
          <p:cNvPr id="5" name="TextBox 4"/>
          <p:cNvSpPr txBox="1"/>
          <p:nvPr/>
        </p:nvSpPr>
        <p:spPr>
          <a:xfrm>
            <a:off x="2100899"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Drivers &amp; data</a:t>
            </a:r>
          </a:p>
        </p:txBody>
      </p:sp>
      <p:sp>
        <p:nvSpPr>
          <p:cNvPr id="6" name="TextBox 5"/>
          <p:cNvSpPr txBox="1"/>
          <p:nvPr/>
        </p:nvSpPr>
        <p:spPr>
          <a:xfrm>
            <a:off x="3698878"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Solution</a:t>
            </a:r>
          </a:p>
        </p:txBody>
      </p:sp>
      <p:sp>
        <p:nvSpPr>
          <p:cNvPr id="7" name="TextBox 6"/>
          <p:cNvSpPr txBox="1"/>
          <p:nvPr/>
        </p:nvSpPr>
        <p:spPr>
          <a:xfrm>
            <a:off x="529685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Validation</a:t>
            </a:r>
          </a:p>
        </p:txBody>
      </p:sp>
      <p:sp>
        <p:nvSpPr>
          <p:cNvPr id="8" name="TextBox 7"/>
          <p:cNvSpPr txBox="1"/>
          <p:nvPr/>
        </p:nvSpPr>
        <p:spPr>
          <a:xfrm>
            <a:off x="6894837"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Prototype</a:t>
            </a:r>
          </a:p>
        </p:txBody>
      </p:sp>
      <p:sp>
        <p:nvSpPr>
          <p:cNvPr id="9" name="TextBox 8"/>
          <p:cNvSpPr txBox="1"/>
          <p:nvPr/>
        </p:nvSpPr>
        <p:spPr>
          <a:xfrm>
            <a:off x="8492816" y="370332"/>
            <a:ext cx="1597979" cy="219456"/>
          </a:xfrm>
          <a:prstGeom prst="rect">
            <a:avLst/>
          </a:prstGeom>
          <a:noFill/>
        </p:spPr>
        <p:txBody>
          <a:bodyPr wrap="square" lIns="0" rIns="0" tIns="0" bIns="0">
            <a:spAutoFit/>
          </a:bodyPr>
          <a:lstStyle/>
          <a:p>
            <a:pPr algn="ctr">
              <a:lnSpc>
                <a:spcPct val="115000"/>
              </a:lnSpc>
              <a:defRPr sz="950" b="1" i="0">
                <a:solidFill>
                  <a:srgbClr val="4A4D55"/>
                </a:solidFill>
                <a:latin typeface="Poppins"/>
              </a:defRPr>
            </a:pPr>
            <a:r>
              <a:t>Implementation</a:t>
            </a:r>
          </a:p>
        </p:txBody>
      </p:sp>
      <p:sp>
        <p:nvSpPr>
          <p:cNvPr id="10" name="Rounded Rectangle 9"/>
          <p:cNvSpPr/>
          <p:nvPr/>
        </p:nvSpPr>
        <p:spPr>
          <a:xfrm>
            <a:off x="10118227" y="301751"/>
            <a:ext cx="1543115" cy="310896"/>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0795" y="370332"/>
            <a:ext cx="1597979" cy="219456"/>
          </a:xfrm>
          <a:prstGeom prst="rect">
            <a:avLst/>
          </a:prstGeom>
          <a:noFill/>
        </p:spPr>
        <p:txBody>
          <a:bodyPr wrap="square" lIns="0" rIns="0" tIns="0" bIns="0">
            <a:spAutoFit/>
          </a:bodyPr>
          <a:lstStyle/>
          <a:p>
            <a:pPr algn="ctr">
              <a:lnSpc>
                <a:spcPct val="115000"/>
              </a:lnSpc>
              <a:defRPr sz="950" b="1" i="0">
                <a:solidFill>
                  <a:srgbClr val="FFFFFF"/>
                </a:solidFill>
                <a:latin typeface="Poppins"/>
              </a:defRPr>
            </a:pPr>
            <a:r>
              <a:t>Risks &amp; roadmap</a:t>
            </a:r>
          </a:p>
        </p:txBody>
      </p:sp>
      <p:sp>
        <p:nvSpPr>
          <p:cNvPr id="12" name="TextBox 11"/>
          <p:cNvSpPr txBox="1"/>
          <p:nvPr/>
        </p:nvSpPr>
        <p:spPr>
          <a:xfrm>
            <a:off x="502920" y="804672"/>
            <a:ext cx="11185855" cy="182880"/>
          </a:xfrm>
          <a:prstGeom prst="rect">
            <a:avLst/>
          </a:prstGeom>
          <a:noFill/>
        </p:spPr>
        <p:txBody>
          <a:bodyPr wrap="square" lIns="0" rIns="0" tIns="0" bIns="0">
            <a:spAutoFit/>
          </a:bodyPr>
          <a:lstStyle/>
          <a:p>
            <a:pPr algn="l">
              <a:lnSpc>
                <a:spcPct val="115000"/>
              </a:lnSpc>
              <a:defRPr sz="750" b="1" i="0">
                <a:solidFill>
                  <a:srgbClr val="C8102E"/>
                </a:solidFill>
                <a:latin typeface="Poppins"/>
              </a:defRPr>
            </a:pPr>
            <a:r>
              <a:t>1 5  ·  R I S K S   &amp;   R O A D M A P</a:t>
            </a:r>
          </a:p>
        </p:txBody>
      </p:sp>
      <p:sp>
        <p:nvSpPr>
          <p:cNvPr id="13" name="TextBox 12"/>
          <p:cNvSpPr txBox="1"/>
          <p:nvPr/>
        </p:nvSpPr>
        <p:spPr>
          <a:xfrm>
            <a:off x="502920" y="969264"/>
            <a:ext cx="11185855" cy="566928"/>
          </a:xfrm>
          <a:prstGeom prst="rect">
            <a:avLst/>
          </a:prstGeom>
          <a:noFill/>
        </p:spPr>
        <p:txBody>
          <a:bodyPr wrap="square" lIns="0" rIns="0" tIns="0" bIns="0">
            <a:spAutoFit/>
          </a:bodyPr>
          <a:lstStyle/>
          <a:p>
            <a:pPr algn="l">
              <a:lnSpc>
                <a:spcPct val="112000"/>
              </a:lnSpc>
              <a:defRPr sz="1700" b="1" i="0">
                <a:solidFill>
                  <a:srgbClr val="16181D"/>
                </a:solidFill>
                <a:latin typeface="Poppins"/>
              </a:defRPr>
            </a:pPr>
            <a:r>
              <a:t>Landed-cost model defense, residual risk mitigations, scaling roadmap, and leadership ask</a:t>
            </a:r>
          </a:p>
        </p:txBody>
      </p:sp>
      <p:sp>
        <p:nvSpPr>
          <p:cNvPr id="14" name="TextBox 13"/>
          <p:cNvSpPr txBox="1"/>
          <p:nvPr/>
        </p:nvSpPr>
        <p:spPr>
          <a:xfrm>
            <a:off x="502920" y="17830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Landed-cost bridge: global index → ACG gate</a:t>
            </a:r>
          </a:p>
        </p:txBody>
      </p:sp>
      <p:sp>
        <p:nvSpPr>
          <p:cNvPr id="15" name="Rectangle 14"/>
          <p:cNvSpPr/>
          <p:nvPr/>
        </p:nvSpPr>
        <p:spPr>
          <a:xfrm>
            <a:off x="502920" y="2057400"/>
            <a:ext cx="5394960" cy="1417320"/>
          </a:xfrm>
          <a:prstGeom prst="rect">
            <a:avLst/>
          </a:prstGeom>
          <a:noFill/>
          <a:ln w="9525">
            <a:solidFill>
              <a:srgbClr val="E2E3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148840"/>
            <a:ext cx="5120640" cy="1234440"/>
          </a:xfrm>
          <a:prstGeom prst="rect">
            <a:avLst/>
          </a:prstGeom>
          <a:noFill/>
        </p:spPr>
        <p:txBody>
          <a:bodyPr wrap="square" lIns="0" rIns="0" tIns="0" bIns="0">
            <a:spAutoFit/>
          </a:bodyPr>
          <a:lstStyle/>
          <a:p>
            <a:pPr algn="l">
              <a:lnSpc>
                <a:spcPct val="128000"/>
              </a:lnSpc>
              <a:defRPr sz="760" b="0" i="0">
                <a:solidFill>
                  <a:srgbClr val="4A4D55"/>
                </a:solidFill>
                <a:latin typeface="Poppins"/>
              </a:defRPr>
            </a:pPr>
            <a:r>
              <a:t>Global benchmark (LME Aluminium / Asia CFR PVC in US$)</a:t>
            </a:r>
          </a:p>
          <a:p>
            <a:pPr algn="l">
              <a:lnSpc>
                <a:spcPct val="128000"/>
              </a:lnSpc>
              <a:defRPr sz="760" b="0" i="0">
                <a:solidFill>
                  <a:srgbClr val="4A4D55"/>
                </a:solidFill>
                <a:latin typeface="Poppins"/>
              </a:defRPr>
            </a:pPr>
            <a:r>
              <a:t>  + Ocean freight and bunker surcharges (Nhava Sheva / Mundra)</a:t>
            </a:r>
          </a:p>
          <a:p>
            <a:pPr algn="l">
              <a:lnSpc>
                <a:spcPct val="128000"/>
              </a:lnSpc>
              <a:defRPr sz="760" b="0" i="0">
                <a:solidFill>
                  <a:srgbClr val="4A4D55"/>
                </a:solidFill>
                <a:latin typeface="Poppins"/>
              </a:defRPr>
            </a:pPr>
            <a:r>
              <a:t>  + Material grade premium (pharma blister 8011 foil / suspension PVC)</a:t>
            </a:r>
          </a:p>
          <a:p>
            <a:pPr algn="l">
              <a:lnSpc>
                <a:spcPct val="128000"/>
              </a:lnSpc>
              <a:defRPr sz="760" b="0" i="0">
                <a:solidFill>
                  <a:srgbClr val="4A4D55"/>
                </a:solidFill>
                <a:latin typeface="Poppins"/>
              </a:defRPr>
            </a:pPr>
            <a:r>
              <a:t>  × (1 + Basic Customs Duty 7.5–10%) × (1 + SWS 10%) + ADD</a:t>
            </a:r>
          </a:p>
          <a:p>
            <a:pPr algn="l">
              <a:lnSpc>
                <a:spcPct val="128000"/>
              </a:lnSpc>
              <a:defRPr sz="760" b="0" i="0">
                <a:solidFill>
                  <a:srgbClr val="4A4D55"/>
                </a:solidFill>
                <a:latin typeface="Poppins"/>
              </a:defRPr>
            </a:pPr>
            <a:r>
              <a:t>  × USD/INR (contemporaneous pass-through, H4 confirmed)</a:t>
            </a:r>
          </a:p>
          <a:p>
            <a:pPr algn="l">
              <a:lnSpc>
                <a:spcPct val="128000"/>
              </a:lnSpc>
              <a:defRPr sz="760" b="0" i="0">
                <a:solidFill>
                  <a:srgbClr val="4A4D55"/>
                </a:solidFill>
                <a:latin typeface="Poppins"/>
              </a:defRPr>
            </a:pPr>
            <a:r>
              <a:t>  + Port handling, clearance and domestic plant delivery</a:t>
            </a:r>
          </a:p>
          <a:p>
            <a:pPr algn="l">
              <a:lnSpc>
                <a:spcPct val="128000"/>
              </a:lnSpc>
              <a:defRPr sz="760" b="0" i="0">
                <a:solidFill>
                  <a:srgbClr val="4A4D55"/>
                </a:solidFill>
                <a:latin typeface="Poppins"/>
              </a:defRPr>
            </a:pPr>
            <a:r>
              <a:t>  = ACG landed cost in ₹/MT</a:t>
            </a:r>
          </a:p>
        </p:txBody>
      </p:sp>
      <p:sp>
        <p:nvSpPr>
          <p:cNvPr id="17" name="TextBox 16"/>
          <p:cNvSpPr txBox="1"/>
          <p:nvPr/>
        </p:nvSpPr>
        <p:spPr>
          <a:xfrm>
            <a:off x="502920" y="3611880"/>
            <a:ext cx="539496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Why the bridge is defensible (5 key market drivers)</a:t>
            </a:r>
          </a:p>
        </p:txBody>
      </p:sp>
      <p:sp>
        <p:nvSpPr>
          <p:cNvPr id="18" name="TextBox 17"/>
          <p:cNvSpPr txBox="1"/>
          <p:nvPr/>
        </p:nvSpPr>
        <p:spPr>
          <a:xfrm>
            <a:off x="502920" y="3858768"/>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Poppins"/>
              </a:defRPr>
            </a:pPr>
            <a:r>
              <a:t>•</a:t>
            </a:r>
          </a:p>
        </p:txBody>
      </p:sp>
      <p:sp>
        <p:nvSpPr>
          <p:cNvPr id="19" name="TextBox 18"/>
          <p:cNvSpPr txBox="1"/>
          <p:nvPr/>
        </p:nvSpPr>
        <p:spPr>
          <a:xfrm>
            <a:off x="621792" y="3858768"/>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Import Parity Pricing (IPP): Domestic producers (Hindalco, Reliance) price strictly on import parity; when global index, freight or tariffs move, domestic list prices adjust within days.</a:t>
            </a:r>
          </a:p>
        </p:txBody>
      </p:sp>
      <p:sp>
        <p:nvSpPr>
          <p:cNvPr id="20" name="TextBox 19"/>
          <p:cNvSpPr txBox="1"/>
          <p:nvPr/>
        </p:nvSpPr>
        <p:spPr>
          <a:xfrm>
            <a:off x="502920" y="4206240"/>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Poppins"/>
              </a:defRPr>
            </a:pPr>
            <a:r>
              <a:t>•</a:t>
            </a:r>
          </a:p>
        </p:txBody>
      </p:sp>
      <p:sp>
        <p:nvSpPr>
          <p:cNvPr id="21" name="TextBox 20"/>
          <p:cNvSpPr txBox="1"/>
          <p:nvPr/>
        </p:nvSpPr>
        <p:spPr>
          <a:xfrm>
            <a:off x="621792" y="4206240"/>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Contemporaneous FX (H4): Rupee movements pass through directly at lag 0 (ρ = +0.89 correlation with domestic parity).</a:t>
            </a:r>
          </a:p>
        </p:txBody>
      </p:sp>
      <p:sp>
        <p:nvSpPr>
          <p:cNvPr id="22" name="TextBox 21"/>
          <p:cNvSpPr txBox="1"/>
          <p:nvPr/>
        </p:nvSpPr>
        <p:spPr>
          <a:xfrm>
            <a:off x="502920" y="4553712"/>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Poppins"/>
              </a:defRPr>
            </a:pPr>
            <a:r>
              <a:t>•</a:t>
            </a:r>
          </a:p>
        </p:txBody>
      </p:sp>
      <p:sp>
        <p:nvSpPr>
          <p:cNvPr id="23" name="TextBox 22"/>
          <p:cNvSpPr txBox="1"/>
          <p:nvPr/>
        </p:nvSpPr>
        <p:spPr>
          <a:xfrm>
            <a:off x="621792" y="4553712"/>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Protectionist Tariffs: BCD and Anti-Dumping Duties on PVC imports establish a structural domestic price floor.</a:t>
            </a:r>
          </a:p>
        </p:txBody>
      </p:sp>
      <p:sp>
        <p:nvSpPr>
          <p:cNvPr id="24" name="TextBox 23"/>
          <p:cNvSpPr txBox="1"/>
          <p:nvPr/>
        </p:nvSpPr>
        <p:spPr>
          <a:xfrm>
            <a:off x="502920" y="4901183"/>
            <a:ext cx="91440" cy="182880"/>
          </a:xfrm>
          <a:prstGeom prst="rect">
            <a:avLst/>
          </a:prstGeom>
          <a:noFill/>
        </p:spPr>
        <p:txBody>
          <a:bodyPr wrap="square" lIns="0" rIns="0" tIns="0" bIns="0">
            <a:spAutoFit/>
          </a:bodyPr>
          <a:lstStyle/>
          <a:p>
            <a:pPr algn="l">
              <a:lnSpc>
                <a:spcPct val="115000"/>
              </a:lnSpc>
              <a:defRPr sz="720" b="0" i="0">
                <a:solidFill>
                  <a:srgbClr val="C8102E"/>
                </a:solidFill>
                <a:latin typeface="Poppins"/>
              </a:defRPr>
            </a:pPr>
            <a:r>
              <a:t>•</a:t>
            </a:r>
          </a:p>
        </p:txBody>
      </p:sp>
      <p:sp>
        <p:nvSpPr>
          <p:cNvPr id="25" name="TextBox 24"/>
          <p:cNvSpPr txBox="1"/>
          <p:nvPr/>
        </p:nvSpPr>
        <p:spPr>
          <a:xfrm>
            <a:off x="621792" y="4901183"/>
            <a:ext cx="5276088" cy="384048"/>
          </a:xfrm>
          <a:prstGeom prst="rect">
            <a:avLst/>
          </a:prstGeom>
          <a:noFill/>
        </p:spPr>
        <p:txBody>
          <a:bodyPr wrap="square" lIns="0" rIns="0" tIns="0" bIns="0">
            <a:spAutoFit/>
          </a:bodyPr>
          <a:lstStyle/>
          <a:p>
            <a:pPr algn="l">
              <a:lnSpc>
                <a:spcPct val="120000"/>
              </a:lnSpc>
              <a:defRPr sz="720" b="0" i="0">
                <a:solidFill>
                  <a:srgbClr val="4A4D55"/>
                </a:solidFill>
                <a:latin typeface="Poppins"/>
              </a:defRPr>
            </a:pPr>
            <a:r>
              <a:t>Global Macro Dominance: Global drivers account for ~85–90% of price variance; the remaining 10–15% local basis spread is calibrated via ACG PO history in Phase 1.</a:t>
            </a:r>
          </a:p>
        </p:txBody>
      </p:sp>
      <p:sp>
        <p:nvSpPr>
          <p:cNvPr id="26" name="TextBox 25"/>
          <p:cNvSpPr txBox="1"/>
          <p:nvPr/>
        </p:nvSpPr>
        <p:spPr>
          <a:xfrm>
            <a:off x="6263640" y="178308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Residual risks we carry &amp; proactive mitigations</a:t>
            </a:r>
          </a:p>
        </p:txBody>
      </p:sp>
      <p:graphicFrame>
        <p:nvGraphicFramePr>
          <p:cNvPr id="27" name="Table 26"/>
          <p:cNvGraphicFramePr>
            <a:graphicFrameLocks noGrp="1"/>
          </p:cNvGraphicFramePr>
          <p:nvPr/>
        </p:nvGraphicFramePr>
        <p:xfrm>
          <a:off x="6263640" y="2057400"/>
          <a:ext cx="5440680" cy="1517904"/>
        </p:xfrm>
        <a:graphic>
          <a:graphicData uri="http://schemas.openxmlformats.org/drawingml/2006/table">
            <a:tbl>
              <a:tblPr>
                <a:tableStyleId>{5C22544A-7EE6-4342-B048-85BDC9FD1C3A}</a:tableStyleId>
              </a:tblPr>
              <a:tblGrid>
                <a:gridCol w="1234440"/>
                <a:gridCol w="1554480"/>
                <a:gridCol w="2651760"/>
              </a:tblGrid>
              <a:tr h="237744">
                <a:tc>
                  <a:txBody>
                    <a:bodyPr/>
                    <a:lstStyle/>
                    <a:p>
                      <a:pPr algn="l">
                        <a:defRPr sz="660" b="1">
                          <a:solidFill>
                            <a:srgbClr val="FFFFFF"/>
                          </a:solidFill>
                          <a:latin typeface="Poppins"/>
                        </a:defRPr>
                      </a:pPr>
                      <a:r>
                        <a:t>Risk</a:t>
                      </a:r>
                    </a:p>
                  </a:txBody>
                  <a:tcPr marL="54864" marR="54864" marT="18288" marB="18288" anchor="ctr">
                    <a:solidFill>
                      <a:srgbClr val="C8102E"/>
                    </a:solidFill>
                  </a:tcPr>
                </a:tc>
                <a:tc>
                  <a:txBody>
                    <a:bodyPr/>
                    <a:lstStyle/>
                    <a:p>
                      <a:pPr algn="l">
                        <a:defRPr sz="660" b="1">
                          <a:solidFill>
                            <a:srgbClr val="FFFFFF"/>
                          </a:solidFill>
                          <a:latin typeface="Poppins"/>
                        </a:defRPr>
                      </a:pPr>
                      <a:r>
                        <a:t>Current State</a:t>
                      </a:r>
                    </a:p>
                  </a:txBody>
                  <a:tcPr marL="54864" marR="54864" marT="18288" marB="18288" anchor="ctr">
                    <a:solidFill>
                      <a:srgbClr val="C8102E"/>
                    </a:solidFill>
                  </a:tcPr>
                </a:tc>
                <a:tc>
                  <a:txBody>
                    <a:bodyPr/>
                    <a:lstStyle/>
                    <a:p>
                      <a:pPr algn="r">
                        <a:defRPr sz="660" b="1">
                          <a:solidFill>
                            <a:srgbClr val="FFFFFF"/>
                          </a:solidFill>
                          <a:latin typeface="Poppins"/>
                        </a:defRPr>
                      </a:pPr>
                      <a:r>
                        <a:t>Mitigation</a:t>
                      </a:r>
                    </a:p>
                  </a:txBody>
                  <a:tcPr marL="54864" marR="54864" marT="18288" marB="18288" anchor="ctr">
                    <a:solidFill>
                      <a:srgbClr val="C8102E"/>
                    </a:solidFill>
                  </a:tcPr>
                </a:tc>
              </a:tr>
              <a:tr h="320040">
                <a:tc>
                  <a:txBody>
                    <a:bodyPr/>
                    <a:lstStyle/>
                    <a:p>
                      <a:pPr algn="l">
                        <a:defRPr sz="680" b="0">
                          <a:solidFill>
                            <a:srgbClr val="4A4D55"/>
                          </a:solidFill>
                          <a:latin typeface="Poppins"/>
                        </a:defRPr>
                      </a:pPr>
                      <a:r>
                        <a:t>PVC proxy quality</a:t>
                      </a:r>
                    </a:p>
                  </a:txBody>
                  <a:tcPr marL="54864" marR="54864" marT="13716" marB="13716" anchor="ctr">
                    <a:solidFill>
                      <a:srgbClr val="FFFFFF"/>
                    </a:solidFill>
                  </a:tcPr>
                </a:tc>
                <a:tc>
                  <a:txBody>
                    <a:bodyPr/>
                    <a:lstStyle/>
                    <a:p>
                      <a:pPr algn="l">
                        <a:defRPr sz="680" b="0">
                          <a:solidFill>
                            <a:srgbClr val="4A4D55"/>
                          </a:solidFill>
                          <a:latin typeface="Poppins"/>
                        </a:defRPr>
                      </a:pPr>
                      <a:r>
                        <a:t>No free Asian spot index</a:t>
                      </a:r>
                    </a:p>
                  </a:txBody>
                  <a:tcPr marL="54864" marR="54864" marT="13716" marB="13716" anchor="ctr">
                    <a:solidFill>
                      <a:srgbClr val="FFFFFF"/>
                    </a:solidFill>
                  </a:tcPr>
                </a:tc>
                <a:tc>
                  <a:txBody>
                    <a:bodyPr/>
                    <a:lstStyle/>
                    <a:p>
                      <a:pPr algn="r">
                        <a:defRPr sz="680" b="0">
                          <a:solidFill>
                            <a:srgbClr val="4A4D55"/>
                          </a:solidFill>
                          <a:latin typeface="Poppins"/>
                        </a:defRPr>
                      </a:pPr>
                      <a:r>
                        <a:t>Public proxy modelled; overlay calibrated on ACG POs</a:t>
                      </a:r>
                    </a:p>
                  </a:txBody>
                  <a:tcPr marL="54864" marR="54864" marT="13716" marB="13716" anchor="ctr">
                    <a:solidFill>
                      <a:srgbClr val="FFFFFF"/>
                    </a:solidFill>
                  </a:tcPr>
                </a:tc>
              </a:tr>
              <a:tr h="320040">
                <a:tc>
                  <a:txBody>
                    <a:bodyPr/>
                    <a:lstStyle/>
                    <a:p>
                      <a:pPr algn="l">
                        <a:defRPr sz="680" b="0">
                          <a:solidFill>
                            <a:srgbClr val="4A4D55"/>
                          </a:solidFill>
                          <a:latin typeface="Poppins"/>
                        </a:defRPr>
                      </a:pPr>
                      <a:r>
                        <a:t>Band under-coverage</a:t>
                      </a:r>
                    </a:p>
                  </a:txBody>
                  <a:tcPr marL="54864" marR="54864" marT="13716" marB="13716" anchor="ctr">
                    <a:solidFill>
                      <a:srgbClr val="FFFFFF"/>
                    </a:solidFill>
                  </a:tcPr>
                </a:tc>
                <a:tc>
                  <a:txBody>
                    <a:bodyPr/>
                    <a:lstStyle/>
                    <a:p>
                      <a:pPr algn="l">
                        <a:defRPr sz="680" b="0">
                          <a:solidFill>
                            <a:srgbClr val="4A4D55"/>
                          </a:solidFill>
                          <a:latin typeface="Poppins"/>
                        </a:defRPr>
                      </a:pPr>
                      <a:r>
                        <a:t>55–65% vs 75–85% gate</a:t>
                      </a:r>
                    </a:p>
                  </a:txBody>
                  <a:tcPr marL="54864" marR="54864" marT="13716" marB="13716" anchor="ctr">
                    <a:solidFill>
                      <a:srgbClr val="FFFFFF"/>
                    </a:solidFill>
                  </a:tcPr>
                </a:tc>
                <a:tc>
                  <a:txBody>
                    <a:bodyPr/>
                    <a:lstStyle/>
                    <a:p>
                      <a:pPr algn="r">
                        <a:defRPr sz="680" b="0">
                          <a:solidFill>
                            <a:srgbClr val="4A4D55"/>
                          </a:solidFill>
                          <a:latin typeface="Poppins"/>
                        </a:defRPr>
                      </a:pPr>
                      <a:r>
                        <a:t>Conformal quantile regression recalibrated by regime</a:t>
                      </a:r>
                    </a:p>
                  </a:txBody>
                  <a:tcPr marL="54864" marR="54864" marT="13716" marB="13716" anchor="ctr">
                    <a:solidFill>
                      <a:srgbClr val="FFFFFF"/>
                    </a:solidFill>
                  </a:tcPr>
                </a:tc>
              </a:tr>
              <a:tr h="320040">
                <a:tc>
                  <a:txBody>
                    <a:bodyPr/>
                    <a:lstStyle/>
                    <a:p>
                      <a:pPr algn="l">
                        <a:defRPr sz="680" b="0">
                          <a:solidFill>
                            <a:srgbClr val="4A4D55"/>
                          </a:solidFill>
                          <a:latin typeface="Poppins"/>
                        </a:defRPr>
                      </a:pPr>
                      <a:r>
                        <a:t>Basis divergence</a:t>
                      </a:r>
                    </a:p>
                  </a:txBody>
                  <a:tcPr marL="54864" marR="54864" marT="13716" marB="13716" anchor="ctr">
                    <a:solidFill>
                      <a:srgbClr val="FFFFFF"/>
                    </a:solidFill>
                  </a:tcPr>
                </a:tc>
                <a:tc>
                  <a:txBody>
                    <a:bodyPr/>
                    <a:lstStyle/>
                    <a:p>
                      <a:pPr algn="l">
                        <a:defRPr sz="680" b="0">
                          <a:solidFill>
                            <a:srgbClr val="4A4D55"/>
                          </a:solidFill>
                          <a:latin typeface="Poppins"/>
                        </a:defRPr>
                      </a:pPr>
                      <a:r>
                        <a:t>Local premiums fluctuate</a:t>
                      </a:r>
                    </a:p>
                  </a:txBody>
                  <a:tcPr marL="54864" marR="54864" marT="13716" marB="13716" anchor="ctr">
                    <a:solidFill>
                      <a:srgbClr val="FFFFFF"/>
                    </a:solidFill>
                  </a:tcPr>
                </a:tc>
                <a:tc>
                  <a:txBody>
                    <a:bodyPr/>
                    <a:lstStyle/>
                    <a:p>
                      <a:pPr algn="r">
                        <a:defRPr sz="680" b="0">
                          <a:solidFill>
                            <a:srgbClr val="4A4D55"/>
                          </a:solidFill>
                          <a:latin typeface="Poppins"/>
                        </a:defRPr>
                      </a:pPr>
                      <a:r>
                        <a:t>Automated &gt; 5% spread divergence alarm halts buys</a:t>
                      </a:r>
                    </a:p>
                  </a:txBody>
                  <a:tcPr marL="54864" marR="54864" marT="13716" marB="13716" anchor="ctr">
                    <a:solidFill>
                      <a:srgbClr val="FFFFFF"/>
                    </a:solidFill>
                  </a:tcPr>
                </a:tc>
              </a:tr>
              <a:tr h="320040">
                <a:tc>
                  <a:txBody>
                    <a:bodyPr/>
                    <a:lstStyle/>
                    <a:p>
                      <a:pPr algn="l">
                        <a:defRPr sz="680" b="0">
                          <a:solidFill>
                            <a:srgbClr val="4A4D55"/>
                          </a:solidFill>
                          <a:latin typeface="Poppins"/>
                        </a:defRPr>
                      </a:pPr>
                      <a:r>
                        <a:t>Regime breaks</a:t>
                      </a:r>
                    </a:p>
                  </a:txBody>
                  <a:tcPr marL="54864" marR="54864" marT="13716" marB="13716" anchor="ctr">
                    <a:solidFill>
                      <a:srgbClr val="FFFFFF"/>
                    </a:solidFill>
                  </a:tcPr>
                </a:tc>
                <a:tc>
                  <a:txBody>
                    <a:bodyPr/>
                    <a:lstStyle/>
                    <a:p>
                      <a:pPr algn="l">
                        <a:defRPr sz="680" b="0">
                          <a:solidFill>
                            <a:srgbClr val="4A4D55"/>
                          </a:solidFill>
                          <a:latin typeface="Poppins"/>
                        </a:defRPr>
                      </a:pPr>
                      <a:r>
                        <a:t>Coverage drops in shocks</a:t>
                      </a:r>
                    </a:p>
                  </a:txBody>
                  <a:tcPr marL="54864" marR="54864" marT="13716" marB="13716" anchor="ctr">
                    <a:solidFill>
                      <a:srgbClr val="FFFFFF"/>
                    </a:solidFill>
                  </a:tcPr>
                </a:tc>
                <a:tc>
                  <a:txBody>
                    <a:bodyPr/>
                    <a:lstStyle/>
                    <a:p>
                      <a:pPr algn="r">
                        <a:defRPr sz="680" b="0">
                          <a:solidFill>
                            <a:srgbClr val="4A4D55"/>
                          </a:solidFill>
                          <a:latin typeface="Poppins"/>
                        </a:defRPr>
                      </a:pPr>
                      <a:r>
                        <a:t>Kill-switch forces BUY NORMAL (capital preservation)</a:t>
                      </a:r>
                    </a:p>
                  </a:txBody>
                  <a:tcPr marL="54864" marR="54864" marT="13716" marB="13716" anchor="ctr">
                    <a:solidFill>
                      <a:srgbClr val="FFFFFF"/>
                    </a:solidFill>
                  </a:tcPr>
                </a:tc>
              </a:tr>
            </a:tbl>
          </a:graphicData>
        </a:graphic>
      </p:graphicFrame>
      <p:sp>
        <p:nvSpPr>
          <p:cNvPr id="28" name="TextBox 27"/>
          <p:cNvSpPr txBox="1"/>
          <p:nvPr/>
        </p:nvSpPr>
        <p:spPr>
          <a:xfrm>
            <a:off x="6263640" y="3703320"/>
            <a:ext cx="544068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Post-pilot scalability roadmap</a:t>
            </a:r>
          </a:p>
        </p:txBody>
      </p:sp>
      <p:sp>
        <p:nvSpPr>
          <p:cNvPr id="29" name="Rectangle 28"/>
          <p:cNvSpPr/>
          <p:nvPr/>
        </p:nvSpPr>
        <p:spPr>
          <a:xfrm>
            <a:off x="6263640" y="3977639"/>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82512" y="3995927"/>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Poppins"/>
              </a:defRPr>
            </a:pPr>
            <a:r>
              <a:t>Months 5–6</a:t>
            </a:r>
          </a:p>
        </p:txBody>
      </p:sp>
      <p:sp>
        <p:nvSpPr>
          <p:cNvPr id="31" name="TextBox 30"/>
          <p:cNvSpPr txBox="1"/>
          <p:nvPr/>
        </p:nvSpPr>
        <p:spPr>
          <a:xfrm>
            <a:off x="7406640" y="3995927"/>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ERP Requisition Integration</a:t>
            </a:r>
          </a:p>
        </p:txBody>
      </p:sp>
      <p:sp>
        <p:nvSpPr>
          <p:cNvPr id="32" name="TextBox 31"/>
          <p:cNvSpPr txBox="1"/>
          <p:nvPr/>
        </p:nvSpPr>
        <p:spPr>
          <a:xfrm>
            <a:off x="7406640" y="4178807"/>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Poppins"/>
              </a:defRPr>
            </a:pPr>
            <a:r>
              <a:t>Direct API hook into SAP/Oracle purchase requisition creation.</a:t>
            </a:r>
          </a:p>
        </p:txBody>
      </p:sp>
      <p:sp>
        <p:nvSpPr>
          <p:cNvPr id="33" name="Rectangle 32"/>
          <p:cNvSpPr/>
          <p:nvPr/>
        </p:nvSpPr>
        <p:spPr>
          <a:xfrm>
            <a:off x="6263640" y="4453127"/>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2512" y="4471415"/>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Poppins"/>
              </a:defRPr>
            </a:pPr>
            <a:r>
              <a:t>Months 7–9</a:t>
            </a:r>
          </a:p>
        </p:txBody>
      </p:sp>
      <p:sp>
        <p:nvSpPr>
          <p:cNvPr id="35" name="TextBox 34"/>
          <p:cNvSpPr txBox="1"/>
          <p:nvPr/>
        </p:nvSpPr>
        <p:spPr>
          <a:xfrm>
            <a:off x="7406640" y="4471415"/>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Expand Packaging Materials</a:t>
            </a:r>
          </a:p>
        </p:txBody>
      </p:sp>
      <p:sp>
        <p:nvSpPr>
          <p:cNvPr id="36" name="TextBox 35"/>
          <p:cNvSpPr txBox="1"/>
          <p:nvPr/>
        </p:nvSpPr>
        <p:spPr>
          <a:xfrm>
            <a:off x="7406640" y="4654295"/>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Poppins"/>
              </a:defRPr>
            </a:pPr>
            <a:r>
              <a:t>Extend pipeline to Cold-Form laminates, PVDC, and auxiliary foils.</a:t>
            </a:r>
          </a:p>
        </p:txBody>
      </p:sp>
      <p:sp>
        <p:nvSpPr>
          <p:cNvPr id="37" name="Rectangle 36"/>
          <p:cNvSpPr/>
          <p:nvPr/>
        </p:nvSpPr>
        <p:spPr>
          <a:xfrm>
            <a:off x="6263640" y="4928616"/>
            <a:ext cx="32004" cy="40233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82512" y="4946903"/>
            <a:ext cx="1005840" cy="182880"/>
          </a:xfrm>
          <a:prstGeom prst="rect">
            <a:avLst/>
          </a:prstGeom>
          <a:noFill/>
        </p:spPr>
        <p:txBody>
          <a:bodyPr wrap="square" lIns="0" rIns="0" tIns="0" bIns="0">
            <a:spAutoFit/>
          </a:bodyPr>
          <a:lstStyle/>
          <a:p>
            <a:pPr algn="l">
              <a:lnSpc>
                <a:spcPct val="115000"/>
              </a:lnSpc>
              <a:defRPr sz="720" b="1" i="0">
                <a:solidFill>
                  <a:srgbClr val="C8102E"/>
                </a:solidFill>
                <a:latin typeface="Poppins"/>
              </a:defRPr>
            </a:pPr>
            <a:r>
              <a:t>Months 10+</a:t>
            </a:r>
          </a:p>
        </p:txBody>
      </p:sp>
      <p:sp>
        <p:nvSpPr>
          <p:cNvPr id="39" name="TextBox 38"/>
          <p:cNvSpPr txBox="1"/>
          <p:nvPr/>
        </p:nvSpPr>
        <p:spPr>
          <a:xfrm>
            <a:off x="7406640" y="4946903"/>
            <a:ext cx="4206240" cy="182880"/>
          </a:xfrm>
          <a:prstGeom prst="rect">
            <a:avLst/>
          </a:prstGeom>
          <a:noFill/>
        </p:spPr>
        <p:txBody>
          <a:bodyPr wrap="square" lIns="0" rIns="0" tIns="0" bIns="0">
            <a:spAutoFit/>
          </a:bodyPr>
          <a:lstStyle/>
          <a:p>
            <a:pPr algn="l">
              <a:lnSpc>
                <a:spcPct val="115000"/>
              </a:lnSpc>
              <a:defRPr sz="800" b="1" i="0">
                <a:solidFill>
                  <a:srgbClr val="16181D"/>
                </a:solidFill>
                <a:latin typeface="Poppins"/>
              </a:defRPr>
            </a:pPr>
            <a:r>
              <a:t>Multi-Plant Network Optimization</a:t>
            </a:r>
          </a:p>
        </p:txBody>
      </p:sp>
      <p:sp>
        <p:nvSpPr>
          <p:cNvPr id="40" name="TextBox 39"/>
          <p:cNvSpPr txBox="1"/>
          <p:nvPr/>
        </p:nvSpPr>
        <p:spPr>
          <a:xfrm>
            <a:off x="7406640" y="5129783"/>
            <a:ext cx="4206240" cy="219456"/>
          </a:xfrm>
          <a:prstGeom prst="rect">
            <a:avLst/>
          </a:prstGeom>
          <a:noFill/>
        </p:spPr>
        <p:txBody>
          <a:bodyPr wrap="square" lIns="0" rIns="0" tIns="0" bIns="0">
            <a:spAutoFit/>
          </a:bodyPr>
          <a:lstStyle/>
          <a:p>
            <a:pPr algn="l">
              <a:lnSpc>
                <a:spcPct val="115000"/>
              </a:lnSpc>
              <a:defRPr sz="680" b="0" i="0">
                <a:solidFill>
                  <a:srgbClr val="4A4D55"/>
                </a:solidFill>
                <a:latin typeface="Poppins"/>
              </a:defRPr>
            </a:pPr>
            <a:r>
              <a:t>Multi-echelon inventory synchronization across all ACG manufacturing plants.</a:t>
            </a:r>
          </a:p>
        </p:txBody>
      </p:sp>
      <p:cxnSp>
        <p:nvCxnSpPr>
          <p:cNvPr id="41" name="Connector 40"/>
          <p:cNvCxnSpPr/>
          <p:nvPr/>
        </p:nvCxnSpPr>
        <p:spPr>
          <a:xfrm>
            <a:off x="502920" y="5532120"/>
            <a:ext cx="11201400" cy="0"/>
          </a:xfrm>
          <a:prstGeom prst="line">
            <a:avLst/>
          </a:prstGeom>
          <a:ln w="9525">
            <a:solidFill>
              <a:srgbClr val="E2E3E7"/>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2920" y="5632704"/>
            <a:ext cx="11201400" cy="219456"/>
          </a:xfrm>
          <a:prstGeom prst="rect">
            <a:avLst/>
          </a:prstGeom>
          <a:noFill/>
        </p:spPr>
        <p:txBody>
          <a:bodyPr wrap="square" lIns="0" rIns="0" tIns="0" bIns="0">
            <a:spAutoFit/>
          </a:bodyPr>
          <a:lstStyle/>
          <a:p>
            <a:pPr algn="l">
              <a:lnSpc>
                <a:spcPct val="115000"/>
              </a:lnSpc>
              <a:defRPr sz="1050" b="1" i="0">
                <a:solidFill>
                  <a:srgbClr val="16181D"/>
                </a:solidFill>
                <a:latin typeface="Poppins"/>
              </a:defRPr>
            </a:pPr>
            <a:r>
              <a:t>Our clear ask to ACG leadership</a:t>
            </a:r>
          </a:p>
        </p:txBody>
      </p:sp>
      <p:sp>
        <p:nvSpPr>
          <p:cNvPr id="43" name="TextBox 42"/>
          <p:cNvSpPr txBox="1"/>
          <p:nvPr/>
        </p:nvSpPr>
        <p:spPr>
          <a:xfrm>
            <a:off x="502920"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1. Data access</a:t>
            </a:r>
          </a:p>
        </p:txBody>
      </p:sp>
      <p:sp>
        <p:nvSpPr>
          <p:cNvPr id="44" name="TextBox 43"/>
          <p:cNvSpPr txBox="1"/>
          <p:nvPr/>
        </p:nvSpPr>
        <p:spPr>
          <a:xfrm>
            <a:off x="502920"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Anonymised 12–24 month PO invoice history for aluminium foil and PVC resin to calibrate the landed-cost overlay.</a:t>
            </a:r>
          </a:p>
        </p:txBody>
      </p:sp>
      <p:sp>
        <p:nvSpPr>
          <p:cNvPr id="45" name="TextBox 44"/>
          <p:cNvSpPr txBox="1"/>
          <p:nvPr/>
        </p:nvSpPr>
        <p:spPr>
          <a:xfrm>
            <a:off x="3364991"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2. Stakeholder time</a:t>
            </a:r>
          </a:p>
        </p:txBody>
      </p:sp>
      <p:sp>
        <p:nvSpPr>
          <p:cNvPr id="46" name="TextBox 45"/>
          <p:cNvSpPr txBox="1"/>
          <p:nvPr/>
        </p:nvSpPr>
        <p:spPr>
          <a:xfrm>
            <a:off x="3364991"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1 Strategic Sourcing sponsor + 1 buyer per commodity for a 90-day shadow pilot — about two hours a month each.</a:t>
            </a:r>
          </a:p>
        </p:txBody>
      </p:sp>
      <p:sp>
        <p:nvSpPr>
          <p:cNvPr id="47" name="TextBox 46"/>
          <p:cNvSpPr txBox="1"/>
          <p:nvPr/>
        </p:nvSpPr>
        <p:spPr>
          <a:xfrm>
            <a:off x="6227064"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3. Greenlight</a:t>
            </a:r>
          </a:p>
        </p:txBody>
      </p:sp>
      <p:sp>
        <p:nvSpPr>
          <p:cNvPr id="48" name="TextBox 47"/>
          <p:cNvSpPr txBox="1"/>
          <p:nvPr/>
        </p:nvSpPr>
        <p:spPr>
          <a:xfrm>
            <a:off x="6227064"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Formal approval for a zero-capex 90-day shadow pilot with the pre-set success gates and fail-safe kill switches.</a:t>
            </a:r>
          </a:p>
        </p:txBody>
      </p:sp>
      <p:sp>
        <p:nvSpPr>
          <p:cNvPr id="49" name="TextBox 48"/>
          <p:cNvSpPr txBox="1"/>
          <p:nvPr/>
        </p:nvSpPr>
        <p:spPr>
          <a:xfrm>
            <a:off x="9089136" y="5870448"/>
            <a:ext cx="2697480" cy="219456"/>
          </a:xfrm>
          <a:prstGeom prst="rect">
            <a:avLst/>
          </a:prstGeom>
          <a:noFill/>
        </p:spPr>
        <p:txBody>
          <a:bodyPr wrap="square" lIns="0" rIns="0" tIns="0" bIns="0">
            <a:spAutoFit/>
          </a:bodyPr>
          <a:lstStyle/>
          <a:p>
            <a:pPr algn="l">
              <a:lnSpc>
                <a:spcPct val="120000"/>
              </a:lnSpc>
              <a:defRPr sz="840" b="1" i="0">
                <a:solidFill>
                  <a:srgbClr val="C8102E"/>
                </a:solidFill>
                <a:latin typeface="Poppins"/>
              </a:defRPr>
            </a:pPr>
            <a:r>
              <a:t>4. Measurable outcome</a:t>
            </a:r>
          </a:p>
        </p:txBody>
      </p:sp>
      <p:sp>
        <p:nvSpPr>
          <p:cNvPr id="50" name="TextBox 49"/>
          <p:cNvSpPr txBox="1"/>
          <p:nvPr/>
        </p:nvSpPr>
        <p:spPr>
          <a:xfrm>
            <a:off x="9089136" y="6089904"/>
            <a:ext cx="2697480" cy="411480"/>
          </a:xfrm>
          <a:prstGeom prst="rect">
            <a:avLst/>
          </a:prstGeom>
          <a:noFill/>
        </p:spPr>
        <p:txBody>
          <a:bodyPr wrap="square" lIns="0" rIns="0" tIns="0" bIns="0">
            <a:spAutoFit/>
          </a:bodyPr>
          <a:lstStyle/>
          <a:p>
            <a:pPr algn="l">
              <a:lnSpc>
                <a:spcPct val="122000"/>
              </a:lnSpc>
              <a:defRPr sz="730" b="0" i="0">
                <a:solidFill>
                  <a:srgbClr val="4A4D55"/>
                </a:solidFill>
                <a:latin typeface="Poppins"/>
              </a:defRPr>
            </a:pPr>
            <a:r>
              <a:t>Validated savings (target ≥ 1%), buyer trust score, and a clear go/no-go decision — all before any procurement behavior changes.</a:t>
            </a:r>
          </a:p>
        </p:txBody>
      </p:sp>
      <p:sp>
        <p:nvSpPr>
          <p:cNvPr id="51" name="TextBox 50"/>
          <p:cNvSpPr txBox="1"/>
          <p:nvPr/>
        </p:nvSpPr>
        <p:spPr>
          <a:xfrm>
            <a:off x="502920" y="6327648"/>
            <a:ext cx="10454335" cy="411480"/>
          </a:xfrm>
          <a:prstGeom prst="rect">
            <a:avLst/>
          </a:prstGeom>
          <a:noFill/>
        </p:spPr>
        <p:txBody>
          <a:bodyPr wrap="square" lIns="0" rIns="0" tIns="0" bIns="0">
            <a:spAutoFit/>
          </a:bodyPr>
          <a:lstStyle/>
          <a:p>
            <a:pPr algn="l">
              <a:lnSpc>
                <a:spcPct val="125000"/>
              </a:lnSpc>
              <a:defRPr sz="560" b="0" i="0">
                <a:solidFill>
                  <a:srgbClr val="7C8089"/>
                </a:solidFill>
                <a:latin typeface="Poppins"/>
              </a:defRPr>
            </a:pPr>
            <a:r>
              <a:t>Sources: [1] ACG problem statement: RM spend, inventory days, and working capital. [2] Rupee figures use ₹100 Cr baseline spend and zero confidential ACG data.</a:t>
            </a:r>
          </a:p>
        </p:txBody>
      </p:sp>
      <p:sp>
        <p:nvSpPr>
          <p:cNvPr id="52" name="TextBox 51"/>
          <p:cNvSpPr txBox="1"/>
          <p:nvPr/>
        </p:nvSpPr>
        <p:spPr>
          <a:xfrm>
            <a:off x="10957255" y="6327648"/>
            <a:ext cx="731520" cy="201168"/>
          </a:xfrm>
          <a:prstGeom prst="rect">
            <a:avLst/>
          </a:prstGeom>
          <a:noFill/>
        </p:spPr>
        <p:txBody>
          <a:bodyPr wrap="square" lIns="0" rIns="0" tIns="0" bIns="0">
            <a:spAutoFit/>
          </a:bodyPr>
          <a:lstStyle/>
          <a:p>
            <a:pPr algn="r">
              <a:lnSpc>
                <a:spcPct val="115000"/>
              </a:lnSpc>
              <a:defRPr sz="850" b="1" i="0">
                <a:solidFill>
                  <a:srgbClr val="7C8089"/>
                </a:solidFill>
                <a:latin typeface="Poppins"/>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