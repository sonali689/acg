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1" r:id="rId12"/>
    <p:sldId id="260" r:id="rId11"/>
    <p:sldId id="264" r:id="rId15"/>
    <p:sldId id="265" r:id="rId16"/>
    <p:sldId id="262" r:id="rId13"/>
    <p:sldId id="267" r:id="rId18"/>
    <p:sldId id="268" r:id="rId19"/>
    <p:sldId id="263" r:id="rId14"/>
    <p:sldId id="271" r:id="rId22"/>
    <p:sldId id="269" r:id="rId20"/>
    <p:sldId id="270" r:id="rId21"/>
    <p:sldId id="272" r:id="rId23"/>
    <p:sldId id="258" r:id="rId9"/>
    <p:sldId id="259" r:id="rId10"/>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4.xml"/><Relationship Id="rId17" Type="http://schemas.openxmlformats.org/officeDocument/2006/relationships/slide" Target="slides/slide17.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7.xml"/><Relationship Id="rId23" Type="http://schemas.openxmlformats.org/officeDocument/2006/relationships/slide" Target="slides/slide10.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60 SECONDS.</a:t>
            </a:r>
          </a:p>
          <a:p>
            <a:r>
              <a:t>[Problem, 15 s] Seventy percent of what a blister pack costs ACG is aluminium foil and PVC resin. Both are bought on judgement. Aluminium swung 2.7 times in two years; every 1% move in these prices moves total manufacturing cost by about 0.7%.</a:t>
            </a:r>
          </a:p>
          <a:p>
            <a:r>
              <a:t>[What we built, 20 s] Smart Buy forecasts both prices six months ahead and turns that into one instruction for the buyer: buy ahead, buy normal, or defer, after the cost of holding stock.</a:t>
            </a:r>
          </a:p>
          <a:p>
            <a:r>
              <a:t>[Proof, 15 s] We replayed it on every month from 2018 to 2024. On PVC it would have saved about 0.41 Cr per 100 Cr of spend, and the timing beats random with p = 0.002. On aluminium we tell you honestly: the market is near-efficient, so we use it for budgets and risk.</a:t>
            </a:r>
          </a:p>
          <a:p>
            <a:r>
              <a:t>[Ask, 10 s] We are asking for a 90-day, zero-capex shadow pilot. Buyers keep deciding; we measure.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JUDGES' QUESTION: WHAT DRIVES THE DIFFERENCE VS THE GLOBAL INDEX?</a:t>
            </a:r>
          </a:p>
          <a:p>
            <a:r>
              <a:t>Answer first: five things sit between the index and ACG's price: premium, freight, FX, customs duty, and trade remedies. We forecast only the index. The other five are contracts, quotes, published rates or dated government decisions, so we calculate them.</a:t>
            </a:r>
          </a:p>
          <a:p>
            <a:r>
              <a:t>Then explain: for aluminium the index dominates (FX is about 1% of the monthly swing); for PVC, FX is about a third. Duty is 8.87% of CIF for a normal origin (BCD 7.5%, AIDC on BCD, SWS 10% on both), zero BCD from FTA origins. IGST is creditable, so not a cost. Two live events fall inside our pilot: the foil anti-dumping review (15 Dec 2026) and expiry of the PVC $766 floor (late Jan 2027). That makes the pilot a real test of the landed-cost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first: zero capex, about 25 hours of ACG time, 90 days, four go gates and three automatic stop rules.</a:t>
            </a:r>
          </a:p>
          <a:p>
            <a:r>
              <a:t>If asked why not prove savings in 90 days: the rule acts a handful of times a quarter, so any 90-day saving would be luck either way. We prove what 90 days can prove: accuracy, landed-cost fit and adoption. The savings test runs to month 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30 SECONDS. Do not end on 'thank you'; end on the decision.</a:t>
            </a:r>
          </a:p>
          <a:p>
            <a:r>
              <a:t>We are asking for three things: purchase-order data, about 25 hours of your team's time, and a go to start in November. In February you get a measured answer: does it beat a no-change forecast on your buys, does the landed-cost model match your invoices through two live policy decisions, and do your buyers use it. If not, it stops automatically at no cost. Can we have your approval to start the pilot in November?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first: for PVC, crude oil and China's leading indicator move one to two months ahead of the price, so they give buyers warning. For aluminium, copper and energy move in the same month: they explain the price but cannot forecast it, which is why aluminium is hard to beat.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first: we tested it the way a buyer would live with it. Every month from 2018, the model was retrained on only what was public that day, then forecast the next six months. The red line is the forecast made three months before the black line happened. Skill is highest at one to two months, which is where most buying decisions sit.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first: ten models compete on the same test; a model gets a vote only in months when it has beaten the no-change forecast on its own past record. The best single model is N-BEATS, a neural network trained on 74 commodities at once, because one price alone has too little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first: every forecast comes with a short note a buyer can read in ten seconds: the expected move, the range, the chance of a rise, the signal, and the three drivers that pushed it most.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Open Sa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Open Sa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Open Sa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Open Sans"/>
              </a:defRPr>
            </a:pPr>
            <a:r>
              <a:t>AI-based raw material price prediction</a:t>
            </a:r>
          </a:p>
          <a:p>
            <a:pPr algn="l">
              <a:lnSpc>
                <a:spcPct val="130000"/>
              </a:lnSpc>
              <a:defRPr sz="1350" b="0" i="0">
                <a:solidFill>
                  <a:srgbClr val="FBDDE2"/>
                </a:solidFill>
                <a:latin typeface="Open Sa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Open Sans"/>
              </a:defRPr>
            </a:pPr>
            <a:r>
              <a:t>A 6-month forward pricing and decision system</a:t>
            </a:r>
          </a:p>
          <a:p>
            <a:pPr algn="l">
              <a:lnSpc>
                <a:spcPct val="130000"/>
              </a:lnSpc>
              <a:defRPr sz="1050" b="1" i="0">
                <a:solidFill>
                  <a:srgbClr val="FFFFFF"/>
                </a:solidFill>
                <a:latin typeface="Open Sans"/>
              </a:defRPr>
            </a:pPr>
            <a:r>
              <a:t>that tells buyers when to buy ahead, buy normal,</a:t>
            </a:r>
          </a:p>
          <a:p>
            <a:pPr algn="l">
              <a:lnSpc>
                <a:spcPct val="130000"/>
              </a:lnSpc>
              <a:defRPr sz="1050" b="1" i="0">
                <a:solidFill>
                  <a:srgbClr val="FFFFFF"/>
                </a:solidFill>
                <a:latin typeface="Open Sa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Open Sans"/>
              </a:defRPr>
            </a:pPr>
            <a:r>
              <a:t>Finals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Open Sans"/>
              </a:defRPr>
            </a:pPr>
            <a:r>
              <a:t>Audited prototype  ·  October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H E   B U S I N E S S   P R O B L E M</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Open Sans"/>
              </a:defRPr>
            </a:pPr>
            <a:r>
              <a:t>Aluminium foil and PVC resin are about 70% of the cost of a pharma blister pack, and both are bought on judgement with no forward view of price. Aluminium swung 2.7× between 2020 and 2022, and a 1% move in raw material price moves total manufacturing cost by about 0.7%.</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₹0.41 Cr</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saved per ₹100 Cr of PVC spend in</a:t>
            </a:r>
          </a:p>
          <a:p>
            <a:pPr algn="l">
              <a:lnSpc>
                <a:spcPct val="122000"/>
              </a:lnSpc>
              <a:defRPr sz="760" b="0" i="0">
                <a:solidFill>
                  <a:srgbClr val="7C8089"/>
                </a:solidFill>
                <a:latin typeface="Open Sans"/>
              </a:defRPr>
            </a:pPr>
            <a:r>
              <a:t>a 78-month backtest, net of carry</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+21.4%</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forecast skill vs a no-change</a:t>
            </a:r>
          </a:p>
          <a:p>
            <a:pPr algn="l">
              <a:lnSpc>
                <a:spcPct val="122000"/>
              </a:lnSpc>
              <a:defRPr sz="760" b="0" i="0">
                <a:solidFill>
                  <a:srgbClr val="7C8089"/>
                </a:solidFill>
                <a:latin typeface="Open Sans"/>
              </a:defRPr>
            </a:pPr>
            <a:r>
              <a:t>baseline at 1 month (p = 0.0004)</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₹0 capex</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90-day shadow pilot: buyers keep</a:t>
            </a:r>
          </a:p>
          <a:p>
            <a:pPr algn="l">
              <a:lnSpc>
                <a:spcPct val="122000"/>
              </a:lnSpc>
              <a:defRPr sz="760" b="0" i="0">
                <a:solidFill>
                  <a:srgbClr val="7C8089"/>
                </a:solidFill>
                <a:latin typeface="Open Sans"/>
              </a:defRPr>
            </a:pPr>
            <a:r>
              <a:t>deciding while we measure</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W H A T   W E   B U I L T   A N D   P R O V E D</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Open Sans"/>
              </a:defRPr>
            </a:pPr>
            <a:r>
              <a:t>Smart Buy forecasts both prices six months ahead and tells buyers when to buy ahead, buy normal or defer, net of carrying cost. Back-tested month by month from 2018 to 2024 under a leak-proof test, PVC timing beats random (p = 0.003). Aluminium is near-efficient, so there the value is budgeting and risk bands, not timing. We are asking for a zero-capex shadow pilot.</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Open Sans"/>
                        </a:defRPr>
                      </a:pPr>
                      <a:r>
                        <a:t>Team</a:t>
                      </a:r>
                    </a:p>
                  </a:txBody>
                  <a:tcPr marL="54864" marR="54864" marT="18288" marB="18288" anchor="ctr">
                    <a:solidFill>
                      <a:srgbClr val="C8102E"/>
                    </a:solidFill>
                  </a:tcPr>
                </a:tc>
                <a:tc>
                  <a:txBody>
                    <a:bodyPr/>
                    <a:lstStyle/>
                    <a:p>
                      <a:pPr algn="l">
                        <a:defRPr sz="760" b="1">
                          <a:solidFill>
                            <a:srgbClr val="FFFFFF"/>
                          </a:solidFill>
                          <a:latin typeface="Open Sa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Open Sans"/>
                        </a:defRPr>
                      </a:pPr>
                      <a:r>
                        <a:t>Members</a:t>
                      </a:r>
                    </a:p>
                  </a:txBody>
                  <a:tcPr marL="54864" marR="54864" marT="13716" marB="13716" anchor="ctr">
                    <a:solidFill>
                      <a:srgbClr val="FFFFFF"/>
                    </a:solidFill>
                  </a:tcPr>
                </a:tc>
                <a:tc>
                  <a:txBody>
                    <a:bodyPr/>
                    <a:lstStyle/>
                    <a:p>
                      <a:pPr algn="l">
                        <a:defRPr sz="800" b="0">
                          <a:solidFill>
                            <a:srgbClr val="4A4D55"/>
                          </a:solidFill>
                          <a:latin typeface="Open Sa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Institute</a:t>
                      </a:r>
                    </a:p>
                  </a:txBody>
                  <a:tcPr marL="54864" marR="54864" marT="13716" marB="13716" anchor="ctr">
                    <a:solidFill>
                      <a:srgbClr val="FFFFFF"/>
                    </a:solidFill>
                  </a:tcPr>
                </a:tc>
                <a:tc>
                  <a:txBody>
                    <a:bodyPr/>
                    <a:lstStyle/>
                    <a:p>
                      <a:pPr algn="l">
                        <a:defRPr sz="800" b="0">
                          <a:solidFill>
                            <a:srgbClr val="4A4D55"/>
                          </a:solidFill>
                          <a:latin typeface="Open Sa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Contact</a:t>
                      </a:r>
                    </a:p>
                  </a:txBody>
                  <a:tcPr marL="54864" marR="54864" marT="13716" marB="13716" anchor="ctr">
                    <a:solidFill>
                      <a:srgbClr val="FFFFFF"/>
                    </a:solidFill>
                  </a:tcPr>
                </a:tc>
                <a:tc>
                  <a:txBody>
                    <a:bodyPr/>
                    <a:lstStyle/>
                    <a:p>
                      <a:pPr algn="l">
                        <a:defRPr sz="800" b="0">
                          <a:solidFill>
                            <a:srgbClr val="4A4D55"/>
                          </a:solidFill>
                          <a:latin typeface="Open Sa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Prototype</a:t>
                      </a:r>
                    </a:p>
                  </a:txBody>
                  <a:tcPr marL="54864" marR="54864" marT="13716" marB="13716" anchor="ctr">
                    <a:solidFill>
                      <a:srgbClr val="FFFFFF"/>
                    </a:solidFill>
                  </a:tcPr>
                </a:tc>
                <a:tc>
                  <a:txBody>
                    <a:bodyPr/>
                    <a:lstStyle/>
                    <a:p>
                      <a:pPr algn="l">
                        <a:defRPr sz="800" b="0">
                          <a:solidFill>
                            <a:srgbClr val="4A4D55"/>
                          </a:solidFill>
                          <a:latin typeface="Open Sans"/>
                        </a:defRPr>
                      </a:pPr>
                      <a:r>
                        <a:t>Live dashboard, 14-slide deck + appendix, reproducible pipeline with leakage tests</a:t>
                      </a:r>
                    </a:p>
                  </a:txBody>
                  <a:tcPr marL="54864" marR="54864" marT="13716" marB="13716" anchor="ctr">
                    <a:solidFill>
                      <a:srgbClr val="FFFFFF"/>
                    </a:solidFill>
                  </a:tcPr>
                </a:tc>
              </a:tr>
            </a:tbl>
          </a:graphicData>
        </a:graphic>
      </p:graphicFrame>
      <p:sp>
        <p:nvSpPr>
          <p:cNvPr id="28" name="TextBox 27"/>
          <p:cNvSpPr txBox="1"/>
          <p:nvPr/>
        </p:nvSpPr>
        <p:spPr>
          <a:xfrm>
            <a:off x="5440680" y="6565392"/>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Open Sans"/>
              </a:defRPr>
            </a:pPr>
            <a:r>
              <a:t>Problem statement: "Smart Buy – AI based Raw Material Price Prediction", ACG Films &amp; Foils, Digital &amp; AI | Procurement | Strategic Sourcing.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2  ·  P R O B L E M</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Aluminium and PVC resin are about 70% of manufacturing cost, and today both are bought</a:t>
            </a:r>
          </a:p>
          <a:p>
            <a:pPr algn="l">
              <a:lnSpc>
                <a:spcPct val="112000"/>
              </a:lnSpc>
              <a:defRPr sz="1700" b="1" i="0">
                <a:solidFill>
                  <a:srgbClr val="16181D"/>
                </a:solidFill>
                <a:latin typeface="Open Sans"/>
              </a:defRPr>
            </a:pPr>
            <a:r>
              <a:t>on judgement with no view of where prices are going</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buying works today, and where it breaks</a:t>
            </a:r>
          </a:p>
        </p:txBody>
      </p:sp>
      <p:sp>
        <p:nvSpPr>
          <p:cNvPr id="15" name="Rectangle 14"/>
          <p:cNvSpPr/>
          <p:nvPr/>
        </p:nvSpPr>
        <p:spPr>
          <a:xfrm>
            <a:off x="502920"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1</a:t>
            </a:r>
          </a:p>
        </p:txBody>
      </p:sp>
      <p:sp>
        <p:nvSpPr>
          <p:cNvPr id="17" name="TextBox 16"/>
          <p:cNvSpPr txBox="1"/>
          <p:nvPr/>
        </p:nvSpPr>
        <p:spPr>
          <a:xfrm>
            <a:off x="813816"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Demand forecast</a:t>
            </a:r>
          </a:p>
        </p:txBody>
      </p:sp>
      <p:sp>
        <p:nvSpPr>
          <p:cNvPr id="18" name="TextBox 17"/>
          <p:cNvSpPr txBox="1"/>
          <p:nvPr/>
        </p:nvSpPr>
        <p:spPr>
          <a:xfrm>
            <a:off x="594360"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Sales forecast, agreed with Operations</a:t>
            </a:r>
          </a:p>
        </p:txBody>
      </p:sp>
      <p:sp>
        <p:nvSpPr>
          <p:cNvPr id="19" name="TextBox 18"/>
          <p:cNvSpPr txBox="1"/>
          <p:nvPr/>
        </p:nvSpPr>
        <p:spPr>
          <a:xfrm>
            <a:off x="594360"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Manual, macro-level, built from past sales.</a:t>
            </a:r>
          </a:p>
        </p:txBody>
      </p:sp>
      <p:sp>
        <p:nvSpPr>
          <p:cNvPr id="20" name="Rectangle 19"/>
          <p:cNvSpPr/>
          <p:nvPr/>
        </p:nvSpPr>
        <p:spPr>
          <a:xfrm>
            <a:off x="2002536"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93976"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2</a:t>
            </a:r>
          </a:p>
        </p:txBody>
      </p:sp>
      <p:sp>
        <p:nvSpPr>
          <p:cNvPr id="22" name="TextBox 21"/>
          <p:cNvSpPr txBox="1"/>
          <p:nvPr/>
        </p:nvSpPr>
        <p:spPr>
          <a:xfrm>
            <a:off x="2313432"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RM requirement</a:t>
            </a:r>
          </a:p>
        </p:txBody>
      </p:sp>
      <p:sp>
        <p:nvSpPr>
          <p:cNvPr id="23" name="TextBox 22"/>
          <p:cNvSpPr txBox="1"/>
          <p:nvPr/>
        </p:nvSpPr>
        <p:spPr>
          <a:xfrm>
            <a:off x="2093976"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Worked out from the Bill of Materials</a:t>
            </a:r>
          </a:p>
        </p:txBody>
      </p:sp>
      <p:sp>
        <p:nvSpPr>
          <p:cNvPr id="24" name="Rectangle 23"/>
          <p:cNvSpPr/>
          <p:nvPr/>
        </p:nvSpPr>
        <p:spPr>
          <a:xfrm>
            <a:off x="3502152"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593592"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3</a:t>
            </a:r>
          </a:p>
        </p:txBody>
      </p:sp>
      <p:sp>
        <p:nvSpPr>
          <p:cNvPr id="26" name="TextBox 25"/>
          <p:cNvSpPr txBox="1"/>
          <p:nvPr/>
        </p:nvSpPr>
        <p:spPr>
          <a:xfrm>
            <a:off x="3813048"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Inventory check</a:t>
            </a:r>
          </a:p>
        </p:txBody>
      </p:sp>
      <p:sp>
        <p:nvSpPr>
          <p:cNvPr id="27" name="TextBox 26"/>
          <p:cNvSpPr txBox="1"/>
          <p:nvPr/>
        </p:nvSpPr>
        <p:spPr>
          <a:xfrm>
            <a:off x="3593592"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On-hand plus in-transit raw material</a:t>
            </a:r>
          </a:p>
        </p:txBody>
      </p:sp>
      <p:sp>
        <p:nvSpPr>
          <p:cNvPr id="28" name="TextBox 27"/>
          <p:cNvSpPr txBox="1"/>
          <p:nvPr/>
        </p:nvSpPr>
        <p:spPr>
          <a:xfrm>
            <a:off x="3593592"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No forecast exists for either material.</a:t>
            </a:r>
          </a:p>
        </p:txBody>
      </p:sp>
      <p:sp>
        <p:nvSpPr>
          <p:cNvPr id="29" name="Rectangle 28"/>
          <p:cNvSpPr/>
          <p:nvPr/>
        </p:nvSpPr>
        <p:spPr>
          <a:xfrm>
            <a:off x="5001768"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7"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4</a:t>
            </a:r>
          </a:p>
        </p:txBody>
      </p:sp>
      <p:sp>
        <p:nvSpPr>
          <p:cNvPr id="31" name="TextBox 30"/>
          <p:cNvSpPr txBox="1"/>
          <p:nvPr/>
        </p:nvSpPr>
        <p:spPr>
          <a:xfrm>
            <a:off x="5312664"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Buying decision</a:t>
            </a:r>
          </a:p>
        </p:txBody>
      </p:sp>
      <p:sp>
        <p:nvSpPr>
          <p:cNvPr id="32" name="TextBox 31"/>
          <p:cNvSpPr txBox="1"/>
          <p:nvPr/>
        </p:nvSpPr>
        <p:spPr>
          <a:xfrm>
            <a:off x="5093207"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When, how much, at what price. PO placed.</a:t>
            </a:r>
          </a:p>
        </p:txBody>
      </p:sp>
      <p:sp>
        <p:nvSpPr>
          <p:cNvPr id="33" name="TextBox 32"/>
          <p:cNvSpPr txBox="1"/>
          <p:nvPr/>
        </p:nvSpPr>
        <p:spPr>
          <a:xfrm>
            <a:off x="5093207"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A personal call each month. Not repeatable.</a:t>
            </a:r>
          </a:p>
        </p:txBody>
      </p:sp>
      <p:cxnSp>
        <p:nvCxnSpPr>
          <p:cNvPr id="34" name="Connector 33"/>
          <p:cNvCxnSpPr/>
          <p:nvPr/>
        </p:nvCxnSpPr>
        <p:spPr>
          <a:xfrm>
            <a:off x="502920" y="3611880"/>
            <a:ext cx="57607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3749039"/>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Prices move a lot, and fast</a:t>
            </a:r>
          </a:p>
        </p:txBody>
      </p:sp>
      <p:sp>
        <p:nvSpPr>
          <p:cNvPr id="36" name="TextBox 35"/>
          <p:cNvSpPr txBox="1"/>
          <p:nvPr/>
        </p:nvSpPr>
        <p:spPr>
          <a:xfrm>
            <a:off x="502920" y="4023360"/>
            <a:ext cx="5760720" cy="914400"/>
          </a:xfrm>
          <a:prstGeom prst="rect">
            <a:avLst/>
          </a:prstGeom>
          <a:noFill/>
        </p:spPr>
        <p:txBody>
          <a:bodyPr wrap="square" lIns="0" rIns="0" tIns="0" bIns="0">
            <a:spAutoFit/>
          </a:bodyPr>
          <a:lstStyle/>
          <a:p>
            <a:pPr algn="l">
              <a:lnSpc>
                <a:spcPct val="130000"/>
              </a:lnSpc>
              <a:defRPr sz="860" b="0" i="0">
                <a:solidFill>
                  <a:srgbClr val="4A4D55"/>
                </a:solidFill>
                <a:latin typeface="Open Sans"/>
              </a:defRPr>
            </a:pPr>
            <a:r>
              <a:t>Aluminium went from about $1,450/t (April 2020) to $3,985/t (March 2022) and back to about $2,250/t in 2023: a 2.7× swing in under two years. US resin prices rose 62% from May 2020 to August 2021 on force majeures and freight, then gave back about 40% of that rise by 2023.</a:t>
            </a:r>
          </a:p>
        </p:txBody>
      </p:sp>
      <p:sp>
        <p:nvSpPr>
          <p:cNvPr id="37" name="TextBox 36"/>
          <p:cNvSpPr txBox="1"/>
          <p:nvPr/>
        </p:nvSpPr>
        <p:spPr>
          <a:xfrm>
            <a:off x="502920" y="4846320"/>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actually moves the price</a:t>
            </a:r>
          </a:p>
        </p:txBody>
      </p:sp>
      <p:sp>
        <p:nvSpPr>
          <p:cNvPr id="38" name="TextBox 37"/>
          <p:cNvSpPr txBox="1"/>
          <p:nvPr/>
        </p:nvSpPr>
        <p:spPr>
          <a:xfrm>
            <a:off x="502920" y="513892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39" name="TextBox 38"/>
          <p:cNvSpPr txBox="1"/>
          <p:nvPr/>
        </p:nvSpPr>
        <p:spPr>
          <a:xfrm>
            <a:off x="621792" y="513892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Exchange rate. Imported material is priced in US$; USD/INR moves landed cost directly.</a:t>
            </a:r>
          </a:p>
        </p:txBody>
      </p:sp>
      <p:sp>
        <p:nvSpPr>
          <p:cNvPr id="40" name="TextBox 39"/>
          <p:cNvSpPr txBox="1"/>
          <p:nvPr/>
        </p:nvSpPr>
        <p:spPr>
          <a:xfrm>
            <a:off x="502920" y="534466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1" name="TextBox 40"/>
          <p:cNvSpPr txBox="1"/>
          <p:nvPr/>
        </p:nvSpPr>
        <p:spPr>
          <a:xfrm>
            <a:off x="621792" y="534466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Crude and energy. Crude, naphtha and ethylene for PVC; coal, gas and power for smelting.</a:t>
            </a:r>
          </a:p>
        </p:txBody>
      </p:sp>
      <p:sp>
        <p:nvSpPr>
          <p:cNvPr id="42" name="TextBox 41"/>
          <p:cNvSpPr txBox="1"/>
          <p:nvPr/>
        </p:nvSpPr>
        <p:spPr>
          <a:xfrm>
            <a:off x="502920" y="555040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3" name="TextBox 42"/>
          <p:cNvSpPr txBox="1"/>
          <p:nvPr/>
        </p:nvSpPr>
        <p:spPr>
          <a:xfrm>
            <a:off x="621792" y="555040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Geopolitics and trade policy. Sanctions, tariffs, anti-dumping duties, export controls.</a:t>
            </a:r>
          </a:p>
        </p:txBody>
      </p:sp>
      <p:sp>
        <p:nvSpPr>
          <p:cNvPr id="44" name="TextBox 43"/>
          <p:cNvSpPr txBox="1"/>
          <p:nvPr/>
        </p:nvSpPr>
        <p:spPr>
          <a:xfrm>
            <a:off x="502920" y="575614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5" name="TextBox 44"/>
          <p:cNvSpPr txBox="1"/>
          <p:nvPr/>
        </p:nvSpPr>
        <p:spPr>
          <a:xfrm>
            <a:off x="621792" y="575614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Freight and import duties. Container and bulk rates; CBIC tariff and DGTR notifications.</a:t>
            </a:r>
          </a:p>
        </p:txBody>
      </p:sp>
      <p:sp>
        <p:nvSpPr>
          <p:cNvPr id="46" name="TextBox 45"/>
          <p:cNvSpPr txBox="1"/>
          <p:nvPr/>
        </p:nvSpPr>
        <p:spPr>
          <a:xfrm>
            <a:off x="502920" y="5961888"/>
            <a:ext cx="57607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None of this shows up in a forecast built from past sales.</a:t>
            </a:r>
          </a:p>
        </p:txBody>
      </p:sp>
      <p:sp>
        <p:nvSpPr>
          <p:cNvPr id="47" name="TextBox 46"/>
          <p:cNvSpPr txBox="1"/>
          <p:nvPr/>
        </p:nvSpPr>
        <p:spPr>
          <a:xfrm>
            <a:off x="6675120" y="1783080"/>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it costs the business</a:t>
            </a:r>
          </a:p>
        </p:txBody>
      </p:sp>
      <p:sp>
        <p:nvSpPr>
          <p:cNvPr id="48" name="TextBox 47"/>
          <p:cNvSpPr txBox="1"/>
          <p:nvPr/>
        </p:nvSpPr>
        <p:spPr>
          <a:xfrm>
            <a:off x="6675120" y="2084831"/>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Higher raw material spend</a:t>
            </a:r>
          </a:p>
        </p:txBody>
      </p:sp>
      <p:sp>
        <p:nvSpPr>
          <p:cNvPr id="49" name="TextBox 48"/>
          <p:cNvSpPr txBox="1"/>
          <p:nvPr/>
        </p:nvSpPr>
        <p:spPr>
          <a:xfrm>
            <a:off x="6675120" y="2267712"/>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buying into rising markets with no timing advantage</a:t>
            </a:r>
          </a:p>
        </p:txBody>
      </p:sp>
      <p:sp>
        <p:nvSpPr>
          <p:cNvPr id="50" name="TextBox 49"/>
          <p:cNvSpPr txBox="1"/>
          <p:nvPr/>
        </p:nvSpPr>
        <p:spPr>
          <a:xfrm>
            <a:off x="6675120" y="2560320"/>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More inventory days</a:t>
            </a:r>
          </a:p>
        </p:txBody>
      </p:sp>
      <p:sp>
        <p:nvSpPr>
          <p:cNvPr id="51" name="TextBox 50"/>
          <p:cNvSpPr txBox="1"/>
          <p:nvPr/>
        </p:nvSpPr>
        <p:spPr>
          <a:xfrm>
            <a:off x="6675120" y="2743200"/>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over-buying as insurance against price surprises</a:t>
            </a:r>
          </a:p>
        </p:txBody>
      </p:sp>
      <p:sp>
        <p:nvSpPr>
          <p:cNvPr id="52" name="TextBox 51"/>
          <p:cNvSpPr txBox="1"/>
          <p:nvPr/>
        </p:nvSpPr>
        <p:spPr>
          <a:xfrm>
            <a:off x="6675120" y="3035808"/>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More working capital</a:t>
            </a:r>
          </a:p>
        </p:txBody>
      </p:sp>
      <p:sp>
        <p:nvSpPr>
          <p:cNvPr id="53" name="TextBox 52"/>
          <p:cNvSpPr txBox="1"/>
          <p:nvPr/>
        </p:nvSpPr>
        <p:spPr>
          <a:xfrm>
            <a:off x="6675120" y="3218688"/>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cash tied up in stock, premiums and in-transit material</a:t>
            </a:r>
          </a:p>
        </p:txBody>
      </p:sp>
      <p:sp>
        <p:nvSpPr>
          <p:cNvPr id="54" name="TextBox 53"/>
          <p:cNvSpPr txBox="1"/>
          <p:nvPr/>
        </p:nvSpPr>
        <p:spPr>
          <a:xfrm>
            <a:off x="6675120" y="3584448"/>
            <a:ext cx="498348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With a 70% share, a 1% move in raw material price is roughly 0.7% of total</a:t>
            </a:r>
          </a:p>
          <a:p>
            <a:pPr algn="l">
              <a:lnSpc>
                <a:spcPct val="125000"/>
              </a:lnSpc>
              <a:defRPr sz="740" b="1" i="0">
                <a:solidFill>
                  <a:srgbClr val="C8102E"/>
                </a:solidFill>
                <a:latin typeface="Open Sans"/>
              </a:defRPr>
            </a:pPr>
            <a:r>
              <a:t>manufacturing cost.</a:t>
            </a:r>
          </a:p>
        </p:txBody>
      </p:sp>
      <p:cxnSp>
        <p:nvCxnSpPr>
          <p:cNvPr id="55" name="Connector 54"/>
          <p:cNvCxnSpPr/>
          <p:nvPr/>
        </p:nvCxnSpPr>
        <p:spPr>
          <a:xfrm>
            <a:off x="6675120" y="4041648"/>
            <a:ext cx="49834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675120" y="4187952"/>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Smart Buy now demonstrates</a:t>
            </a:r>
          </a:p>
        </p:txBody>
      </p:sp>
      <p:graphicFrame>
        <p:nvGraphicFramePr>
          <p:cNvPr id="57" name="Table 56"/>
          <p:cNvGraphicFramePr>
            <a:graphicFrameLocks noGrp="1"/>
          </p:cNvGraphicFramePr>
          <p:nvPr/>
        </p:nvGraphicFramePr>
        <p:xfrm>
          <a:off x="6675120" y="4462272"/>
          <a:ext cx="4983480" cy="1389888"/>
        </p:xfrm>
        <a:graphic>
          <a:graphicData uri="http://schemas.openxmlformats.org/drawingml/2006/table">
            <a:tbl>
              <a:tblPr>
                <a:tableStyleId>{5C22544A-7EE6-4342-B048-85BDC9FD1C3A}</a:tableStyleId>
              </a:tblPr>
              <a:tblGrid>
                <a:gridCol w="2103120"/>
                <a:gridCol w="2880360"/>
              </a:tblGrid>
              <a:tr h="237744">
                <a:tc>
                  <a:txBody>
                    <a:bodyPr/>
                    <a:lstStyle/>
                    <a:p>
                      <a:pPr algn="l">
                        <a:defRPr sz="680" b="1">
                          <a:solidFill>
                            <a:srgbClr val="FFFFFF"/>
                          </a:solidFill>
                          <a:latin typeface="Open Sans"/>
                        </a:defRPr>
                      </a:pPr>
                      <a:r>
                        <a:t>Round 1 gap</a:t>
                      </a:r>
                    </a:p>
                  </a:txBody>
                  <a:tcPr marL="54864" marR="54864" marT="18288" marB="18288" anchor="ctr">
                    <a:solidFill>
                      <a:srgbClr val="C8102E"/>
                    </a:solidFill>
                  </a:tcPr>
                </a:tc>
                <a:tc>
                  <a:txBody>
                    <a:bodyPr/>
                    <a:lstStyle/>
                    <a:p>
                      <a:pPr algn="r">
                        <a:defRPr sz="680" b="1">
                          <a:solidFill>
                            <a:srgbClr val="FFFFFF"/>
                          </a:solidFill>
                          <a:latin typeface="Open Sans"/>
                        </a:defRPr>
                      </a:pPr>
                      <a:r>
                        <a:t>Round 2 evidence</a:t>
                      </a:r>
                    </a:p>
                  </a:txBody>
                  <a:tcPr marL="54864" marR="54864" marT="18288" marB="18288" anchor="ctr">
                    <a:solidFill>
                      <a:srgbClr val="C8102E"/>
                    </a:solidFill>
                  </a:tcPr>
                </a:tc>
              </a:tr>
              <a:tr h="384048">
                <a:tc>
                  <a:txBody>
                    <a:bodyPr/>
                    <a:lstStyle/>
                    <a:p>
                      <a:pPr algn="l">
                        <a:defRPr sz="740" b="0">
                          <a:solidFill>
                            <a:srgbClr val="4A4D55"/>
                          </a:solidFill>
                          <a:latin typeface="Open Sans"/>
                        </a:defRPr>
                      </a:pPr>
                      <a:r>
                        <a:t>Backward-looking, subjective timing</a:t>
                      </a:r>
                    </a:p>
                  </a:txBody>
                  <a:tcPr marL="54864" marR="54864" marT="13716" marB="13716" anchor="ctr">
                    <a:solidFill>
                      <a:srgbClr val="FFFFFF"/>
                    </a:solidFill>
                  </a:tcPr>
                </a:tc>
                <a:tc>
                  <a:txBody>
                    <a:bodyPr/>
                    <a:lstStyle/>
                    <a:p>
                      <a:pPr algn="r">
                        <a:defRPr sz="740" b="1">
                          <a:solidFill>
                            <a:srgbClr val="4A4D55"/>
                          </a:solidFill>
                          <a:latin typeface="Open Sans"/>
                        </a:defRPr>
                      </a:pPr>
                      <a:r>
                        <a:t>Six-month forecast; PVC +21.4% / +16.0% skill at 1–2 months (significant)</a:t>
                      </a:r>
                    </a:p>
                  </a:txBody>
                  <a:tcPr marL="54864" marR="54864" marT="13716" marB="13716" anchor="ctr">
                    <a:solidFill>
                      <a:srgbClr val="FFFFFF"/>
                    </a:solidFill>
                  </a:tcPr>
                </a:tc>
              </a:tr>
              <a:tr h="384048">
                <a:tc>
                  <a:txBody>
                    <a:bodyPr/>
                    <a:lstStyle/>
                    <a:p>
                      <a:pPr algn="l">
                        <a:defRPr sz="740" b="0">
                          <a:solidFill>
                            <a:srgbClr val="4A4D55"/>
                          </a:solidFill>
                          <a:latin typeface="Open Sans"/>
                        </a:defRPr>
                      </a:pPr>
                      <a:r>
                        <a:t>No accuracy tracking</a:t>
                      </a:r>
                    </a:p>
                  </a:txBody>
                  <a:tcPr marL="54864" marR="54864" marT="13716" marB="13716" anchor="ctr">
                    <a:solidFill>
                      <a:srgbClr val="FFFFFF"/>
                    </a:solidFill>
                  </a:tcPr>
                </a:tc>
                <a:tc>
                  <a:txBody>
                    <a:bodyPr/>
                    <a:lstStyle/>
                    <a:p>
                      <a:pPr algn="r">
                        <a:defRPr sz="740" b="1">
                          <a:solidFill>
                            <a:srgbClr val="4A4D55"/>
                          </a:solidFill>
                          <a:latin typeface="Open Sans"/>
                        </a:defRPr>
                      </a:pPr>
                      <a:r>
                        <a:t>Every forecast scored vs naïve; aluminium ≈ naïve (+3.9%, n.s.), reported as is</a:t>
                      </a:r>
                    </a:p>
                  </a:txBody>
                  <a:tcPr marL="54864" marR="54864" marT="13716" marB="13716" anchor="ctr">
                    <a:solidFill>
                      <a:srgbClr val="FFFFFF"/>
                    </a:solidFill>
                  </a:tcPr>
                </a:tc>
              </a:tr>
              <a:tr h="384048">
                <a:tc>
                  <a:txBody>
                    <a:bodyPr/>
                    <a:lstStyle/>
                    <a:p>
                      <a:pPr algn="l">
                        <a:defRPr sz="740" b="0">
                          <a:solidFill>
                            <a:srgbClr val="4A4D55"/>
                          </a:solidFill>
                          <a:latin typeface="Open Sans"/>
                        </a:defRPr>
                      </a:pPr>
                      <a:r>
                        <a:t>"When, how much, what price" by judgement</a:t>
                      </a:r>
                    </a:p>
                  </a:txBody>
                  <a:tcPr marL="54864" marR="54864" marT="13716" marB="13716" anchor="ctr">
                    <a:solidFill>
                      <a:srgbClr val="FFFFFF"/>
                    </a:solidFill>
                  </a:tcPr>
                </a:tc>
                <a:tc>
                  <a:txBody>
                    <a:bodyPr/>
                    <a:lstStyle/>
                    <a:p>
                      <a:pPr algn="r">
                        <a:defRPr sz="740" b="1">
                          <a:solidFill>
                            <a:srgbClr val="4A4D55"/>
                          </a:solidFill>
                          <a:latin typeface="Open Sans"/>
                        </a:defRPr>
                      </a:pPr>
                      <a:r>
                        <a:t>Rule replayed over 78 months: PVC +0.41% net, beats random timing (p = 0.003)</a:t>
                      </a:r>
                    </a:p>
                  </a:txBody>
                  <a:tcPr marL="54864" marR="54864" marT="13716" marB="13716" anchor="ctr">
                    <a:solidFill>
                      <a:srgbClr val="FFFFFF"/>
                    </a:solidFill>
                  </a:tcPr>
                </a:tc>
              </a:tr>
            </a:tbl>
          </a:graphicData>
        </a:graphic>
      </p:graphicFrame>
      <p:sp>
        <p:nvSpPr>
          <p:cNvPr id="58" name="TextBox 5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ACG, "Smart Buy – AI based Raw Material Price Prediction", problem statement. [2] World Bank, Commodity Price Data (Pink Sheet); BLS PPI WPU066 via FRED. [3] Skill and replay figures are embargoed walk-forward results from this submission's pipeline, not illustrations.</a:t>
            </a:r>
          </a:p>
        </p:txBody>
      </p:sp>
      <p:sp>
        <p:nvSpPr>
          <p:cNvPr id="59" name="TextBox 5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Solution</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3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Seven layers: public data in, an explainable forecast with calibrated bands out,</a:t>
            </a:r>
          </a:p>
          <a:p>
            <a:pPr algn="l">
              <a:lnSpc>
                <a:spcPct val="112000"/>
              </a:lnSpc>
              <a:defRPr sz="1700" b="1" i="0">
                <a:solidFill>
                  <a:srgbClr val="16181D"/>
                </a:solidFill>
                <a:latin typeface="Open Sans"/>
              </a:defRPr>
            </a:pPr>
            <a:r>
              <a:t>and a buy signal on top</a:t>
            </a:r>
          </a:p>
        </p:txBody>
      </p:sp>
      <p:sp>
        <p:nvSpPr>
          <p:cNvPr id="14" name="Rectangle 13"/>
          <p:cNvSpPr/>
          <p:nvPr/>
        </p:nvSpPr>
        <p:spPr>
          <a:xfrm>
            <a:off x="50292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1</a:t>
            </a:r>
          </a:p>
        </p:txBody>
      </p:sp>
      <p:sp>
        <p:nvSpPr>
          <p:cNvPr id="17" name="TextBox 16"/>
          <p:cNvSpPr txBox="1"/>
          <p:nvPr/>
        </p:nvSpPr>
        <p:spPr>
          <a:xfrm>
            <a:off x="60350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Ingest</a:t>
            </a:r>
          </a:p>
        </p:txBody>
      </p:sp>
      <p:sp>
        <p:nvSpPr>
          <p:cNvPr id="18" name="TextBox 17"/>
          <p:cNvSpPr txBox="1"/>
          <p:nvPr/>
        </p:nvSpPr>
        <p:spPr>
          <a:xfrm>
            <a:off x="60350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World Bank, BLS and Fed via FRED, ECB, GPR, EPU, OECD. Real published series only.</a:t>
            </a:r>
          </a:p>
        </p:txBody>
      </p:sp>
      <p:sp>
        <p:nvSpPr>
          <p:cNvPr id="19" name="Rectangle 18"/>
          <p:cNvSpPr/>
          <p:nvPr/>
        </p:nvSpPr>
        <p:spPr>
          <a:xfrm>
            <a:off x="212140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12140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2199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2</a:t>
            </a:r>
          </a:p>
        </p:txBody>
      </p:sp>
      <p:sp>
        <p:nvSpPr>
          <p:cNvPr id="22" name="TextBox 21"/>
          <p:cNvSpPr txBox="1"/>
          <p:nvPr/>
        </p:nvSpPr>
        <p:spPr>
          <a:xfrm>
            <a:off x="222199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As-of alignment</a:t>
            </a:r>
          </a:p>
        </p:txBody>
      </p:sp>
      <p:sp>
        <p:nvSpPr>
          <p:cNvPr id="23" name="TextBox 22"/>
          <p:cNvSpPr txBox="1"/>
          <p:nvPr/>
        </p:nvSpPr>
        <p:spPr>
          <a:xfrm>
            <a:off x="222199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Publication lag per series. Training rows embargoed until their outcome is published.</a:t>
            </a:r>
          </a:p>
        </p:txBody>
      </p:sp>
      <p:sp>
        <p:nvSpPr>
          <p:cNvPr id="24" name="Rectangle 23"/>
          <p:cNvSpPr/>
          <p:nvPr/>
        </p:nvSpPr>
        <p:spPr>
          <a:xfrm>
            <a:off x="3739896"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739896"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840480"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3</a:t>
            </a:r>
          </a:p>
        </p:txBody>
      </p:sp>
      <p:sp>
        <p:nvSpPr>
          <p:cNvPr id="27" name="TextBox 26"/>
          <p:cNvSpPr txBox="1"/>
          <p:nvPr/>
        </p:nvSpPr>
        <p:spPr>
          <a:xfrm>
            <a:off x="3840480"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Features</a:t>
            </a:r>
          </a:p>
        </p:txBody>
      </p:sp>
      <p:sp>
        <p:nvSpPr>
          <p:cNvPr id="28" name="TextBox 27"/>
          <p:cNvSpPr txBox="1"/>
          <p:nvPr/>
        </p:nvSpPr>
        <p:spPr>
          <a:xfrm>
            <a:off x="3840480"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41 / 36 trailing-window features; a 74-series panel for the global models.</a:t>
            </a:r>
          </a:p>
        </p:txBody>
      </p:sp>
      <p:sp>
        <p:nvSpPr>
          <p:cNvPr id="29" name="Rectangle 28"/>
          <p:cNvSpPr/>
          <p:nvPr/>
        </p:nvSpPr>
        <p:spPr>
          <a:xfrm>
            <a:off x="5358384"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358384"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58968"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4</a:t>
            </a:r>
          </a:p>
        </p:txBody>
      </p:sp>
      <p:sp>
        <p:nvSpPr>
          <p:cNvPr id="32" name="TextBox 31"/>
          <p:cNvSpPr txBox="1"/>
          <p:nvPr/>
        </p:nvSpPr>
        <p:spPr>
          <a:xfrm>
            <a:off x="5458968"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Direct multi-horizon</a:t>
            </a:r>
          </a:p>
        </p:txBody>
      </p:sp>
      <p:sp>
        <p:nvSpPr>
          <p:cNvPr id="33" name="TextBox 32"/>
          <p:cNvSpPr txBox="1"/>
          <p:nvPr/>
        </p:nvSpPr>
        <p:spPr>
          <a:xfrm>
            <a:off x="5458968"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Six models per material, one per month ahead. Target is the log-return.</a:t>
            </a:r>
          </a:p>
        </p:txBody>
      </p:sp>
      <p:sp>
        <p:nvSpPr>
          <p:cNvPr id="34" name="Rectangle 33"/>
          <p:cNvSpPr/>
          <p:nvPr/>
        </p:nvSpPr>
        <p:spPr>
          <a:xfrm>
            <a:off x="6976872"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76872"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77456"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5</a:t>
            </a:r>
          </a:p>
        </p:txBody>
      </p:sp>
      <p:sp>
        <p:nvSpPr>
          <p:cNvPr id="37" name="TextBox 36"/>
          <p:cNvSpPr txBox="1"/>
          <p:nvPr/>
        </p:nvSpPr>
        <p:spPr>
          <a:xfrm>
            <a:off x="7077456"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Model zoo</a:t>
            </a:r>
          </a:p>
        </p:txBody>
      </p:sp>
      <p:sp>
        <p:nvSpPr>
          <p:cNvPr id="38" name="TextBox 37"/>
          <p:cNvSpPr txBox="1"/>
          <p:nvPr/>
        </p:nvSpPr>
        <p:spPr>
          <a:xfrm>
            <a:off x="7077456"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Ten models in three tiers: statistical, ML with drivers, and global ML on 74 series.</a:t>
            </a:r>
          </a:p>
        </p:txBody>
      </p:sp>
      <p:sp>
        <p:nvSpPr>
          <p:cNvPr id="39" name="Rectangle 38"/>
          <p:cNvSpPr/>
          <p:nvPr/>
        </p:nvSpPr>
        <p:spPr>
          <a:xfrm>
            <a:off x="859536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59536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9594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6</a:t>
            </a:r>
          </a:p>
        </p:txBody>
      </p:sp>
      <p:sp>
        <p:nvSpPr>
          <p:cNvPr id="42" name="TextBox 41"/>
          <p:cNvSpPr txBox="1"/>
          <p:nvPr/>
        </p:nvSpPr>
        <p:spPr>
          <a:xfrm>
            <a:off x="869594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Validate and gate</a:t>
            </a:r>
          </a:p>
        </p:txBody>
      </p:sp>
      <p:sp>
        <p:nvSpPr>
          <p:cNvPr id="43" name="TextBox 42"/>
          <p:cNvSpPr txBox="1"/>
          <p:nvPr/>
        </p:nvSpPr>
        <p:spPr>
          <a:xfrm>
            <a:off x="869594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78 scored origins plus holdout. A model earns weight only by beating naïve on its own past.</a:t>
            </a:r>
          </a:p>
        </p:txBody>
      </p:sp>
      <p:sp>
        <p:nvSpPr>
          <p:cNvPr id="44" name="Rectangle 43"/>
          <p:cNvSpPr/>
          <p:nvPr/>
        </p:nvSpPr>
        <p:spPr>
          <a:xfrm>
            <a:off x="1021384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21384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1443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7</a:t>
            </a:r>
          </a:p>
        </p:txBody>
      </p:sp>
      <p:sp>
        <p:nvSpPr>
          <p:cNvPr id="47" name="TextBox 46"/>
          <p:cNvSpPr txBox="1"/>
          <p:nvPr/>
        </p:nvSpPr>
        <p:spPr>
          <a:xfrm>
            <a:off x="1031443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Decide</a:t>
            </a:r>
          </a:p>
        </p:txBody>
      </p:sp>
      <p:sp>
        <p:nvSpPr>
          <p:cNvPr id="48" name="TextBox 47"/>
          <p:cNvSpPr txBox="1"/>
          <p:nvPr/>
        </p:nvSpPr>
        <p:spPr>
          <a:xfrm>
            <a:off x="1031443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Expected saving net of carry → buy now / buy normal / defer, cover, order quantity.</a:t>
            </a:r>
          </a:p>
        </p:txBody>
      </p:sp>
      <p:cxnSp>
        <p:nvCxnSpPr>
          <p:cNvPr id="49" name="Connector 48"/>
          <p:cNvCxnSpPr/>
          <p:nvPr/>
        </p:nvCxnSpPr>
        <p:spPr>
          <a:xfrm>
            <a:off x="502920" y="41605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42976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one model per horizon</a:t>
            </a:r>
          </a:p>
        </p:txBody>
      </p:sp>
      <p:sp>
        <p:nvSpPr>
          <p:cNvPr id="51" name="TextBox 50"/>
          <p:cNvSpPr txBox="1"/>
          <p:nvPr/>
        </p:nvSpPr>
        <p:spPr>
          <a:xfrm>
            <a:off x="502920" y="459028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Open Sans"/>
              </a:defRPr>
            </a:pPr>
            <a:r>
              <a:t>Six separate models are trained, one for each month ahead. The alternative is recursive: predict month 1, feed that prediction back in as if it were an observation, predict month 2. Recursive compounds its own error across the horizon. Direct does not.</a:t>
            </a:r>
          </a:p>
        </p:txBody>
      </p:sp>
      <p:sp>
        <p:nvSpPr>
          <p:cNvPr id="52" name="TextBox 51"/>
          <p:cNvSpPr txBox="1"/>
          <p:nvPr/>
        </p:nvSpPr>
        <p:spPr>
          <a:xfrm>
            <a:off x="502920" y="53492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the log-return is the target</a:t>
            </a:r>
          </a:p>
        </p:txBody>
      </p:sp>
      <p:sp>
        <p:nvSpPr>
          <p:cNvPr id="53" name="TextBox 52"/>
          <p:cNvSpPr txBox="1"/>
          <p:nvPr/>
        </p:nvSpPr>
        <p:spPr>
          <a:xfrm>
            <a:off x="502920" y="564184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Open Sans"/>
              </a:defRPr>
            </a:pPr>
            <a:r>
              <a:t>Prices ranged from about $1,450 to $3,985 over the sample, so the variance of the level is unstable. The variance of the return is not. Forecasts are converted back with P = P₀·exp(ŷ), the median of the forecast distribution.</a:t>
            </a:r>
          </a:p>
        </p:txBody>
      </p:sp>
      <p:sp>
        <p:nvSpPr>
          <p:cNvPr id="54" name="TextBox 53"/>
          <p:cNvSpPr txBox="1"/>
          <p:nvPr/>
        </p:nvSpPr>
        <p:spPr>
          <a:xfrm>
            <a:off x="6263640" y="42976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Specification</a:t>
            </a:r>
          </a:p>
        </p:txBody>
      </p:sp>
      <p:graphicFrame>
        <p:nvGraphicFramePr>
          <p:cNvPr id="55" name="Table 54"/>
          <p:cNvGraphicFramePr>
            <a:graphicFrameLocks noGrp="1"/>
          </p:cNvGraphicFramePr>
          <p:nvPr/>
        </p:nvGraphicFramePr>
        <p:xfrm>
          <a:off x="6263640" y="4590288"/>
          <a:ext cx="5440680" cy="1691640"/>
        </p:xfrm>
        <a:graphic>
          <a:graphicData uri="http://schemas.openxmlformats.org/drawingml/2006/table">
            <a:tbl>
              <a:tblPr>
                <a:tableStyleId>{5C22544A-7EE6-4342-B048-85BDC9FD1C3A}</a:tableStyleId>
              </a:tblPr>
              <a:tblGrid>
                <a:gridCol w="1143000"/>
                <a:gridCol w="4297680"/>
              </a:tblGrid>
              <a:tr h="237744">
                <a:tc>
                  <a:txBody>
                    <a:bodyPr/>
                    <a:lstStyle/>
                    <a:p>
                      <a:pPr algn="l">
                        <a:defRPr sz="700" b="1">
                          <a:solidFill>
                            <a:srgbClr val="FFFFFF"/>
                          </a:solidFill>
                          <a:latin typeface="Open Sans"/>
                        </a:defRPr>
                      </a:pPr>
                      <a:r>
                        <a:t>Item</a:t>
                      </a:r>
                    </a:p>
                  </a:txBody>
                  <a:tcPr marL="54864" marR="54864" marT="18288" marB="18288" anchor="ctr">
                    <a:solidFill>
                      <a:srgbClr val="C8102E"/>
                    </a:solidFill>
                  </a:tcPr>
                </a:tc>
                <a:tc>
                  <a:txBody>
                    <a:bodyPr/>
                    <a:lstStyle/>
                    <a:p>
                      <a:pPr algn="r">
                        <a:defRPr sz="700" b="1">
                          <a:solidFill>
                            <a:srgbClr val="FFFFFF"/>
                          </a:solidFill>
                          <a:latin typeface="Open Sans"/>
                        </a:defRPr>
                      </a:pPr>
                      <a:r>
                        <a:t>Value</a:t>
                      </a:r>
                    </a:p>
                  </a:txBody>
                  <a:tcPr marL="54864" marR="54864" marT="18288" marB="18288" anchor="ctr">
                    <a:solidFill>
                      <a:srgbClr val="C8102E"/>
                    </a:solidFill>
                  </a:tcPr>
                </a:tc>
              </a:tr>
              <a:tr h="242316">
                <a:tc>
                  <a:txBody>
                    <a:bodyPr/>
                    <a:lstStyle/>
                    <a:p>
                      <a:pPr algn="l">
                        <a:defRPr sz="750" b="0">
                          <a:solidFill>
                            <a:srgbClr val="4A4D55"/>
                          </a:solidFill>
                          <a:latin typeface="Open Sans"/>
                        </a:defRPr>
                      </a:pPr>
                      <a:r>
                        <a:t>Targets</a:t>
                      </a:r>
                    </a:p>
                  </a:txBody>
                  <a:tcPr marL="54864" marR="54864" marT="13716" marB="13716" anchor="ctr">
                    <a:solidFill>
                      <a:srgbClr val="FFFFFF"/>
                    </a:solidFill>
                  </a:tcPr>
                </a:tc>
                <a:tc>
                  <a:txBody>
                    <a:bodyPr/>
                    <a:lstStyle/>
                    <a:p>
                      <a:pPr algn="r">
                        <a:defRPr sz="750" b="0">
                          <a:solidFill>
                            <a:srgbClr val="4A4D55"/>
                          </a:solidFill>
                          <a:latin typeface="Open Sans"/>
                        </a:defRPr>
                      </a:pPr>
                      <a:r>
                        <a:t>LME aluminium (US$/t); US PPI plastic resins WPU066 (PVC proxy)</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Horizons</a:t>
                      </a:r>
                    </a:p>
                  </a:txBody>
                  <a:tcPr marL="54864" marR="54864" marT="13716" marB="13716" anchor="ctr">
                    <a:solidFill>
                      <a:srgbClr val="FFFFFF"/>
                    </a:solidFill>
                  </a:tcPr>
                </a:tc>
                <a:tc>
                  <a:txBody>
                    <a:bodyPr/>
                    <a:lstStyle/>
                    <a:p>
                      <a:pPr algn="r">
                        <a:defRPr sz="750" b="0">
                          <a:solidFill>
                            <a:srgbClr val="4A4D55"/>
                          </a:solidFill>
                          <a:latin typeface="Open Sans"/>
                        </a:defRPr>
                      </a:pPr>
                      <a:r>
                        <a:t>1 to 6 months, monthly steps; h=3 is the decision horizon</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Training</a:t>
                      </a:r>
                    </a:p>
                  </a:txBody>
                  <a:tcPr marL="54864" marR="54864" marT="13716" marB="13716" anchor="ctr">
                    <a:solidFill>
                      <a:srgbClr val="FFFFFF"/>
                    </a:solidFill>
                  </a:tcPr>
                </a:tc>
                <a:tc>
                  <a:txBody>
                    <a:bodyPr/>
                    <a:lstStyle/>
                    <a:p>
                      <a:pPr algn="r">
                        <a:defRPr sz="750" b="0">
                          <a:solidFill>
                            <a:srgbClr val="4A4D55"/>
                          </a:solidFill>
                          <a:latin typeface="Open Sans"/>
                        </a:defRPr>
                      </a:pPr>
                      <a:r>
                        <a:t>Expanding window, embargoed; refit monthly (global models quarterly / yearly)</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Features</a:t>
                      </a:r>
                    </a:p>
                  </a:txBody>
                  <a:tcPr marL="54864" marR="54864" marT="13716" marB="13716" anchor="ctr">
                    <a:solidFill>
                      <a:srgbClr val="FFFFFF"/>
                    </a:solidFill>
                  </a:tcPr>
                </a:tc>
                <a:tc>
                  <a:txBody>
                    <a:bodyPr/>
                    <a:lstStyle/>
                    <a:p>
                      <a:pPr algn="r">
                        <a:defRPr sz="750" b="0">
                          <a:solidFill>
                            <a:srgbClr val="4A4D55"/>
                          </a:solidFill>
                          <a:latin typeface="Open Sans"/>
                        </a:defRPr>
                      </a:pPr>
                      <a:r>
                        <a:t>Real drivers only; ElasticNet selects 15 and tunes inside each fold</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Outputs</a:t>
                      </a:r>
                    </a:p>
                  </a:txBody>
                  <a:tcPr marL="54864" marR="54864" marT="13716" marB="13716" anchor="ctr">
                    <a:solidFill>
                      <a:srgbClr val="FFFFFF"/>
                    </a:solidFill>
                  </a:tcPr>
                </a:tc>
                <a:tc>
                  <a:txBody>
                    <a:bodyPr/>
                    <a:lstStyle/>
                    <a:p>
                      <a:pPr algn="r">
                        <a:defRPr sz="750" b="0">
                          <a:solidFill>
                            <a:srgbClr val="4A4D55"/>
                          </a:solidFill>
                          <a:latin typeface="Open Sans"/>
                        </a:defRPr>
                      </a:pPr>
                      <a:r>
                        <a:t>P50, conformal P10–P90 band, P(up), SHAP attribution, buy signal</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Stack</a:t>
                      </a:r>
                    </a:p>
                  </a:txBody>
                  <a:tcPr marL="54864" marR="54864" marT="13716" marB="13716" anchor="ctr">
                    <a:solidFill>
                      <a:srgbClr val="FFFFFF"/>
                    </a:solidFill>
                  </a:tcPr>
                </a:tc>
                <a:tc>
                  <a:txBody>
                    <a:bodyPr/>
                    <a:lstStyle/>
                    <a:p>
                      <a:pPr algn="r">
                        <a:defRPr sz="750" b="0">
                          <a:solidFill>
                            <a:srgbClr val="4A4D55"/>
                          </a:solidFill>
                          <a:latin typeface="Open Sans"/>
                        </a:defRPr>
                      </a:pPr>
                      <a:r>
                        <a:t>Python, pandas, statsmodels, arch, scikit-learn, LightGBM, JAX</a:t>
                      </a:r>
                    </a:p>
                  </a:txBody>
                  <a:tcPr marL="54864" marR="54864" marT="13716" marB="13716" anchor="ctr">
                    <a:solidFill>
                      <a:srgbClr val="FFFFFF"/>
                    </a:solidFill>
                  </a:tcPr>
                </a:tc>
              </a:tr>
            </a:tbl>
          </a:graphicData>
        </a:graphic>
      </p:graphicFrame>
      <p:sp>
        <p:nvSpPr>
          <p:cNvPr id="56" name="TextBox 5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Hyndman &amp; Athanasopoulos (2021), Forecasting: Principles and Practice, 3rd ed.: direct vs recursive multi-step. [2] Ke et al. (2017), LightGBM, NeurIPS. [3] Oreshkin et al. (2020), N-BEATS, ICLR. [4] Vovk, Gammerman &amp; Shafer (2005), conformal prediction. [5] Bollerslev (1986), GARCH.</a:t>
            </a:r>
          </a:p>
        </p:txBody>
      </p:sp>
      <p:sp>
        <p:nvSpPr>
          <p:cNvPr id="57" name="TextBox 5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6  ·  R E S U L T S   V S   G A T E S</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Results against the thresholds we set in Round 1, before any modelling — reported</a:t>
            </a:r>
          </a:p>
          <a:p>
            <a:pPr algn="l">
              <a:lnSpc>
                <a:spcPct val="112000"/>
              </a:lnSpc>
              <a:defRPr sz="1700" b="1" i="0">
                <a:solidFill>
                  <a:srgbClr val="16181D"/>
                </a:solidFill>
                <a:latin typeface="Open Sans"/>
              </a:defRPr>
            </a:pPr>
            <a:r>
              <a:t>unchanged, after fixing our own leak</a:t>
            </a:r>
          </a:p>
        </p:txBody>
      </p:sp>
      <p:sp>
        <p:nvSpPr>
          <p:cNvPr id="14" name="TextBox 13"/>
          <p:cNvSpPr txBox="1"/>
          <p:nvPr/>
        </p:nvSpPr>
        <p:spPr>
          <a:xfrm>
            <a:off x="502920" y="175564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Headline ensemble, development window: 78 origins, January 2018 – June 2024</a:t>
            </a:r>
          </a:p>
        </p:txBody>
      </p:sp>
      <p:graphicFrame>
        <p:nvGraphicFramePr>
          <p:cNvPr id="15" name="Table 14"/>
          <p:cNvGraphicFramePr>
            <a:graphicFrameLocks noGrp="1"/>
          </p:cNvGraphicFramePr>
          <p:nvPr/>
        </p:nvGraphicFramePr>
        <p:xfrm>
          <a:off x="502920" y="2029968"/>
          <a:ext cx="11201394" cy="1801362"/>
        </p:xfrm>
        <a:graphic>
          <a:graphicData uri="http://schemas.openxmlformats.org/drawingml/2006/table">
            <a:tbl>
              <a:tblPr>
                <a:tableStyleId>{5C22544A-7EE6-4342-B048-85BDC9FD1C3A}</a:tableStyleId>
              </a:tblPr>
              <a:tblGrid>
                <a:gridCol w="1069013"/>
                <a:gridCol w="883097"/>
                <a:gridCol w="883097"/>
                <a:gridCol w="836619"/>
                <a:gridCol w="790140"/>
                <a:gridCol w="836619"/>
                <a:gridCol w="929576"/>
                <a:gridCol w="929576"/>
                <a:gridCol w="883097"/>
                <a:gridCol w="836619"/>
                <a:gridCol w="836619"/>
                <a:gridCol w="1487322"/>
              </a:tblGrid>
              <a:tr h="237744">
                <a:tc>
                  <a:txBody>
                    <a:bodyPr/>
                    <a:lstStyle/>
                    <a:p>
                      <a:pPr algn="l">
                        <a:defRPr sz="660" b="1">
                          <a:solidFill>
                            <a:srgbClr val="FFFFFF"/>
                          </a:solidFill>
                          <a:latin typeface="Open Sans"/>
                        </a:defRPr>
                      </a:pPr>
                      <a:r>
                        <a:t>Horizon</a:t>
                      </a:r>
                    </a:p>
                  </a:txBody>
                  <a:tcPr marL="54864" marR="54864" marT="18288" marB="18288" anchor="ctr">
                    <a:solidFill>
                      <a:srgbClr val="C8102E"/>
                    </a:solidFill>
                  </a:tcPr>
                </a:tc>
                <a:tc>
                  <a:txBody>
                    <a:bodyPr/>
                    <a:lstStyle/>
                    <a:p>
                      <a:pPr algn="r">
                        <a:defRPr sz="660" b="1">
                          <a:solidFill>
                            <a:srgbClr val="FFFFFF"/>
                          </a:solidFill>
                          <a:latin typeface="Open Sans"/>
                        </a:defRPr>
                      </a:pPr>
                      <a:r>
                        <a:t>Al MAPE</a:t>
                      </a:r>
                    </a:p>
                  </a:txBody>
                  <a:tcPr marL="54864" marR="54864" marT="18288" marB="18288" anchor="ctr">
                    <a:solidFill>
                      <a:srgbClr val="C8102E"/>
                    </a:solidFill>
                  </a:tcPr>
                </a:tc>
                <a:tc>
                  <a:txBody>
                    <a:bodyPr/>
                    <a:lstStyle/>
                    <a:p>
                      <a:pPr algn="r">
                        <a:defRPr sz="660" b="1">
                          <a:solidFill>
                            <a:srgbClr val="FFFFFF"/>
                          </a:solidFill>
                          <a:latin typeface="Open Sans"/>
                        </a:defRPr>
                      </a:pPr>
                      <a:r>
                        <a:t>Al naïve</a:t>
                      </a:r>
                    </a:p>
                  </a:txBody>
                  <a:tcPr marL="54864" marR="54864" marT="18288" marB="18288" anchor="ctr">
                    <a:solidFill>
                      <a:srgbClr val="C8102E"/>
                    </a:solidFill>
                  </a:tcPr>
                </a:tc>
                <a:tc>
                  <a:txBody>
                    <a:bodyPr/>
                    <a:lstStyle/>
                    <a:p>
                      <a:pPr algn="r">
                        <a:defRPr sz="660" b="1">
                          <a:solidFill>
                            <a:srgbClr val="FFFFFF"/>
                          </a:solidFill>
                          <a:latin typeface="Open Sans"/>
                        </a:defRPr>
                      </a:pPr>
                      <a:r>
                        <a:t>Al skill</a:t>
                      </a:r>
                    </a:p>
                  </a:txBody>
                  <a:tcPr marL="54864" marR="54864" marT="18288" marB="18288" anchor="ctr">
                    <a:solidFill>
                      <a:srgbClr val="C8102E"/>
                    </a:solidFill>
                  </a:tcPr>
                </a:tc>
                <a:tc>
                  <a:txBody>
                    <a:bodyPr/>
                    <a:lstStyle/>
                    <a:p>
                      <a:pPr algn="r">
                        <a:defRPr sz="660" b="1">
                          <a:solidFill>
                            <a:srgbClr val="FFFFFF"/>
                          </a:solidFill>
                          <a:latin typeface="Open Sans"/>
                        </a:defRPr>
                      </a:pPr>
                      <a:r>
                        <a:t>Al dir.</a:t>
                      </a:r>
                    </a:p>
                  </a:txBody>
                  <a:tcPr marL="54864" marR="54864" marT="18288" marB="18288" anchor="ctr">
                    <a:solidFill>
                      <a:srgbClr val="C8102E"/>
                    </a:solidFill>
                  </a:tcPr>
                </a:tc>
                <a:tc>
                  <a:txBody>
                    <a:bodyPr/>
                    <a:lstStyle/>
                    <a:p>
                      <a:pPr algn="r">
                        <a:defRPr sz="660" b="1">
                          <a:solidFill>
                            <a:srgbClr val="FFFFFF"/>
                          </a:solidFill>
                          <a:latin typeface="Open Sans"/>
                        </a:defRPr>
                      </a:pPr>
                      <a:r>
                        <a:t>Al DM p</a:t>
                      </a:r>
                    </a:p>
                  </a:txBody>
                  <a:tcPr marL="54864" marR="54864" marT="18288" marB="18288" anchor="ctr">
                    <a:solidFill>
                      <a:srgbClr val="C8102E"/>
                    </a:solidFill>
                  </a:tcPr>
                </a:tc>
                <a:tc>
                  <a:txBody>
                    <a:bodyPr/>
                    <a:lstStyle/>
                    <a:p>
                      <a:pPr algn="r">
                        <a:defRPr sz="660" b="1">
                          <a:solidFill>
                            <a:srgbClr val="FFFFFF"/>
                          </a:solidFill>
                          <a:latin typeface="Open Sans"/>
                        </a:defRPr>
                      </a:pPr>
                      <a:r>
                        <a:t>PVC MAPE</a:t>
                      </a:r>
                    </a:p>
                  </a:txBody>
                  <a:tcPr marL="54864" marR="54864" marT="18288" marB="18288" anchor="ctr">
                    <a:solidFill>
                      <a:srgbClr val="C8102E"/>
                    </a:solidFill>
                  </a:tcPr>
                </a:tc>
                <a:tc>
                  <a:txBody>
                    <a:bodyPr/>
                    <a:lstStyle/>
                    <a:p>
                      <a:pPr algn="r">
                        <a:defRPr sz="660" b="1">
                          <a:solidFill>
                            <a:srgbClr val="FFFFFF"/>
                          </a:solidFill>
                          <a:latin typeface="Open Sans"/>
                        </a:defRPr>
                      </a:pPr>
                      <a:r>
                        <a:t>PVC naïve</a:t>
                      </a:r>
                    </a:p>
                  </a:txBody>
                  <a:tcPr marL="54864" marR="54864" marT="18288" marB="18288" anchor="ctr">
                    <a:solidFill>
                      <a:srgbClr val="C8102E"/>
                    </a:solidFill>
                  </a:tcPr>
                </a:tc>
                <a:tc>
                  <a:txBody>
                    <a:bodyPr/>
                    <a:lstStyle/>
                    <a:p>
                      <a:pPr algn="r">
                        <a:defRPr sz="660" b="1">
                          <a:solidFill>
                            <a:srgbClr val="FFFFFF"/>
                          </a:solidFill>
                          <a:latin typeface="Open Sans"/>
                        </a:defRPr>
                      </a:pPr>
                      <a:r>
                        <a:t>PVC skill</a:t>
                      </a:r>
                    </a:p>
                  </a:txBody>
                  <a:tcPr marL="54864" marR="54864" marT="18288" marB="18288" anchor="ctr">
                    <a:solidFill>
                      <a:srgbClr val="C8102E"/>
                    </a:solidFill>
                  </a:tcPr>
                </a:tc>
                <a:tc>
                  <a:txBody>
                    <a:bodyPr/>
                    <a:lstStyle/>
                    <a:p>
                      <a:pPr algn="r">
                        <a:defRPr sz="660" b="1">
                          <a:solidFill>
                            <a:srgbClr val="FFFFFF"/>
                          </a:solidFill>
                          <a:latin typeface="Open Sans"/>
                        </a:defRPr>
                      </a:pPr>
                      <a:r>
                        <a:t>PVC dir.</a:t>
                      </a:r>
                    </a:p>
                  </a:txBody>
                  <a:tcPr marL="54864" marR="54864" marT="18288" marB="18288" anchor="ctr">
                    <a:solidFill>
                      <a:srgbClr val="C8102E"/>
                    </a:solidFill>
                  </a:tcPr>
                </a:tc>
                <a:tc>
                  <a:txBody>
                    <a:bodyPr/>
                    <a:lstStyle/>
                    <a:p>
                      <a:pPr algn="r">
                        <a:defRPr sz="660" b="1">
                          <a:solidFill>
                            <a:srgbClr val="FFFFFF"/>
                          </a:solidFill>
                          <a:latin typeface="Open Sans"/>
                        </a:defRPr>
                      </a:pPr>
                      <a:r>
                        <a:t>PVC DM p</a:t>
                      </a:r>
                    </a:p>
                  </a:txBody>
                  <a:tcPr marL="54864" marR="54864" marT="18288" marB="18288" anchor="ctr">
                    <a:solidFill>
                      <a:srgbClr val="C8102E"/>
                    </a:solidFill>
                  </a:tcPr>
                </a:tc>
                <a:tc>
                  <a:txBody>
                    <a:bodyPr/>
                    <a:lstStyle/>
                    <a:p>
                      <a:pPr algn="r">
                        <a:defRPr sz="660" b="1">
                          <a:solidFill>
                            <a:srgbClr val="FFFFFF"/>
                          </a:solidFill>
                          <a:latin typeface="Open Sans"/>
                        </a:defRPr>
                      </a:pPr>
                      <a:r>
                        <a:t>Gate  ·  Al / PVC</a:t>
                      </a:r>
                    </a:p>
                  </a:txBody>
                  <a:tcPr marL="54864" marR="54864" marT="18288" marB="18288" anchor="ctr">
                    <a:solidFill>
                      <a:srgbClr val="C8102E"/>
                    </a:solidFill>
                  </a:tcPr>
                </a:tc>
              </a:tr>
              <a:tr h="260603">
                <a:tc>
                  <a:txBody>
                    <a:bodyPr/>
                    <a:lstStyle/>
                    <a:p>
                      <a:pPr algn="l">
                        <a:defRPr sz="740" b="0">
                          <a:solidFill>
                            <a:srgbClr val="4A4D55"/>
                          </a:solidFill>
                          <a:latin typeface="Open Sans"/>
                        </a:defRPr>
                      </a:pPr>
                      <a:r>
                        <a:t>1 month</a:t>
                      </a:r>
                    </a:p>
                  </a:txBody>
                  <a:tcPr marL="54864" marR="54864" marT="13716" marB="13716" anchor="ctr">
                    <a:solidFill>
                      <a:srgbClr val="FFFFFF"/>
                    </a:solidFill>
                  </a:tcPr>
                </a:tc>
                <a:tc>
                  <a:txBody>
                    <a:bodyPr/>
                    <a:lstStyle/>
                    <a:p>
                      <a:pPr algn="r">
                        <a:defRPr sz="740" b="0">
                          <a:solidFill>
                            <a:srgbClr val="4A4D55"/>
                          </a:solidFill>
                          <a:latin typeface="Open Sans"/>
                        </a:defRPr>
                      </a:pPr>
                      <a:r>
                        <a:t>3.73%</a:t>
                      </a:r>
                    </a:p>
                  </a:txBody>
                  <a:tcPr marL="54864" marR="54864" marT="13716" marB="13716" anchor="ctr">
                    <a:solidFill>
                      <a:srgbClr val="FFFFFF"/>
                    </a:solidFill>
                  </a:tcPr>
                </a:tc>
                <a:tc>
                  <a:txBody>
                    <a:bodyPr/>
                    <a:lstStyle/>
                    <a:p>
                      <a:pPr algn="r">
                        <a:defRPr sz="740" b="0">
                          <a:solidFill>
                            <a:srgbClr val="4A4D55"/>
                          </a:solidFill>
                          <a:latin typeface="Open Sans"/>
                        </a:defRPr>
                      </a:pPr>
                      <a:r>
                        <a:t>3.79%</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+1.5%</a:t>
                      </a:r>
                    </a:p>
                  </a:txBody>
                  <a:tcPr marL="54864" marR="54864" marT="13716" marB="13716" anchor="ctr">
                    <a:solidFill>
                      <a:srgbClr val="FFFFFF"/>
                    </a:solidFill>
                  </a:tcPr>
                </a:tc>
                <a:tc>
                  <a:txBody>
                    <a:bodyPr/>
                    <a:lstStyle/>
                    <a:p>
                      <a:pPr algn="r">
                        <a:defRPr sz="740" b="0">
                          <a:solidFill>
                            <a:srgbClr val="4A4D55"/>
                          </a:solidFill>
                          <a:latin typeface="Open Sans"/>
                        </a:defRPr>
                      </a:pPr>
                      <a:r>
                        <a:t>51.3%</a:t>
                      </a:r>
                    </a:p>
                  </a:txBody>
                  <a:tcPr marL="54864" marR="54864" marT="13716" marB="13716" anchor="ctr">
                    <a:solidFill>
                      <a:srgbClr val="FFFFFF"/>
                    </a:solidFill>
                  </a:tcPr>
                </a:tc>
                <a:tc>
                  <a:txBody>
                    <a:bodyPr/>
                    <a:lstStyle/>
                    <a:p>
                      <a:pPr algn="r">
                        <a:defRPr sz="740" b="0">
                          <a:solidFill>
                            <a:srgbClr val="4A4D55"/>
                          </a:solidFill>
                          <a:latin typeface="Open Sans"/>
                        </a:defRPr>
                      </a:pPr>
                      <a:r>
                        <a:t>0.2881</a:t>
                      </a:r>
                    </a:p>
                  </a:txBody>
                  <a:tcPr marL="54864" marR="54864" marT="13716" marB="13716" anchor="ctr">
                    <a:solidFill>
                      <a:srgbClr val="FFFFFF"/>
                    </a:solidFill>
                  </a:tcPr>
                </a:tc>
                <a:tc>
                  <a:txBody>
                    <a:bodyPr/>
                    <a:lstStyle/>
                    <a:p>
                      <a:pPr algn="r">
                        <a:defRPr sz="740" b="0">
                          <a:solidFill>
                            <a:srgbClr val="4A4D55"/>
                          </a:solidFill>
                          <a:latin typeface="Open Sans"/>
                        </a:defRPr>
                      </a:pPr>
                      <a:r>
                        <a:t>1.40%</a:t>
                      </a:r>
                    </a:p>
                  </a:txBody>
                  <a:tcPr marL="54864" marR="54864" marT="13716" marB="13716" anchor="ctr">
                    <a:solidFill>
                      <a:srgbClr val="FFFFFF"/>
                    </a:solidFill>
                  </a:tcPr>
                </a:tc>
                <a:tc>
                  <a:txBody>
                    <a:bodyPr/>
                    <a:lstStyle/>
                    <a:p>
                      <a:pPr algn="r">
                        <a:defRPr sz="740" b="0">
                          <a:solidFill>
                            <a:srgbClr val="4A4D55"/>
                          </a:solidFill>
                          <a:latin typeface="Open Sans"/>
                        </a:defRPr>
                      </a:pPr>
                      <a:r>
                        <a:t>1.78%</a:t>
                      </a:r>
                    </a:p>
                  </a:txBody>
                  <a:tcPr marL="54864" marR="54864" marT="13716" marB="13716" anchor="ctr">
                    <a:solidFill>
                      <a:srgbClr val="FFFFFF"/>
                    </a:solidFill>
                  </a:tcPr>
                </a:tc>
                <a:tc>
                  <a:txBody>
                    <a:bodyPr/>
                    <a:lstStyle/>
                    <a:p>
                      <a:pPr algn="r">
                        <a:defRPr sz="740" b="0">
                          <a:solidFill>
                            <a:srgbClr val="0F6B3F"/>
                          </a:solidFill>
                          <a:latin typeface="Open Sans"/>
                        </a:defRPr>
                      </a:pPr>
                      <a:r>
                        <a:rPr sz="740" b="0">
                          <a:solidFill>
                            <a:srgbClr val="0F6B3F"/>
                          </a:solidFill>
                          <a:latin typeface="Open Sans"/>
                        </a:rPr>
                        <a:t>+21.4%</a:t>
                      </a:r>
                    </a:p>
                  </a:txBody>
                  <a:tcPr marL="54864" marR="54864" marT="13716" marB="13716" anchor="ctr">
                    <a:solidFill>
                      <a:srgbClr val="FFFFFF"/>
                    </a:solidFill>
                  </a:tcPr>
                </a:tc>
                <a:tc>
                  <a:txBody>
                    <a:bodyPr/>
                    <a:lstStyle/>
                    <a:p>
                      <a:pPr algn="r">
                        <a:defRPr sz="740" b="0">
                          <a:solidFill>
                            <a:srgbClr val="4A4D55"/>
                          </a:solidFill>
                          <a:latin typeface="Open Sans"/>
                        </a:defRPr>
                      </a:pPr>
                      <a:r>
                        <a:t>71.4%</a:t>
                      </a:r>
                    </a:p>
                  </a:txBody>
                  <a:tcPr marL="54864" marR="54864" marT="13716" marB="13716" anchor="ctr">
                    <a:solidFill>
                      <a:srgbClr val="FFFFFF"/>
                    </a:solidFill>
                  </a:tcPr>
                </a:tc>
                <a:tc>
                  <a:txBody>
                    <a:bodyPr/>
                    <a:lstStyle/>
                    <a:p>
                      <a:pPr algn="r">
                        <a:defRPr sz="740" b="0">
                          <a:solidFill>
                            <a:srgbClr val="4A4D55"/>
                          </a:solidFill>
                          <a:latin typeface="Open Sans"/>
                        </a:defRPr>
                      </a:pPr>
                      <a:r>
                        <a:t>0.0004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2 months</a:t>
                      </a:r>
                    </a:p>
                  </a:txBody>
                  <a:tcPr marL="54864" marR="54864" marT="13716" marB="13716" anchor="ctr">
                    <a:solidFill>
                      <a:srgbClr val="FFFFFF"/>
                    </a:solidFill>
                  </a:tcPr>
                </a:tc>
                <a:tc>
                  <a:txBody>
                    <a:bodyPr/>
                    <a:lstStyle/>
                    <a:p>
                      <a:pPr algn="r">
                        <a:defRPr sz="740" b="0">
                          <a:solidFill>
                            <a:srgbClr val="4A4D55"/>
                          </a:solidFill>
                          <a:latin typeface="Open Sans"/>
                        </a:defRPr>
                      </a:pPr>
                      <a:r>
                        <a:t>6.13%</a:t>
                      </a:r>
                    </a:p>
                  </a:txBody>
                  <a:tcPr marL="54864" marR="54864" marT="13716" marB="13716" anchor="ctr">
                    <a:solidFill>
                      <a:srgbClr val="FFFFFF"/>
                    </a:solidFill>
                  </a:tcPr>
                </a:tc>
                <a:tc>
                  <a:txBody>
                    <a:bodyPr/>
                    <a:lstStyle/>
                    <a:p>
                      <a:pPr algn="r">
                        <a:defRPr sz="740" b="0">
                          <a:solidFill>
                            <a:srgbClr val="4A4D55"/>
                          </a:solidFill>
                          <a:latin typeface="Open Sans"/>
                        </a:defRPr>
                      </a:pPr>
                      <a:r>
                        <a:t>6.37%</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+3.8%</a:t>
                      </a:r>
                    </a:p>
                  </a:txBody>
                  <a:tcPr marL="54864" marR="54864" marT="13716" marB="13716" anchor="ctr">
                    <a:solidFill>
                      <a:srgbClr val="FFFFFF"/>
                    </a:solidFill>
                  </a:tcPr>
                </a:tc>
                <a:tc>
                  <a:txBody>
                    <a:bodyPr/>
                    <a:lstStyle/>
                    <a:p>
                      <a:pPr algn="r">
                        <a:defRPr sz="740" b="0">
                          <a:solidFill>
                            <a:srgbClr val="4A4D55"/>
                          </a:solidFill>
                          <a:latin typeface="Open Sans"/>
                        </a:defRPr>
                      </a:pPr>
                      <a:r>
                        <a:t>53.8%</a:t>
                      </a:r>
                    </a:p>
                  </a:txBody>
                  <a:tcPr marL="54864" marR="54864" marT="13716" marB="13716" anchor="ctr">
                    <a:solidFill>
                      <a:srgbClr val="FFFFFF"/>
                    </a:solidFill>
                  </a:tcPr>
                </a:tc>
                <a:tc>
                  <a:txBody>
                    <a:bodyPr/>
                    <a:lstStyle/>
                    <a:p>
                      <a:pPr algn="r">
                        <a:defRPr sz="740" b="0">
                          <a:solidFill>
                            <a:srgbClr val="4A4D55"/>
                          </a:solidFill>
                          <a:latin typeface="Open Sans"/>
                        </a:defRPr>
                      </a:pPr>
                      <a:r>
                        <a:t>0.1583</a:t>
                      </a:r>
                    </a:p>
                  </a:txBody>
                  <a:tcPr marL="54864" marR="54864" marT="13716" marB="13716" anchor="ctr">
                    <a:solidFill>
                      <a:srgbClr val="FFFFFF"/>
                    </a:solidFill>
                  </a:tcPr>
                </a:tc>
                <a:tc>
                  <a:txBody>
                    <a:bodyPr/>
                    <a:lstStyle/>
                    <a:p>
                      <a:pPr algn="r">
                        <a:defRPr sz="740" b="0">
                          <a:solidFill>
                            <a:srgbClr val="4A4D55"/>
                          </a:solidFill>
                          <a:latin typeface="Open Sans"/>
                        </a:defRPr>
                      </a:pPr>
                      <a:r>
                        <a:t>2.65%</a:t>
                      </a:r>
                    </a:p>
                  </a:txBody>
                  <a:tcPr marL="54864" marR="54864" marT="13716" marB="13716" anchor="ctr">
                    <a:solidFill>
                      <a:srgbClr val="FFFFFF"/>
                    </a:solidFill>
                  </a:tcPr>
                </a:tc>
                <a:tc>
                  <a:txBody>
                    <a:bodyPr/>
                    <a:lstStyle/>
                    <a:p>
                      <a:pPr algn="r">
                        <a:defRPr sz="740" b="0">
                          <a:solidFill>
                            <a:srgbClr val="4A4D55"/>
                          </a:solidFill>
                          <a:latin typeface="Open Sans"/>
                        </a:defRPr>
                      </a:pPr>
                      <a:r>
                        <a:t>3.15%</a:t>
                      </a:r>
                    </a:p>
                  </a:txBody>
                  <a:tcPr marL="54864" marR="54864" marT="13716" marB="13716" anchor="ctr">
                    <a:solidFill>
                      <a:srgbClr val="FFFFFF"/>
                    </a:solidFill>
                  </a:tcPr>
                </a:tc>
                <a:tc>
                  <a:txBody>
                    <a:bodyPr/>
                    <a:lstStyle/>
                    <a:p>
                      <a:pPr algn="r">
                        <a:defRPr sz="740" b="0">
                          <a:solidFill>
                            <a:srgbClr val="0F6B3F"/>
                          </a:solidFill>
                          <a:latin typeface="Open Sans"/>
                        </a:defRPr>
                      </a:pPr>
                      <a:r>
                        <a:rPr sz="740" b="0">
                          <a:solidFill>
                            <a:srgbClr val="0F6B3F"/>
                          </a:solidFill>
                          <a:latin typeface="Open Sans"/>
                        </a:rPr>
                        <a:t>+16.0%</a:t>
                      </a:r>
                    </a:p>
                  </a:txBody>
                  <a:tcPr marL="54864" marR="54864" marT="13716" marB="13716" anchor="ctr">
                    <a:solidFill>
                      <a:srgbClr val="FFFFFF"/>
                    </a:solidFill>
                  </a:tcPr>
                </a:tc>
                <a:tc>
                  <a:txBody>
                    <a:bodyPr/>
                    <a:lstStyle/>
                    <a:p>
                      <a:pPr algn="r">
                        <a:defRPr sz="740" b="0">
                          <a:solidFill>
                            <a:srgbClr val="4A4D55"/>
                          </a:solidFill>
                          <a:latin typeface="Open Sans"/>
                        </a:defRPr>
                      </a:pPr>
                      <a:r>
                        <a:t>66.7%</a:t>
                      </a:r>
                    </a:p>
                  </a:txBody>
                  <a:tcPr marL="54864" marR="54864" marT="13716" marB="13716" anchor="ctr">
                    <a:solidFill>
                      <a:srgbClr val="FFFFFF"/>
                    </a:solidFill>
                  </a:tcPr>
                </a:tc>
                <a:tc>
                  <a:txBody>
                    <a:bodyPr/>
                    <a:lstStyle/>
                    <a:p>
                      <a:pPr algn="r">
                        <a:defRPr sz="740" b="0">
                          <a:solidFill>
                            <a:srgbClr val="4A4D55"/>
                          </a:solidFill>
                          <a:latin typeface="Open Sans"/>
                        </a:defRPr>
                      </a:pPr>
                      <a:r>
                        <a:t>0.0286</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≥12%    ✗ / ✓</a:t>
                      </a:r>
                    </a:p>
                  </a:txBody>
                  <a:tcPr marL="54864" marR="54864" marT="13716" marB="13716" anchor="ctr">
                    <a:solidFill>
                      <a:srgbClr val="FFFFFF"/>
                    </a:solidFill>
                  </a:tcPr>
                </a:tc>
              </a:tr>
              <a:tr h="260603">
                <a:tc>
                  <a:txBody>
                    <a:bodyPr/>
                    <a:lstStyle/>
                    <a:p>
                      <a:pPr algn="l">
                        <a:defRPr sz="740" b="1">
                          <a:solidFill>
                            <a:srgbClr val="4A4D55"/>
                          </a:solidFill>
                          <a:latin typeface="Open Sans"/>
                        </a:defRPr>
                      </a:pPr>
                      <a:r>
                        <a:t>3 months</a:t>
                      </a:r>
                    </a:p>
                  </a:txBody>
                  <a:tcPr marL="54864" marR="54864" marT="13716" marB="13716" anchor="ctr">
                    <a:solidFill>
                      <a:srgbClr val="FDF2F4"/>
                    </a:solidFill>
                  </a:tcPr>
                </a:tc>
                <a:tc>
                  <a:txBody>
                    <a:bodyPr/>
                    <a:lstStyle/>
                    <a:p>
                      <a:pPr algn="r">
                        <a:defRPr sz="740" b="1">
                          <a:solidFill>
                            <a:srgbClr val="4A4D55"/>
                          </a:solidFill>
                          <a:latin typeface="Open Sans"/>
                        </a:defRPr>
                      </a:pPr>
                      <a:r>
                        <a:t>7.87%</a:t>
                      </a:r>
                    </a:p>
                  </a:txBody>
                  <a:tcPr marL="54864" marR="54864" marT="13716" marB="13716" anchor="ctr">
                    <a:solidFill>
                      <a:srgbClr val="FDF2F4"/>
                    </a:solidFill>
                  </a:tcPr>
                </a:tc>
                <a:tc>
                  <a:txBody>
                    <a:bodyPr/>
                    <a:lstStyle/>
                    <a:p>
                      <a:pPr algn="r">
                        <a:defRPr sz="740" b="1">
                          <a:solidFill>
                            <a:srgbClr val="4A4D55"/>
                          </a:solidFill>
                          <a:latin typeface="Open Sans"/>
                        </a:defRPr>
                      </a:pPr>
                      <a:r>
                        <a:t>8.19%</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+3.9%</a:t>
                      </a:r>
                    </a:p>
                  </a:txBody>
                  <a:tcPr marL="54864" marR="54864" marT="13716" marB="13716" anchor="ctr">
                    <a:solidFill>
                      <a:srgbClr val="FDF2F4"/>
                    </a:solidFill>
                  </a:tcPr>
                </a:tc>
                <a:tc>
                  <a:txBody>
                    <a:bodyPr/>
                    <a:lstStyle/>
                    <a:p>
                      <a:pPr algn="r">
                        <a:defRPr sz="740" b="1">
                          <a:solidFill>
                            <a:srgbClr val="4A4D55"/>
                          </a:solidFill>
                          <a:latin typeface="Open Sans"/>
                        </a:defRPr>
                      </a:pPr>
                      <a:r>
                        <a:t>64.1%</a:t>
                      </a:r>
                    </a:p>
                  </a:txBody>
                  <a:tcPr marL="54864" marR="54864" marT="13716" marB="13716" anchor="ctr">
                    <a:solidFill>
                      <a:srgbClr val="FDF2F4"/>
                    </a:solidFill>
                  </a:tcPr>
                </a:tc>
                <a:tc>
                  <a:txBody>
                    <a:bodyPr/>
                    <a:lstStyle/>
                    <a:p>
                      <a:pPr algn="r">
                        <a:defRPr sz="740" b="1">
                          <a:solidFill>
                            <a:srgbClr val="4A4D55"/>
                          </a:solidFill>
                          <a:latin typeface="Open Sans"/>
                        </a:defRPr>
                      </a:pPr>
                      <a:r>
                        <a:t>0.1419</a:t>
                      </a:r>
                    </a:p>
                  </a:txBody>
                  <a:tcPr marL="54864" marR="54864" marT="13716" marB="13716" anchor="ctr">
                    <a:solidFill>
                      <a:srgbClr val="FDF2F4"/>
                    </a:solidFill>
                  </a:tcPr>
                </a:tc>
                <a:tc>
                  <a:txBody>
                    <a:bodyPr/>
                    <a:lstStyle/>
                    <a:p>
                      <a:pPr algn="r">
                        <a:defRPr sz="740" b="1">
                          <a:solidFill>
                            <a:srgbClr val="4A4D55"/>
                          </a:solidFill>
                          <a:latin typeface="Open Sans"/>
                        </a:defRPr>
                      </a:pPr>
                      <a:r>
                        <a:t>3.94%</a:t>
                      </a:r>
                    </a:p>
                  </a:txBody>
                  <a:tcPr marL="54864" marR="54864" marT="13716" marB="13716" anchor="ctr">
                    <a:solidFill>
                      <a:srgbClr val="FDF2F4"/>
                    </a:solidFill>
                  </a:tcPr>
                </a:tc>
                <a:tc>
                  <a:txBody>
                    <a:bodyPr/>
                    <a:lstStyle/>
                    <a:p>
                      <a:pPr algn="r">
                        <a:defRPr sz="740" b="1">
                          <a:solidFill>
                            <a:srgbClr val="4A4D55"/>
                          </a:solidFill>
                          <a:latin typeface="Open Sans"/>
                        </a:defRPr>
                      </a:pPr>
                      <a:r>
                        <a:t>4.37%</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+10.0%</a:t>
                      </a:r>
                    </a:p>
                  </a:txBody>
                  <a:tcPr marL="54864" marR="54864" marT="13716" marB="13716" anchor="ctr">
                    <a:solidFill>
                      <a:srgbClr val="FDF2F4"/>
                    </a:solidFill>
                  </a:tcPr>
                </a:tc>
                <a:tc>
                  <a:txBody>
                    <a:bodyPr/>
                    <a:lstStyle/>
                    <a:p>
                      <a:pPr algn="r">
                        <a:defRPr sz="740" b="1">
                          <a:solidFill>
                            <a:srgbClr val="4A4D55"/>
                          </a:solidFill>
                          <a:latin typeface="Open Sans"/>
                        </a:defRPr>
                      </a:pPr>
                      <a:r>
                        <a:t>61.5%</a:t>
                      </a:r>
                    </a:p>
                  </a:txBody>
                  <a:tcPr marL="54864" marR="54864" marT="13716" marB="13716" anchor="ctr">
                    <a:solidFill>
                      <a:srgbClr val="FDF2F4"/>
                    </a:solidFill>
                  </a:tcPr>
                </a:tc>
                <a:tc>
                  <a:txBody>
                    <a:bodyPr/>
                    <a:lstStyle/>
                    <a:p>
                      <a:pPr algn="r">
                        <a:defRPr sz="740" b="1">
                          <a:solidFill>
                            <a:srgbClr val="4A4D55"/>
                          </a:solidFill>
                          <a:latin typeface="Open Sans"/>
                        </a:defRPr>
                      </a:pPr>
                      <a:r>
                        <a:t>0.1164</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≥15%    ✗ / ✗</a:t>
                      </a:r>
                    </a:p>
                  </a:txBody>
                  <a:tcPr marL="54864" marR="54864" marT="13716" marB="13716" anchor="ctr">
                    <a:solidFill>
                      <a:srgbClr val="FDF2F4"/>
                    </a:solidFill>
                  </a:tcPr>
                </a:tc>
              </a:tr>
              <a:tr h="260603">
                <a:tc>
                  <a:txBody>
                    <a:bodyPr/>
                    <a:lstStyle/>
                    <a:p>
                      <a:pPr algn="l">
                        <a:defRPr sz="740" b="0">
                          <a:solidFill>
                            <a:srgbClr val="4A4D55"/>
                          </a:solidFill>
                          <a:latin typeface="Open Sans"/>
                        </a:defRPr>
                      </a:pPr>
                      <a:r>
                        <a:t>4 months</a:t>
                      </a:r>
                    </a:p>
                  </a:txBody>
                  <a:tcPr marL="54864" marR="54864" marT="13716" marB="13716" anchor="ctr">
                    <a:solidFill>
                      <a:srgbClr val="FFFFFF"/>
                    </a:solidFill>
                  </a:tcPr>
                </a:tc>
                <a:tc>
                  <a:txBody>
                    <a:bodyPr/>
                    <a:lstStyle/>
                    <a:p>
                      <a:pPr algn="r">
                        <a:defRPr sz="740" b="0">
                          <a:solidFill>
                            <a:srgbClr val="4A4D55"/>
                          </a:solidFill>
                          <a:latin typeface="Open Sans"/>
                        </a:defRPr>
                      </a:pPr>
                      <a:r>
                        <a:t>8.98%</a:t>
                      </a:r>
                    </a:p>
                  </a:txBody>
                  <a:tcPr marL="54864" marR="54864" marT="13716" marB="13716" anchor="ctr">
                    <a:solidFill>
                      <a:srgbClr val="FFFFFF"/>
                    </a:solidFill>
                  </a:tcPr>
                </a:tc>
                <a:tc>
                  <a:txBody>
                    <a:bodyPr/>
                    <a:lstStyle/>
                    <a:p>
                      <a:pPr algn="r">
                        <a:defRPr sz="740" b="0">
                          <a:solidFill>
                            <a:srgbClr val="4A4D55"/>
                          </a:solidFill>
                          <a:latin typeface="Open Sans"/>
                        </a:defRPr>
                      </a:pPr>
                      <a:r>
                        <a:t>9.44%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+4.9%</a:t>
                      </a:r>
                    </a:p>
                  </a:txBody>
                  <a:tcPr marL="54864" marR="54864" marT="13716" marB="13716" anchor="ctr">
                    <a:solidFill>
                      <a:srgbClr val="FFFFFF"/>
                    </a:solidFill>
                  </a:tcPr>
                </a:tc>
                <a:tc>
                  <a:txBody>
                    <a:bodyPr/>
                    <a:lstStyle/>
                    <a:p>
                      <a:pPr algn="r">
                        <a:defRPr sz="740" b="0">
                          <a:solidFill>
                            <a:srgbClr val="4A4D55"/>
                          </a:solidFill>
                          <a:latin typeface="Open Sans"/>
                        </a:defRPr>
                      </a:pPr>
                      <a:r>
                        <a:t>64.1%</a:t>
                      </a:r>
                    </a:p>
                  </a:txBody>
                  <a:tcPr marL="54864" marR="54864" marT="13716" marB="13716" anchor="ctr">
                    <a:solidFill>
                      <a:srgbClr val="FFFFFF"/>
                    </a:solidFill>
                  </a:tcPr>
                </a:tc>
                <a:tc>
                  <a:txBody>
                    <a:bodyPr/>
                    <a:lstStyle/>
                    <a:p>
                      <a:pPr algn="r">
                        <a:defRPr sz="740" b="0">
                          <a:solidFill>
                            <a:srgbClr val="4A4D55"/>
                          </a:solidFill>
                          <a:latin typeface="Open Sans"/>
                        </a:defRPr>
                      </a:pPr>
                      <a:r>
                        <a:t>0.1147</a:t>
                      </a:r>
                    </a:p>
                  </a:txBody>
                  <a:tcPr marL="54864" marR="54864" marT="13716" marB="13716" anchor="ctr">
                    <a:solidFill>
                      <a:srgbClr val="FFFFFF"/>
                    </a:solidFill>
                  </a:tcPr>
                </a:tc>
                <a:tc>
                  <a:txBody>
                    <a:bodyPr/>
                    <a:lstStyle/>
                    <a:p>
                      <a:pPr algn="r">
                        <a:defRPr sz="740" b="0">
                          <a:solidFill>
                            <a:srgbClr val="4A4D55"/>
                          </a:solidFill>
                          <a:latin typeface="Open Sans"/>
                        </a:defRPr>
                      </a:pPr>
                      <a:r>
                        <a:t>5.41%</a:t>
                      </a:r>
                    </a:p>
                  </a:txBody>
                  <a:tcPr marL="54864" marR="54864" marT="13716" marB="13716" anchor="ctr">
                    <a:solidFill>
                      <a:srgbClr val="FFFFFF"/>
                    </a:solidFill>
                  </a:tcPr>
                </a:tc>
                <a:tc>
                  <a:txBody>
                    <a:bodyPr/>
                    <a:lstStyle/>
                    <a:p>
                      <a:pPr algn="r">
                        <a:defRPr sz="740" b="0">
                          <a:solidFill>
                            <a:srgbClr val="4A4D55"/>
                          </a:solidFill>
                          <a:latin typeface="Open Sans"/>
                        </a:defRPr>
                      </a:pPr>
                      <a:r>
                        <a:t>5.43%</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+0.2%</a:t>
                      </a:r>
                    </a:p>
                  </a:txBody>
                  <a:tcPr marL="54864" marR="54864" marT="13716" marB="13716" anchor="ctr">
                    <a:solidFill>
                      <a:srgbClr val="FFFFFF"/>
                    </a:solidFill>
                  </a:tcPr>
                </a:tc>
                <a:tc>
                  <a:txBody>
                    <a:bodyPr/>
                    <a:lstStyle/>
                    <a:p>
                      <a:pPr algn="r">
                        <a:defRPr sz="740" b="0">
                          <a:solidFill>
                            <a:srgbClr val="4A4D55"/>
                          </a:solidFill>
                          <a:latin typeface="Open Sans"/>
                        </a:defRPr>
                      </a:pPr>
                      <a:r>
                        <a:t>43.8%</a:t>
                      </a:r>
                    </a:p>
                  </a:txBody>
                  <a:tcPr marL="54864" marR="54864" marT="13716" marB="13716" anchor="ctr">
                    <a:solidFill>
                      <a:srgbClr val="FFFFFF"/>
                    </a:solidFill>
                  </a:tcPr>
                </a:tc>
                <a:tc>
                  <a:txBody>
                    <a:bodyPr/>
                    <a:lstStyle/>
                    <a:p>
                      <a:pPr algn="r">
                        <a:defRPr sz="740" b="0">
                          <a:solidFill>
                            <a:srgbClr val="4A4D55"/>
                          </a:solidFill>
                          <a:latin typeface="Open Sans"/>
                        </a:defRPr>
                      </a:pPr>
                      <a:r>
                        <a:t>0.4896</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≥12%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5 months</a:t>
                      </a:r>
                    </a:p>
                  </a:txBody>
                  <a:tcPr marL="54864" marR="54864" marT="13716" marB="13716" anchor="ctr">
                    <a:solidFill>
                      <a:srgbClr val="FFFFFF"/>
                    </a:solidFill>
                  </a:tcPr>
                </a:tc>
                <a:tc>
                  <a:txBody>
                    <a:bodyPr/>
                    <a:lstStyle/>
                    <a:p>
                      <a:pPr algn="r">
                        <a:defRPr sz="740" b="0">
                          <a:solidFill>
                            <a:srgbClr val="4A4D55"/>
                          </a:solidFill>
                          <a:latin typeface="Open Sans"/>
                        </a:defRPr>
                      </a:pPr>
                      <a:r>
                        <a:t>10.15%</a:t>
                      </a:r>
                    </a:p>
                  </a:txBody>
                  <a:tcPr marL="54864" marR="54864" marT="13716" marB="13716" anchor="ctr">
                    <a:solidFill>
                      <a:srgbClr val="FFFFFF"/>
                    </a:solidFill>
                  </a:tcPr>
                </a:tc>
                <a:tc>
                  <a:txBody>
                    <a:bodyPr/>
                    <a:lstStyle/>
                    <a:p>
                      <a:pPr algn="r">
                        <a:defRPr sz="740" b="0">
                          <a:solidFill>
                            <a:srgbClr val="4A4D55"/>
                          </a:solidFill>
                          <a:latin typeface="Open Sans"/>
                        </a:defRPr>
                      </a:pPr>
                      <a:r>
                        <a:t>10.59%</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+4.2%</a:t>
                      </a:r>
                    </a:p>
                  </a:txBody>
                  <a:tcPr marL="54864" marR="54864" marT="13716" marB="13716" anchor="ctr">
                    <a:solidFill>
                      <a:srgbClr val="FFFFFF"/>
                    </a:solidFill>
                  </a:tcPr>
                </a:tc>
                <a:tc>
                  <a:txBody>
                    <a:bodyPr/>
                    <a:lstStyle/>
                    <a:p>
                      <a:pPr algn="r">
                        <a:defRPr sz="740" b="0">
                          <a:solidFill>
                            <a:srgbClr val="4A4D55"/>
                          </a:solidFill>
                          <a:latin typeface="Open Sans"/>
                        </a:defRPr>
                      </a:pPr>
                      <a:r>
                        <a:t>57.7%</a:t>
                      </a:r>
                    </a:p>
                  </a:txBody>
                  <a:tcPr marL="54864" marR="54864" marT="13716" marB="13716" anchor="ctr">
                    <a:solidFill>
                      <a:srgbClr val="FFFFFF"/>
                    </a:solidFill>
                  </a:tcPr>
                </a:tc>
                <a:tc>
                  <a:txBody>
                    <a:bodyPr/>
                    <a:lstStyle/>
                    <a:p>
                      <a:pPr algn="r">
                        <a:defRPr sz="740" b="0">
                          <a:solidFill>
                            <a:srgbClr val="4A4D55"/>
                          </a:solidFill>
                          <a:latin typeface="Open Sans"/>
                        </a:defRPr>
                      </a:pPr>
                      <a:r>
                        <a:t>0.1618</a:t>
                      </a:r>
                    </a:p>
                  </a:txBody>
                  <a:tcPr marL="54864" marR="54864" marT="13716" marB="13716" anchor="ctr">
                    <a:solidFill>
                      <a:srgbClr val="FFFFFF"/>
                    </a:solidFill>
                  </a:tcPr>
                </a:tc>
                <a:tc>
                  <a:txBody>
                    <a:bodyPr/>
                    <a:lstStyle/>
                    <a:p>
                      <a:pPr algn="r">
                        <a:defRPr sz="740" b="0">
                          <a:solidFill>
                            <a:srgbClr val="4A4D55"/>
                          </a:solidFill>
                          <a:latin typeface="Open Sans"/>
                        </a:defRPr>
                      </a:pPr>
                      <a:r>
                        <a:t>6.16%</a:t>
                      </a:r>
                    </a:p>
                  </a:txBody>
                  <a:tcPr marL="54864" marR="54864" marT="13716" marB="13716" anchor="ctr">
                    <a:solidFill>
                      <a:srgbClr val="FFFFFF"/>
                    </a:solidFill>
                  </a:tcPr>
                </a:tc>
                <a:tc>
                  <a:txBody>
                    <a:bodyPr/>
                    <a:lstStyle/>
                    <a:p>
                      <a:pPr algn="r">
                        <a:defRPr sz="740" b="0">
                          <a:solidFill>
                            <a:srgbClr val="4A4D55"/>
                          </a:solidFill>
                          <a:latin typeface="Open Sans"/>
                        </a:defRPr>
                      </a:pPr>
                      <a:r>
                        <a:t>6.25%</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+1.4%</a:t>
                      </a:r>
                    </a:p>
                  </a:txBody>
                  <a:tcPr marL="54864" marR="54864" marT="13716" marB="13716" anchor="ctr">
                    <a:solidFill>
                      <a:srgbClr val="FFFFFF"/>
                    </a:solidFill>
                  </a:tcPr>
                </a:tc>
                <a:tc>
                  <a:txBody>
                    <a:bodyPr/>
                    <a:lstStyle/>
                    <a:p>
                      <a:pPr algn="r">
                        <a:defRPr sz="740" b="0">
                          <a:solidFill>
                            <a:srgbClr val="4A4D55"/>
                          </a:solidFill>
                          <a:latin typeface="Open Sans"/>
                        </a:defRPr>
                      </a:pPr>
                      <a:r>
                        <a:t>52.6%</a:t>
                      </a:r>
                    </a:p>
                  </a:txBody>
                  <a:tcPr marL="54864" marR="54864" marT="13716" marB="13716" anchor="ctr">
                    <a:solidFill>
                      <a:srgbClr val="FFFFFF"/>
                    </a:solidFill>
                  </a:tcPr>
                </a:tc>
                <a:tc>
                  <a:txBody>
                    <a:bodyPr/>
                    <a:lstStyle/>
                    <a:p>
                      <a:pPr algn="r">
                        <a:defRPr sz="740" b="0">
                          <a:solidFill>
                            <a:srgbClr val="4A4D55"/>
                          </a:solidFill>
                          <a:latin typeface="Open Sans"/>
                        </a:defRPr>
                      </a:pPr>
                      <a:r>
                        <a:t>0.4218</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6 months</a:t>
                      </a:r>
                    </a:p>
                  </a:txBody>
                  <a:tcPr marL="54864" marR="54864" marT="13716" marB="13716" anchor="ctr">
                    <a:solidFill>
                      <a:srgbClr val="FFFFFF"/>
                    </a:solidFill>
                  </a:tcPr>
                </a:tc>
                <a:tc>
                  <a:txBody>
                    <a:bodyPr/>
                    <a:lstStyle/>
                    <a:p>
                      <a:pPr algn="r">
                        <a:defRPr sz="740" b="0">
                          <a:solidFill>
                            <a:srgbClr val="4A4D55"/>
                          </a:solidFill>
                          <a:latin typeface="Open Sans"/>
                        </a:defRPr>
                      </a:pPr>
                      <a:r>
                        <a:t>11.22%</a:t>
                      </a:r>
                    </a:p>
                  </a:txBody>
                  <a:tcPr marL="54864" marR="54864" marT="13716" marB="13716" anchor="ctr">
                    <a:solidFill>
                      <a:srgbClr val="FFFFFF"/>
                    </a:solidFill>
                  </a:tcPr>
                </a:tc>
                <a:tc>
                  <a:txBody>
                    <a:bodyPr/>
                    <a:lstStyle/>
                    <a:p>
                      <a:pPr algn="r">
                        <a:defRPr sz="740" b="0">
                          <a:solidFill>
                            <a:srgbClr val="4A4D55"/>
                          </a:solidFill>
                          <a:latin typeface="Open Sans"/>
                        </a:defRPr>
                      </a:pPr>
                      <a:r>
                        <a:t>11.74%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+4.4%</a:t>
                      </a:r>
                    </a:p>
                  </a:txBody>
                  <a:tcPr marL="54864" marR="54864" marT="13716" marB="13716" anchor="ctr">
                    <a:solidFill>
                      <a:srgbClr val="FFFFFF"/>
                    </a:solidFill>
                  </a:tcPr>
                </a:tc>
                <a:tc>
                  <a:txBody>
                    <a:bodyPr/>
                    <a:lstStyle/>
                    <a:p>
                      <a:pPr algn="r">
                        <a:defRPr sz="740" b="0">
                          <a:solidFill>
                            <a:srgbClr val="4A4D55"/>
                          </a:solidFill>
                          <a:latin typeface="Open Sans"/>
                        </a:defRPr>
                      </a:pPr>
                      <a:r>
                        <a:t>62.8%</a:t>
                      </a:r>
                    </a:p>
                  </a:txBody>
                  <a:tcPr marL="54864" marR="54864" marT="13716" marB="13716" anchor="ctr">
                    <a:solidFill>
                      <a:srgbClr val="FFFFFF"/>
                    </a:solidFill>
                  </a:tcPr>
                </a:tc>
                <a:tc>
                  <a:txBody>
                    <a:bodyPr/>
                    <a:lstStyle/>
                    <a:p>
                      <a:pPr algn="r">
                        <a:defRPr sz="740" b="0">
                          <a:solidFill>
                            <a:srgbClr val="4A4D55"/>
                          </a:solidFill>
                          <a:latin typeface="Open Sans"/>
                        </a:defRPr>
                      </a:pPr>
                      <a:r>
                        <a:t>0.1298</a:t>
                      </a:r>
                    </a:p>
                  </a:txBody>
                  <a:tcPr marL="54864" marR="54864" marT="13716" marB="13716" anchor="ctr">
                    <a:solidFill>
                      <a:srgbClr val="FFFFFF"/>
                    </a:solidFill>
                  </a:tcPr>
                </a:tc>
                <a:tc>
                  <a:txBody>
                    <a:bodyPr/>
                    <a:lstStyle/>
                    <a:p>
                      <a:pPr algn="r">
                        <a:defRPr sz="740" b="0">
                          <a:solidFill>
                            <a:srgbClr val="4A4D55"/>
                          </a:solidFill>
                          <a:latin typeface="Open Sans"/>
                        </a:defRPr>
                      </a:pPr>
                      <a:r>
                        <a:t>6.77%</a:t>
                      </a:r>
                    </a:p>
                  </a:txBody>
                  <a:tcPr marL="54864" marR="54864" marT="13716" marB="13716" anchor="ctr">
                    <a:solidFill>
                      <a:srgbClr val="FFFFFF"/>
                    </a:solidFill>
                  </a:tcPr>
                </a:tc>
                <a:tc>
                  <a:txBody>
                    <a:bodyPr/>
                    <a:lstStyle/>
                    <a:p>
                      <a:pPr algn="r">
                        <a:defRPr sz="740" b="0">
                          <a:solidFill>
                            <a:srgbClr val="4A4D55"/>
                          </a:solidFill>
                          <a:latin typeface="Open Sans"/>
                        </a:defRPr>
                      </a:pPr>
                      <a:r>
                        <a:t>6.81%</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+0.5%</a:t>
                      </a:r>
                    </a:p>
                  </a:txBody>
                  <a:tcPr marL="54864" marR="54864" marT="13716" marB="13716" anchor="ctr">
                    <a:solidFill>
                      <a:srgbClr val="FFFFFF"/>
                    </a:solidFill>
                  </a:tcPr>
                </a:tc>
                <a:tc>
                  <a:txBody>
                    <a:bodyPr/>
                    <a:lstStyle/>
                    <a:p>
                      <a:pPr algn="r">
                        <a:defRPr sz="740" b="0">
                          <a:solidFill>
                            <a:srgbClr val="4A4D55"/>
                          </a:solidFill>
                          <a:latin typeface="Open Sans"/>
                        </a:defRPr>
                      </a:pPr>
                      <a:r>
                        <a:t>51.3%</a:t>
                      </a:r>
                    </a:p>
                  </a:txBody>
                  <a:tcPr marL="54864" marR="54864" marT="13716" marB="13716" anchor="ctr">
                    <a:solidFill>
                      <a:srgbClr val="FFFFFF"/>
                    </a:solidFill>
                  </a:tcPr>
                </a:tc>
                <a:tc>
                  <a:txBody>
                    <a:bodyPr/>
                    <a:lstStyle/>
                    <a:p>
                      <a:pPr algn="r">
                        <a:defRPr sz="740" b="0">
                          <a:solidFill>
                            <a:srgbClr val="4A4D55"/>
                          </a:solidFill>
                          <a:latin typeface="Open Sans"/>
                        </a:defRPr>
                      </a:pPr>
                      <a:r>
                        <a:t>0.4733</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bl>
          </a:graphicData>
        </a:graphic>
      </p:graphicFrame>
      <p:cxnSp>
        <p:nvCxnSpPr>
          <p:cNvPr id="16" name="Connector 15"/>
          <p:cNvCxnSpPr/>
          <p:nvPr/>
        </p:nvCxnSpPr>
        <p:spPr>
          <a:xfrm>
            <a:off x="502920" y="406908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gates we missed</a:t>
            </a:r>
          </a:p>
        </p:txBody>
      </p:sp>
      <p:sp>
        <p:nvSpPr>
          <p:cNvPr id="18" name="Rectangle 17"/>
          <p:cNvSpPr/>
          <p:nvPr/>
        </p:nvSpPr>
        <p:spPr>
          <a:xfrm>
            <a:off x="502920" y="4462272"/>
            <a:ext cx="3520440" cy="1417320"/>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572000"/>
            <a:ext cx="3246120" cy="1188720"/>
          </a:xfrm>
          <a:prstGeom prst="rect">
            <a:avLst/>
          </a:prstGeom>
          <a:noFill/>
        </p:spPr>
        <p:txBody>
          <a:bodyPr wrap="square" lIns="0" rIns="0" tIns="0" bIns="0">
            <a:spAutoFit/>
          </a:bodyPr>
          <a:lstStyle/>
          <a:p>
            <a:pPr algn="l">
              <a:lnSpc>
                <a:spcPct val="130000"/>
              </a:lnSpc>
              <a:defRPr sz="819" b="1" i="0">
                <a:solidFill>
                  <a:srgbClr val="C8102E"/>
                </a:solidFill>
                <a:latin typeface="Open Sans"/>
              </a:defRPr>
            </a:pPr>
            <a:r>
              <a:t>At h=3, skill is +3.9% (aluminium) and +10.0% (PVC) against the ≥15% gate.</a:t>
            </a:r>
          </a:p>
          <a:p>
            <a:pPr algn="l">
              <a:lnSpc>
                <a:spcPct val="130000"/>
              </a:lnSpc>
              <a:defRPr sz="819" b="1" i="0">
                <a:solidFill>
                  <a:srgbClr val="C8102E"/>
                </a:solidFill>
                <a:latin typeface="Open Sans"/>
              </a:defRPr>
            </a:pPr>
            <a:r>
              <a:t/>
            </a:r>
          </a:p>
          <a:p>
            <a:pPr algn="l">
              <a:lnSpc>
                <a:spcPct val="130000"/>
              </a:lnSpc>
              <a:defRPr sz="819" b="1" i="0">
                <a:solidFill>
                  <a:srgbClr val="C8102E"/>
                </a:solidFill>
                <a:latin typeface="Open Sans"/>
              </a:defRPr>
            </a:pPr>
            <a:r>
              <a:t>PVC clears its gate at 1 and 2 months. We report every miss unchanged.</a:t>
            </a:r>
          </a:p>
        </p:txBody>
      </p:sp>
      <p:sp>
        <p:nvSpPr>
          <p:cNvPr id="20" name="TextBox 19"/>
          <p:cNvSpPr txBox="1"/>
          <p:nvPr/>
        </p:nvSpPr>
        <p:spPr>
          <a:xfrm>
            <a:off x="502920" y="5961888"/>
            <a:ext cx="3520440" cy="457200"/>
          </a:xfrm>
          <a:prstGeom prst="rect">
            <a:avLst/>
          </a:prstGeom>
          <a:noFill/>
        </p:spPr>
        <p:txBody>
          <a:bodyPr wrap="square" lIns="0" rIns="0" tIns="0" bIns="0">
            <a:spAutoFit/>
          </a:bodyPr>
          <a:lstStyle/>
          <a:p>
            <a:pPr algn="l">
              <a:lnSpc>
                <a:spcPct val="125000"/>
              </a:lnSpc>
              <a:defRPr sz="760" b="0" i="0">
                <a:solidFill>
                  <a:srgbClr val="4A4D55"/>
                </a:solidFill>
                <a:latin typeface="Open Sans"/>
              </a:defRPr>
            </a:pPr>
            <a:r>
              <a:t>Aluminium is exchange-traded and near-efficient: a few percent better than naïve, never significant.</a:t>
            </a:r>
          </a:p>
        </p:txBody>
      </p:sp>
      <p:sp>
        <p:nvSpPr>
          <p:cNvPr id="21" name="TextBox 20"/>
          <p:cNvSpPr txBox="1"/>
          <p:nvPr/>
        </p:nvSpPr>
        <p:spPr>
          <a:xfrm>
            <a:off x="4343400" y="420624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Where the value actually is</a:t>
            </a:r>
          </a:p>
        </p:txBody>
      </p:sp>
      <p:sp>
        <p:nvSpPr>
          <p:cNvPr id="22" name="TextBox 21"/>
          <p:cNvSpPr txBox="1"/>
          <p:nvPr/>
        </p:nvSpPr>
        <p:spPr>
          <a:xfrm>
            <a:off x="4343400" y="449884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3" name="TextBox 22"/>
          <p:cNvSpPr txBox="1"/>
          <p:nvPr/>
        </p:nvSpPr>
        <p:spPr>
          <a:xfrm>
            <a:off x="4462272" y="4498848"/>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+21.4% skill at 1 month (DM p = 0.0004) and +16.0% at 2 months (p = 0.029).</a:t>
            </a:r>
          </a:p>
        </p:txBody>
      </p:sp>
      <p:sp>
        <p:nvSpPr>
          <p:cNvPr id="24" name="TextBox 23"/>
          <p:cNvSpPr txBox="1"/>
          <p:nvPr/>
        </p:nvSpPr>
        <p:spPr>
          <a:xfrm>
            <a:off x="4343400" y="488289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5" name="TextBox 24"/>
          <p:cNvSpPr txBox="1"/>
          <p:nvPr/>
        </p:nvSpPr>
        <p:spPr>
          <a:xfrm>
            <a:off x="4462272" y="4882896"/>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direction is 71.4% at 1 month against a 65% gate, and 66.7% at 2 months against 63%.</a:t>
            </a:r>
          </a:p>
        </p:txBody>
      </p:sp>
      <p:sp>
        <p:nvSpPr>
          <p:cNvPr id="26" name="TextBox 25"/>
          <p:cNvSpPr txBox="1"/>
          <p:nvPr/>
        </p:nvSpPr>
        <p:spPr>
          <a:xfrm>
            <a:off x="4343400" y="526694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7" name="TextBox 26"/>
          <p:cNvSpPr txBox="1"/>
          <p:nvPr/>
        </p:nvSpPr>
        <p:spPr>
          <a:xfrm>
            <a:off x="4462272" y="5266944"/>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holdout 2025–26 (14–19 origins) does not beat naïve at h=3 (−13.7%).</a:t>
            </a:r>
          </a:p>
        </p:txBody>
      </p:sp>
      <p:sp>
        <p:nvSpPr>
          <p:cNvPr id="28" name="TextBox 27"/>
          <p:cNvSpPr txBox="1"/>
          <p:nvPr/>
        </p:nvSpPr>
        <p:spPr>
          <a:xfrm>
            <a:off x="4343400" y="5650992"/>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9" name="TextBox 28"/>
          <p:cNvSpPr txBox="1"/>
          <p:nvPr/>
        </p:nvSpPr>
        <p:spPr>
          <a:xfrm>
            <a:off x="4462272" y="5650992"/>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Driver data ended Dec 2024, so the holdout ran without its inputs. Inconclusive until the data is refreshed.</a:t>
            </a:r>
          </a:p>
        </p:txBody>
      </p:sp>
      <p:sp>
        <p:nvSpPr>
          <p:cNvPr id="30" name="TextBox 29"/>
          <p:cNvSpPr txBox="1"/>
          <p:nvPr/>
        </p:nvSpPr>
        <p:spPr>
          <a:xfrm>
            <a:off x="8183879"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We audited our own Round 2 result</a:t>
            </a:r>
          </a:p>
        </p:txBody>
      </p:sp>
      <p:sp>
        <p:nvSpPr>
          <p:cNvPr id="31" name="Rectangle 30"/>
          <p:cNvSpPr/>
          <p:nvPr/>
        </p:nvSpPr>
        <p:spPr>
          <a:xfrm>
            <a:off x="8183879" y="4462272"/>
            <a:ext cx="3520440" cy="1417320"/>
          </a:xfrm>
          <a:prstGeom prst="rect">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21040" y="4572000"/>
            <a:ext cx="3246120" cy="1188720"/>
          </a:xfrm>
          <a:prstGeom prst="rect">
            <a:avLst/>
          </a:prstGeom>
          <a:noFill/>
        </p:spPr>
        <p:txBody>
          <a:bodyPr wrap="square" lIns="0" rIns="0" tIns="0" bIns="0">
            <a:spAutoFit/>
          </a:bodyPr>
          <a:lstStyle/>
          <a:p>
            <a:pPr algn="l">
              <a:lnSpc>
                <a:spcPct val="128000"/>
              </a:lnSpc>
              <a:defRPr sz="780" b="0" i="0">
                <a:solidFill>
                  <a:srgbClr val="4A4D55"/>
                </a:solidFill>
                <a:latin typeface="Open Sans"/>
              </a:defRPr>
            </a:pPr>
            <a:r>
              <a:t>Our draft trained on rows whose outcome came after the forecast date, simulated the PVC price, and built drivers from the target.</a:t>
            </a:r>
          </a:p>
          <a:p>
            <a:pPr algn="l">
              <a:lnSpc>
                <a:spcPct val="128000"/>
              </a:lnSpc>
              <a:defRPr sz="780" b="0" i="0">
                <a:solidFill>
                  <a:srgbClr val="4A4D55"/>
                </a:solidFill>
                <a:latin typeface="Open Sans"/>
              </a:defRPr>
            </a:pPr>
            <a:r>
              <a:t/>
            </a:r>
          </a:p>
          <a:p>
            <a:pPr algn="l">
              <a:lnSpc>
                <a:spcPct val="128000"/>
              </a:lnSpc>
              <a:defRPr sz="780" b="0" i="0">
                <a:solidFill>
                  <a:srgbClr val="4A4D55"/>
                </a:solidFill>
                <a:latin typeface="Open Sans"/>
              </a:defRPr>
            </a:pPr>
            <a:r>
              <a:t>Closing the leak alone took one model from +8% to −6% skill. A perturbation test now proves v2 is leak-free.</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Thresholds  Set in the Round 1 submission before any modelling and carried here unchanged. MAPE is mean absolute percentage error per horizon. Skill is 1 − MAPE(model)/MAPE(naïve). Directional accuracy is the share of origins where the sign of the predicted change matches the realised change. DM p-values are HAC-corrected.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6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Proof</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8  ·  P R O O F   I N   R U P E E S</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The decision rule replayed over 78 months: PVC timing beats random (p = 0.003);</a:t>
            </a:r>
          </a:p>
          <a:p>
            <a:pPr algn="l">
              <a:lnSpc>
                <a:spcPct val="112000"/>
              </a:lnSpc>
              <a:defRPr sz="1700" b="1" i="0">
                <a:solidFill>
                  <a:srgbClr val="16181D"/>
                </a:solidFill>
                <a:latin typeface="Open Sans"/>
              </a:defRPr>
            </a:pPr>
            <a:r>
              <a:t>aluminium timing does not</a:t>
            </a:r>
          </a:p>
        </p:txBody>
      </p:sp>
      <p:sp>
        <p:nvSpPr>
          <p:cNvPr id="14" name="TextBox 13"/>
          <p:cNvSpPr txBox="1"/>
          <p:nvPr/>
        </p:nvSpPr>
        <p:spPr>
          <a:xfrm>
            <a:off x="502920" y="1737360"/>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rule</a:t>
            </a:r>
          </a:p>
        </p:txBody>
      </p:sp>
      <p:sp>
        <p:nvSpPr>
          <p:cNvPr id="15" name="Rectangle 14"/>
          <p:cNvSpPr/>
          <p:nvPr/>
        </p:nvSpPr>
        <p:spPr>
          <a:xfrm>
            <a:off x="502920" y="1993392"/>
            <a:ext cx="5669280" cy="475488"/>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03120"/>
            <a:ext cx="5394960" cy="274320"/>
          </a:xfrm>
          <a:prstGeom prst="rect">
            <a:avLst/>
          </a:prstGeom>
          <a:noFill/>
        </p:spPr>
        <p:txBody>
          <a:bodyPr wrap="square" lIns="0" rIns="0" tIns="0" bIns="0">
            <a:spAutoFit/>
          </a:bodyPr>
          <a:lstStyle/>
          <a:p>
            <a:pPr algn="l">
              <a:lnSpc>
                <a:spcPct val="115000"/>
              </a:lnSpc>
              <a:defRPr sz="1300" b="1" i="0">
                <a:solidFill>
                  <a:srgbClr val="C8102E"/>
                </a:solidFill>
                <a:latin typeface="Open Sans"/>
              </a:defRPr>
            </a:pPr>
            <a:r>
              <a:t>S(h) = (P̂(h) − P₀) / P₀  −  c × h</a:t>
            </a:r>
          </a:p>
        </p:txBody>
      </p:sp>
      <p:sp>
        <p:nvSpPr>
          <p:cNvPr id="17" name="Rectangle 16"/>
          <p:cNvSpPr/>
          <p:nvPr/>
        </p:nvSpPr>
        <p:spPr>
          <a:xfrm>
            <a:off x="502920" y="2633472"/>
            <a:ext cx="841248" cy="310896"/>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711196"/>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Buy now</a:t>
            </a:r>
          </a:p>
        </p:txBody>
      </p:sp>
      <p:sp>
        <p:nvSpPr>
          <p:cNvPr id="19" name="TextBox 18"/>
          <p:cNvSpPr txBox="1"/>
          <p:nvPr/>
        </p:nvSpPr>
        <p:spPr>
          <a:xfrm>
            <a:off x="1463040" y="2651760"/>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S(h) &gt; +2% and P(up) ≥ 60%</a:t>
            </a:r>
          </a:p>
        </p:txBody>
      </p:sp>
      <p:sp>
        <p:nvSpPr>
          <p:cNvPr id="20" name="TextBox 19"/>
          <p:cNvSpPr txBox="1"/>
          <p:nvPr/>
        </p:nvSpPr>
        <p:spPr>
          <a:xfrm>
            <a:off x="1463040" y="2807208"/>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Forward-cover 3 months</a:t>
            </a:r>
          </a:p>
        </p:txBody>
      </p:sp>
      <p:sp>
        <p:nvSpPr>
          <p:cNvPr id="21" name="Rectangle 20"/>
          <p:cNvSpPr/>
          <p:nvPr/>
        </p:nvSpPr>
        <p:spPr>
          <a:xfrm>
            <a:off x="502920" y="3035808"/>
            <a:ext cx="841248" cy="310896"/>
          </a:xfrm>
          <a:prstGeom prst="rect">
            <a:avLst/>
          </a:prstGeom>
          <a:solidFill>
            <a:srgbClr val="4A4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3113532"/>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Buy normal</a:t>
            </a:r>
          </a:p>
        </p:txBody>
      </p:sp>
      <p:sp>
        <p:nvSpPr>
          <p:cNvPr id="23" name="TextBox 22"/>
          <p:cNvSpPr txBox="1"/>
          <p:nvPr/>
        </p:nvSpPr>
        <p:spPr>
          <a:xfrm>
            <a:off x="1463040" y="3054096"/>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−2% ≤ S(h) ≤ +2%, or confidence &lt; 60%</a:t>
            </a:r>
          </a:p>
        </p:txBody>
      </p:sp>
      <p:sp>
        <p:nvSpPr>
          <p:cNvPr id="24" name="TextBox 23"/>
          <p:cNvSpPr txBox="1"/>
          <p:nvPr/>
        </p:nvSpPr>
        <p:spPr>
          <a:xfrm>
            <a:off x="1463040" y="3209544"/>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BoM requirement, 1.5 months</a:t>
            </a:r>
          </a:p>
        </p:txBody>
      </p:sp>
      <p:sp>
        <p:nvSpPr>
          <p:cNvPr id="25" name="Rectangle 24"/>
          <p:cNvSpPr/>
          <p:nvPr/>
        </p:nvSpPr>
        <p:spPr>
          <a:xfrm>
            <a:off x="502920" y="3438144"/>
            <a:ext cx="841248" cy="310896"/>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 y="3515868"/>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Defer</a:t>
            </a:r>
          </a:p>
        </p:txBody>
      </p:sp>
      <p:sp>
        <p:nvSpPr>
          <p:cNvPr id="27" name="TextBox 26"/>
          <p:cNvSpPr txBox="1"/>
          <p:nvPr/>
        </p:nvSpPr>
        <p:spPr>
          <a:xfrm>
            <a:off x="1463040" y="3456432"/>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S(h) &lt; −2% and P(down) ≥ 60%</a:t>
            </a:r>
          </a:p>
        </p:txBody>
      </p:sp>
      <p:sp>
        <p:nvSpPr>
          <p:cNvPr id="28" name="TextBox 27"/>
          <p:cNvSpPr txBox="1"/>
          <p:nvPr/>
        </p:nvSpPr>
        <p:spPr>
          <a:xfrm>
            <a:off x="1463040" y="3611879"/>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Minimum safety cover, 1 month</a:t>
            </a:r>
          </a:p>
        </p:txBody>
      </p:sp>
      <p:sp>
        <p:nvSpPr>
          <p:cNvPr id="29" name="TextBox 28"/>
          <p:cNvSpPr txBox="1"/>
          <p:nvPr/>
        </p:nvSpPr>
        <p:spPr>
          <a:xfrm>
            <a:off x="502920" y="3886200"/>
            <a:ext cx="5669280" cy="219456"/>
          </a:xfrm>
          <a:prstGeom prst="rect">
            <a:avLst/>
          </a:prstGeom>
          <a:noFill/>
        </p:spPr>
        <p:txBody>
          <a:bodyPr wrap="square" lIns="0" rIns="0" tIns="0" bIns="0">
            <a:spAutoFit/>
          </a:bodyPr>
          <a:lstStyle/>
          <a:p>
            <a:pPr algn="l">
              <a:lnSpc>
                <a:spcPct val="115000"/>
              </a:lnSpc>
              <a:defRPr sz="760" b="0" i="1">
                <a:solidFill>
                  <a:srgbClr val="7C8089"/>
                </a:solidFill>
                <a:latin typeface="Open Sans"/>
              </a:defRPr>
            </a:pPr>
            <a:r>
              <a:t>c is carrying cost per month, set at 1.0% pending ACG Finance inputs.</a:t>
            </a:r>
          </a:p>
        </p:txBody>
      </p:sp>
      <p:cxnSp>
        <p:nvCxnSpPr>
          <p:cNvPr id="30" name="Connector 29"/>
          <p:cNvCxnSpPr/>
          <p:nvPr/>
        </p:nvCxnSpPr>
        <p:spPr>
          <a:xfrm>
            <a:off x="502920" y="4133087"/>
            <a:ext cx="56692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261104"/>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Results over 78 months (2018–2024), both materials</a:t>
            </a:r>
          </a:p>
        </p:txBody>
      </p:sp>
      <p:graphicFrame>
        <p:nvGraphicFramePr>
          <p:cNvPr id="32" name="Table 31"/>
          <p:cNvGraphicFramePr>
            <a:graphicFrameLocks noGrp="1"/>
          </p:cNvGraphicFramePr>
          <p:nvPr/>
        </p:nvGraphicFramePr>
        <p:xfrm>
          <a:off x="502920" y="4535424"/>
          <a:ext cx="5669280" cy="1805940"/>
        </p:xfrm>
        <a:graphic>
          <a:graphicData uri="http://schemas.openxmlformats.org/drawingml/2006/table">
            <a:tbl>
              <a:tblPr>
                <a:tableStyleId>{5C22544A-7EE6-4342-B048-85BDC9FD1C3A}</a:tableStyleId>
              </a:tblPr>
              <a:tblGrid>
                <a:gridCol w="2926080"/>
                <a:gridCol w="1371600"/>
                <a:gridCol w="1371600"/>
              </a:tblGrid>
              <a:tr h="237744">
                <a:tc>
                  <a:txBody>
                    <a:bodyPr/>
                    <a:lstStyle/>
                    <a:p>
                      <a:pPr algn="l">
                        <a:defRPr sz="700" b="1">
                          <a:solidFill>
                            <a:srgbClr val="FFFFFF"/>
                          </a:solidFill>
                          <a:latin typeface="Open Sans"/>
                        </a:defRPr>
                      </a:pPr>
                      <a:r>
                        <a:t>Metric</a:t>
                      </a:r>
                    </a:p>
                  </a:txBody>
                  <a:tcPr marL="54864" marR="54864" marT="18288" marB="18288" anchor="ctr">
                    <a:solidFill>
                      <a:srgbClr val="C8102E"/>
                    </a:solidFill>
                  </a:tcPr>
                </a:tc>
                <a:tc>
                  <a:txBody>
                    <a:bodyPr/>
                    <a:lstStyle/>
                    <a:p>
                      <a:pPr algn="r">
                        <a:defRPr sz="700" b="1">
                          <a:solidFill>
                            <a:srgbClr val="FFFFFF"/>
                          </a:solidFill>
                          <a:latin typeface="Open Sans"/>
                        </a:defRPr>
                      </a:pPr>
                      <a:r>
                        <a:t>Aluminium</a:t>
                      </a:r>
                    </a:p>
                  </a:txBody>
                  <a:tcPr marL="54864" marR="54864" marT="18288" marB="18288" anchor="ctr">
                    <a:solidFill>
                      <a:srgbClr val="C8102E"/>
                    </a:solidFill>
                  </a:tcPr>
                </a:tc>
                <a:tc>
                  <a:txBody>
                    <a:bodyPr/>
                    <a:lstStyle/>
                    <a:p>
                      <a:pPr algn="r">
                        <a:defRPr sz="700" b="1">
                          <a:solidFill>
                            <a:srgbClr val="FFFFFF"/>
                          </a:solidFill>
                          <a:latin typeface="Open Sans"/>
                        </a:defRPr>
                      </a:pPr>
                      <a:r>
                        <a:t>PVC proxy</a:t>
                      </a:r>
                    </a:p>
                  </a:txBody>
                  <a:tcPr marL="54864" marR="54864" marT="18288" marB="18288" anchor="ctr">
                    <a:solidFill>
                      <a:srgbClr val="C8102E"/>
                    </a:solidFill>
                  </a:tcPr>
                </a:tc>
              </a:tr>
              <a:tr h="224028">
                <a:tc>
                  <a:txBody>
                    <a:bodyPr/>
                    <a:lstStyle/>
                    <a:p>
                      <a:pPr algn="l">
                        <a:defRPr sz="760" b="0">
                          <a:solidFill>
                            <a:srgbClr val="4A4D55"/>
                          </a:solidFill>
                          <a:latin typeface="Open Sans"/>
                        </a:defRPr>
                      </a:pPr>
                      <a:r>
                        <a:t>Signals: now / normal / defer</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2 / 72 / 4</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5 / 59 / 14</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Gross price saving</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−0.16%</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+0.41%</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Net saving after carrying cost</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−0.19%</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+0.41%</a:t>
                      </a:r>
                    </a:p>
                  </a:txBody>
                  <a:tcPr marL="54864" marR="54864" marT="13716" marB="13716" anchor="ctr">
                    <a:solidFill>
                      <a:srgbClr val="FFFFFF"/>
                    </a:solidFill>
                  </a:tcPr>
                </a:tc>
              </a:tr>
              <a:tr h="224028">
                <a:tc>
                  <a:txBody>
                    <a:bodyPr/>
                    <a:lstStyle/>
                    <a:p>
                      <a:pPr algn="l">
                        <a:defRPr sz="760" b="1">
                          <a:solidFill>
                            <a:srgbClr val="4A4D55"/>
                          </a:solidFill>
                          <a:latin typeface="Open Sans"/>
                        </a:defRPr>
                      </a:pPr>
                      <a:r>
                        <a:t>Beats random timing? (permutation p)</a:t>
                      </a:r>
                    </a:p>
                  </a:txBody>
                  <a:tcPr marL="54864" marR="54864" marT="13716" marB="13716" anchor="ctr">
                    <a:solidFill>
                      <a:srgbClr val="FDF2F4"/>
                    </a:solidFill>
                  </a:tcPr>
                </a:tc>
                <a:tc>
                  <a:txBody>
                    <a:bodyPr/>
                    <a:lstStyle/>
                    <a:p>
                      <a:pPr algn="r">
                        <a:defRPr sz="760" b="1">
                          <a:solidFill>
                            <a:srgbClr val="C8102E"/>
                          </a:solidFill>
                          <a:latin typeface="Open Sans"/>
                        </a:defRPr>
                      </a:pPr>
                      <a:r>
                        <a:rPr sz="760" b="1">
                          <a:solidFill>
                            <a:srgbClr val="C8102E"/>
                          </a:solidFill>
                          <a:latin typeface="Open Sans"/>
                        </a:rPr>
                        <a:t>No (0.83)</a:t>
                      </a:r>
                    </a:p>
                  </a:txBody>
                  <a:tcPr marL="54864" marR="54864" marT="13716" marB="13716" anchor="ctr">
                    <a:solidFill>
                      <a:srgbClr val="FDF2F4"/>
                    </a:solidFill>
                  </a:tcPr>
                </a:tc>
                <a:tc>
                  <a:txBody>
                    <a:bodyPr/>
                    <a:lstStyle/>
                    <a:p>
                      <a:pPr algn="r">
                        <a:defRPr sz="760" b="1">
                          <a:solidFill>
                            <a:srgbClr val="0F6B3F"/>
                          </a:solidFill>
                          <a:latin typeface="Open Sans"/>
                        </a:defRPr>
                      </a:pPr>
                      <a:r>
                        <a:rPr sz="760" b="1">
                          <a:solidFill>
                            <a:srgbClr val="0F6B3F"/>
                          </a:solidFill>
                          <a:latin typeface="Open Sans"/>
                        </a:rPr>
                        <a:t>Yes (0.003)</a:t>
                      </a:r>
                    </a:p>
                  </a:txBody>
                  <a:tcPr marL="54864" marR="54864" marT="13716" marB="13716" anchor="ctr">
                    <a:solidFill>
                      <a:srgbClr val="FDF2F4"/>
                    </a:solidFill>
                  </a:tcPr>
                </a:tc>
              </a:tr>
              <a:tr h="224028">
                <a:tc>
                  <a:txBody>
                    <a:bodyPr/>
                    <a:lstStyle/>
                    <a:p>
                      <a:pPr algn="l">
                        <a:defRPr sz="760" b="0">
                          <a:solidFill>
                            <a:srgbClr val="4A4D55"/>
                          </a:solidFill>
                          <a:latin typeface="Open Sans"/>
                        </a:defRPr>
                      </a:pPr>
                      <a:r>
                        <a:t>Perfect-foresight ceiling</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+2.93%</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+1.31%</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Inventory days vs baseline</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+0.6 d</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+0.6 d</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Working capital per ₹100 Cr (− = released)</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+0.16 Cr</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+0.16 Cr</a:t>
                      </a:r>
                    </a:p>
                  </a:txBody>
                  <a:tcPr marL="54864" marR="54864" marT="13716" marB="13716" anchor="ctr">
                    <a:solidFill>
                      <a:srgbClr val="FFFFFF"/>
                    </a:solidFill>
                  </a:tcPr>
                </a:tc>
              </a:tr>
            </a:tbl>
          </a:graphicData>
        </a:graphic>
      </p:graphicFrame>
      <p:sp>
        <p:nvSpPr>
          <p:cNvPr id="33" name="TextBox 32"/>
          <p:cNvSpPr txBox="1"/>
          <p:nvPr/>
        </p:nvSpPr>
        <p:spPr>
          <a:xfrm>
            <a:off x="6537960" y="173736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 cumulative net saving and the signals that produced it</a:t>
            </a:r>
          </a:p>
        </p:txBody>
      </p:sp>
      <p:pic>
        <p:nvPicPr>
          <p:cNvPr id="34" name="Picture 33" descr="pvc_replay.png"/>
          <p:cNvPicPr>
            <a:picLocks noChangeAspect="1"/>
          </p:cNvPicPr>
          <p:nvPr/>
        </p:nvPicPr>
        <p:blipFill>
          <a:blip r:embed="rId2"/>
          <a:stretch>
            <a:fillRect/>
          </a:stretch>
        </p:blipFill>
        <p:spPr>
          <a:xfrm>
            <a:off x="6537960" y="1975104"/>
            <a:ext cx="5166360" cy="2514600"/>
          </a:xfrm>
          <a:prstGeom prst="rect">
            <a:avLst/>
          </a:prstGeom>
        </p:spPr>
      </p:pic>
      <p:cxnSp>
        <p:nvCxnSpPr>
          <p:cNvPr id="35" name="Connector 34"/>
          <p:cNvCxnSpPr/>
          <p:nvPr/>
        </p:nvCxnSpPr>
        <p:spPr>
          <a:xfrm>
            <a:off x="6537960" y="4434840"/>
            <a:ext cx="51663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37960" y="457200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this does and does not show</a:t>
            </a:r>
          </a:p>
        </p:txBody>
      </p:sp>
      <p:sp>
        <p:nvSpPr>
          <p:cNvPr id="37" name="TextBox 36"/>
          <p:cNvSpPr txBox="1"/>
          <p:nvPr/>
        </p:nvSpPr>
        <p:spPr>
          <a:xfrm>
            <a:off x="6537960" y="4846320"/>
            <a:ext cx="5166360" cy="128016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On PVC the rule captured about a third of the perfect-foresight ceiling with 0.6 more days of stock, and random placement of the same signals saves nothing (median −0.03%).</a:t>
            </a:r>
          </a:p>
          <a:p>
            <a:pPr algn="l">
              <a:lnSpc>
                <a:spcPct val="130000"/>
              </a:lnSpc>
              <a:defRPr sz="819" b="0" i="0">
                <a:solidFill>
                  <a:srgbClr val="4A4D55"/>
                </a:solidFill>
                <a:latin typeface="Open Sans"/>
              </a:defRPr>
            </a:pPr>
            <a:r>
              <a:t/>
            </a:r>
          </a:p>
          <a:p>
            <a:pPr algn="l">
              <a:lnSpc>
                <a:spcPct val="130000"/>
              </a:lnSpc>
              <a:defRPr sz="819" b="0" i="0">
                <a:solidFill>
                  <a:srgbClr val="4A4D55"/>
                </a:solidFill>
                <a:latin typeface="Open Sans"/>
              </a:defRPr>
            </a:pPr>
            <a:r>
              <a:t>On aluminium it acted 6 times in 78 months and lost 0.19%. In the 2025–26 PVC holdout it was flat: net −0.08%, p = 0.44.</a:t>
            </a:r>
          </a:p>
        </p:txBody>
      </p:sp>
      <p:sp>
        <p:nvSpPr>
          <p:cNvPr id="38" name="TextBox 37"/>
          <p:cNvSpPr txBox="1"/>
          <p:nvPr/>
        </p:nvSpPr>
        <p:spPr>
          <a:xfrm>
            <a:off x="6537960" y="6035040"/>
            <a:ext cx="516636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The rule stays at BUY NORMAL 92% (Al) / 76% (PVC) of the time.</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Constant monthly requirement; purchases at next month's average price; leftover stock valued at the final price. Permutation test: same signals at random months, 2,000 draws. Rupee figures per ₹100 Cr of annual spend.</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8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9  ·  W O R K I N G   D E M O</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A working decision desk, not a mock-up: every number on screen is a model output</a:t>
            </a:r>
          </a:p>
        </p:txBody>
      </p:sp>
      <p:sp>
        <p:nvSpPr>
          <p:cNvPr id="14" name="TextBox 13"/>
          <p:cNvSpPr txBox="1"/>
          <p:nvPr/>
        </p:nvSpPr>
        <p:spPr>
          <a:xfrm>
            <a:off x="502920" y="1783080"/>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procurement opens each month</a:t>
            </a:r>
          </a:p>
        </p:txBody>
      </p:sp>
      <p:sp>
        <p:nvSpPr>
          <p:cNvPr id="15" name="TextBox 14"/>
          <p:cNvSpPr txBox="1"/>
          <p:nvPr/>
        </p:nvSpPr>
        <p:spPr>
          <a:xfrm>
            <a:off x="502920" y="2084831"/>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Recommendation</a:t>
            </a:r>
          </a:p>
        </p:txBody>
      </p:sp>
      <p:sp>
        <p:nvSpPr>
          <p:cNvPr id="16" name="TextBox 15"/>
          <p:cNvSpPr txBox="1"/>
          <p:nvPr/>
        </p:nvSpPr>
        <p:spPr>
          <a:xfrm>
            <a:off x="2194560" y="2084831"/>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Signal, expected saving net of carry, P(up), recommended cover, and the P10–P90 range, for any horizon from one to six months.</a:t>
            </a:r>
          </a:p>
        </p:txBody>
      </p:sp>
      <p:sp>
        <p:nvSpPr>
          <p:cNvPr id="17" name="TextBox 16"/>
          <p:cNvSpPr txBox="1"/>
          <p:nvPr/>
        </p:nvSpPr>
        <p:spPr>
          <a:xfrm>
            <a:off x="502920" y="2660903"/>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Price and forecast</a:t>
            </a:r>
          </a:p>
        </p:txBody>
      </p:sp>
      <p:sp>
        <p:nvSpPr>
          <p:cNvPr id="18" name="TextBox 17"/>
          <p:cNvSpPr txBox="1"/>
          <p:nvPr/>
        </p:nvSpPr>
        <p:spPr>
          <a:xfrm>
            <a:off x="2194560" y="2660903"/>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Three years of actuals, the six-month fan, and the naïve path shown alongside so the comparison is always visible.</a:t>
            </a:r>
          </a:p>
        </p:txBody>
      </p:sp>
      <p:sp>
        <p:nvSpPr>
          <p:cNvPr id="19" name="TextBox 18"/>
          <p:cNvSpPr txBox="1"/>
          <p:nvPr/>
        </p:nvSpPr>
        <p:spPr>
          <a:xfrm>
            <a:off x="502920" y="3236975"/>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Purchase order</a:t>
            </a:r>
          </a:p>
        </p:txBody>
      </p:sp>
      <p:sp>
        <p:nvSpPr>
          <p:cNvPr id="20" name="TextBox 19"/>
          <p:cNvSpPr txBox="1"/>
          <p:nvPr/>
        </p:nvSpPr>
        <p:spPr>
          <a:xfrm>
            <a:off x="2194560" y="3236975"/>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Cover × BoM − on-hand − in-transit, computed live from the buyer's own numbers, with the arithmetic shown.</a:t>
            </a:r>
          </a:p>
        </p:txBody>
      </p:sp>
      <p:sp>
        <p:nvSpPr>
          <p:cNvPr id="21" name="TextBox 20"/>
          <p:cNvSpPr txBox="1"/>
          <p:nvPr/>
        </p:nvSpPr>
        <p:spPr>
          <a:xfrm>
            <a:off x="502920" y="3813048"/>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Accuracy scorecard</a:t>
            </a:r>
          </a:p>
        </p:txBody>
      </p:sp>
      <p:sp>
        <p:nvSpPr>
          <p:cNvPr id="22" name="TextBox 21"/>
          <p:cNvSpPr txBox="1"/>
          <p:nvPr/>
        </p:nvSpPr>
        <p:spPr>
          <a:xfrm>
            <a:off x="2194560" y="3813048"/>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Model against naïve at every horizon, development and holdout, with the pre-set gate marked pass or miss.</a:t>
            </a:r>
          </a:p>
        </p:txBody>
      </p:sp>
      <p:sp>
        <p:nvSpPr>
          <p:cNvPr id="23" name="TextBox 22"/>
          <p:cNvSpPr txBox="1"/>
          <p:nvPr/>
        </p:nvSpPr>
        <p:spPr>
          <a:xfrm>
            <a:off x="502920" y="4389120"/>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Drivers</a:t>
            </a:r>
          </a:p>
        </p:txBody>
      </p:sp>
      <p:sp>
        <p:nvSpPr>
          <p:cNvPr id="24" name="TextBox 23"/>
          <p:cNvSpPr txBox="1"/>
          <p:nvPr/>
        </p:nvSpPr>
        <p:spPr>
          <a:xfrm>
            <a:off x="2194560" y="4389120"/>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Which indicators lead and by how much, FDR-corrected Granger flags, and SHAP drivers for the live forecast.</a:t>
            </a:r>
          </a:p>
        </p:txBody>
      </p:sp>
      <p:sp>
        <p:nvSpPr>
          <p:cNvPr id="25" name="TextBox 24"/>
          <p:cNvSpPr txBox="1"/>
          <p:nvPr/>
        </p:nvSpPr>
        <p:spPr>
          <a:xfrm>
            <a:off x="502920" y="4965192"/>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Buying replay</a:t>
            </a:r>
          </a:p>
        </p:txBody>
      </p:sp>
      <p:sp>
        <p:nvSpPr>
          <p:cNvPr id="26" name="TextBox 25"/>
          <p:cNvSpPr txBox="1"/>
          <p:nvPr/>
        </p:nvSpPr>
        <p:spPr>
          <a:xfrm>
            <a:off x="2194560" y="4965192"/>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Net saving, a permutation test against random timing, the perfect-foresight ceiling, and every signal.</a:t>
            </a:r>
          </a:p>
        </p:txBody>
      </p:sp>
      <p:cxnSp>
        <p:nvCxnSpPr>
          <p:cNvPr id="27" name="Connector 26"/>
          <p:cNvCxnSpPr/>
          <p:nvPr/>
        </p:nvCxnSpPr>
        <p:spPr>
          <a:xfrm>
            <a:off x="502920" y="5449824"/>
            <a:ext cx="5577839"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5586983"/>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Built for the shadow pilot</a:t>
            </a:r>
          </a:p>
        </p:txBody>
      </p:sp>
      <p:sp>
        <p:nvSpPr>
          <p:cNvPr id="29" name="TextBox 28"/>
          <p:cNvSpPr txBox="1"/>
          <p:nvPr/>
        </p:nvSpPr>
        <p:spPr>
          <a:xfrm>
            <a:off x="502920" y="5861303"/>
            <a:ext cx="5577840" cy="73152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In the pilot, buyers decide exactly as today while we log each signal against actual buys. Nothing is risked; the value is measured first.</a:t>
            </a:r>
          </a:p>
        </p:txBody>
      </p:sp>
      <p:sp>
        <p:nvSpPr>
          <p:cNvPr id="30" name="Rectangle 29"/>
          <p:cNvSpPr/>
          <p:nvPr/>
        </p:nvSpPr>
        <p:spPr>
          <a:xfrm>
            <a:off x="6446520" y="1783080"/>
            <a:ext cx="5257800" cy="41605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ashboard_cropped.png"/>
          <p:cNvPicPr>
            <a:picLocks noChangeAspect="1"/>
          </p:cNvPicPr>
          <p:nvPr/>
        </p:nvPicPr>
        <p:blipFill>
          <a:blip r:embed="rId2"/>
          <a:stretch>
            <a:fillRect/>
          </a:stretch>
        </p:blipFill>
        <p:spPr>
          <a:xfrm>
            <a:off x="6446520" y="1783080"/>
            <a:ext cx="5257800" cy="3943350"/>
          </a:xfrm>
          <a:prstGeom prst="rect">
            <a:avLst/>
          </a:prstGeom>
        </p:spPr>
      </p:pic>
      <p:sp>
        <p:nvSpPr>
          <p:cNvPr id="32" name="TextBox 31"/>
          <p:cNvSpPr txBox="1"/>
          <p:nvPr/>
        </p:nvSpPr>
        <p:spPr>
          <a:xfrm>
            <a:off x="6446520" y="6053328"/>
            <a:ext cx="525780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Forecast panels as shown on the desk, drawn from the same output files. Live view: dashboard/index.html. A stale-data banner shows until the data is refreshed.</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Delivery: Single-page dashboard, hosted and shareable by link. Excel export and a REST hook into the ERP requisition step are specified but not built in this round.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9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1  ·  L A N D E D   C O S T</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Landed cost = global index + five gaps. We forecast the index; the gaps</a:t>
            </a:r>
          </a:p>
          <a:p>
            <a:pPr algn="l">
              <a:lnSpc>
                <a:spcPct val="112000"/>
              </a:lnSpc>
              <a:defRPr sz="1700" b="1" i="0">
                <a:solidFill>
                  <a:srgbClr val="16181D"/>
                </a:solidFill>
                <a:latin typeface="Open Sans"/>
              </a:defRPr>
            </a:pPr>
            <a:r>
              <a:t>are rules, contracts or dated events that we calculate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From the global index to ACG's landed price</a:t>
            </a:r>
          </a:p>
        </p:txBody>
      </p:sp>
      <p:graphicFrame>
        <p:nvGraphicFramePr>
          <p:cNvPr id="15" name="Table 14"/>
          <p:cNvGraphicFramePr>
            <a:graphicFrameLocks noGrp="1"/>
          </p:cNvGraphicFramePr>
          <p:nvPr/>
        </p:nvGraphicFramePr>
        <p:xfrm>
          <a:off x="502920" y="2066543"/>
          <a:ext cx="6675120" cy="1856232"/>
        </p:xfrm>
        <a:graphic>
          <a:graphicData uri="http://schemas.openxmlformats.org/drawingml/2006/table">
            <a:tbl>
              <a:tblPr>
                <a:tableStyleId>{5C22544A-7EE6-4342-B048-85BDC9FD1C3A}</a:tableStyleId>
              </a:tblPr>
              <a:tblGrid>
                <a:gridCol w="1600200"/>
                <a:gridCol w="2971800"/>
                <a:gridCol w="2103120"/>
              </a:tblGrid>
              <a:tr h="265176">
                <a:tc>
                  <a:txBody>
                    <a:bodyPr/>
                    <a:lstStyle/>
                    <a:p>
                      <a:pPr algn="l">
                        <a:defRPr sz="700" b="1">
                          <a:solidFill>
                            <a:srgbClr val="FFFFFF"/>
                          </a:solidFill>
                          <a:latin typeface="Open Sans"/>
                        </a:defRPr>
                      </a:pPr>
                      <a:r>
                        <a:t>Component</a:t>
                      </a:r>
                    </a:p>
                  </a:txBody>
                  <a:tcPr marL="54864" marR="54864" marT="18288" marB="18288" anchor="ctr">
                    <a:solidFill>
                      <a:srgbClr val="C8102E"/>
                    </a:solidFill>
                  </a:tcPr>
                </a:tc>
                <a:tc>
                  <a:txBody>
                    <a:bodyPr/>
                    <a:lstStyle/>
                    <a:p>
                      <a:pPr algn="r">
                        <a:defRPr sz="700" b="1">
                          <a:solidFill>
                            <a:srgbClr val="FFFFFF"/>
                          </a:solidFill>
                          <a:latin typeface="Open Sans"/>
                        </a:defRPr>
                      </a:pPr>
                      <a:r>
                        <a:t>What sets it, and how often it moves</a:t>
                      </a:r>
                    </a:p>
                  </a:txBody>
                  <a:tcPr marL="54864" marR="54864" marT="18288" marB="18288" anchor="ctr">
                    <a:solidFill>
                      <a:srgbClr val="C8102E"/>
                    </a:solidFill>
                  </a:tcPr>
                </a:tc>
                <a:tc>
                  <a:txBody>
                    <a:bodyPr/>
                    <a:lstStyle/>
                    <a:p>
                      <a:pPr algn="r">
                        <a:defRPr sz="700" b="1">
                          <a:solidFill>
                            <a:srgbClr val="FFFFFF"/>
                          </a:solidFill>
                          <a:latin typeface="Open Sans"/>
                        </a:defRPr>
                      </a:pPr>
                      <a:r>
                        <a:t>Size today</a:t>
                      </a:r>
                    </a:p>
                  </a:txBody>
                  <a:tcPr marL="54864" marR="54864" marT="18288" marB="18288" anchor="ctr">
                    <a:solidFill>
                      <a:srgbClr val="C8102E"/>
                    </a:solidFill>
                  </a:tcPr>
                </a:tc>
              </a:tr>
              <a:tr h="265176">
                <a:tc>
                  <a:txBody>
                    <a:bodyPr/>
                    <a:lstStyle/>
                    <a:p>
                      <a:pPr algn="l">
                        <a:defRPr sz="760" b="0">
                          <a:solidFill>
                            <a:srgbClr val="4A4D55"/>
                          </a:solidFill>
                          <a:latin typeface="Open Sans"/>
                        </a:defRPr>
                      </a:pPr>
                      <a:r>
                        <a:t>Global index</a:t>
                      </a:r>
                    </a:p>
                  </a:txBody>
                  <a:tcPr marL="54864" marR="54864" marT="13716" marB="13716" anchor="ctr">
                    <a:solidFill>
                      <a:srgbClr val="FFFFFF"/>
                    </a:solidFill>
                  </a:tcPr>
                </a:tc>
                <a:tc>
                  <a:txBody>
                    <a:bodyPr/>
                    <a:lstStyle/>
                    <a:p>
                      <a:pPr algn="r">
                        <a:defRPr sz="760" b="0">
                          <a:solidFill>
                            <a:srgbClr val="4A4D55"/>
                          </a:solidFill>
                          <a:latin typeface="Open Sans"/>
                        </a:defRPr>
                      </a:pPr>
                      <a:r>
                        <a:t>LME / resin market, daily. We forecast this</a:t>
                      </a:r>
                    </a:p>
                  </a:txBody>
                  <a:tcPr marL="54864" marR="54864" marT="13716" marB="13716" anchor="ctr">
                    <a:solidFill>
                      <a:srgbClr val="FFFFFF"/>
                    </a:solidFill>
                  </a:tcPr>
                </a:tc>
                <a:tc>
                  <a:txBody>
                    <a:bodyPr/>
                    <a:lstStyle/>
                    <a:p>
                      <a:pPr algn="r">
                        <a:defRPr sz="760" b="0">
                          <a:solidFill>
                            <a:srgbClr val="4A4D55"/>
                          </a:solidFill>
                          <a:latin typeface="Open Sans"/>
                        </a:defRPr>
                      </a:pPr>
                      <a:r>
                        <a:t>largest mover for aluminium</a:t>
                      </a:r>
                    </a:p>
                  </a:txBody>
                  <a:tcPr marL="54864" marR="54864" marT="13716" marB="13716" anchor="ctr">
                    <a:solidFill>
                      <a:srgbClr val="FFFFFF"/>
                    </a:solidFill>
                  </a:tcPr>
                </a:tc>
              </a:tr>
              <a:tr h="265176">
                <a:tc>
                  <a:txBody>
                    <a:bodyPr/>
                    <a:lstStyle/>
                    <a:p>
                      <a:pPr algn="l">
                        <a:defRPr sz="760" b="0">
                          <a:solidFill>
                            <a:srgbClr val="4A4D55"/>
                          </a:solidFill>
                          <a:latin typeface="Open Sans"/>
                        </a:defRPr>
                      </a:pPr>
                      <a:r>
                        <a:t>Premium over index</a:t>
                      </a:r>
                    </a:p>
                  </a:txBody>
                  <a:tcPr marL="54864" marR="54864" marT="13716" marB="13716" anchor="ctr">
                    <a:solidFill>
                      <a:srgbClr val="FFFFFF"/>
                    </a:solidFill>
                  </a:tcPr>
                </a:tc>
                <a:tc>
                  <a:txBody>
                    <a:bodyPr/>
                    <a:lstStyle/>
                    <a:p>
                      <a:pPr algn="r">
                        <a:defRPr sz="760" b="0">
                          <a:solidFill>
                            <a:srgbClr val="4A4D55"/>
                          </a:solidFill>
                          <a:latin typeface="Open Sans"/>
                        </a:defRPr>
                      </a:pPr>
                      <a:r>
                        <a:t>Foil conversion, grade; contract, quarterly</a:t>
                      </a:r>
                    </a:p>
                  </a:txBody>
                  <a:tcPr marL="54864" marR="54864" marT="13716" marB="13716" anchor="ctr">
                    <a:solidFill>
                      <a:srgbClr val="FFFFFF"/>
                    </a:solidFill>
                  </a:tcPr>
                </a:tc>
                <a:tc>
                  <a:txBody>
                    <a:bodyPr/>
                    <a:lstStyle/>
                    <a:p>
                      <a:pPr algn="r">
                        <a:defRPr sz="760" b="0">
                          <a:solidFill>
                            <a:srgbClr val="4A4D55"/>
                          </a:solidFill>
                          <a:latin typeface="Open Sans"/>
                        </a:defRPr>
                      </a:pPr>
                      <a:r>
                        <a:t>from ACG POs (pilot wk 3–4)</a:t>
                      </a:r>
                    </a:p>
                  </a:txBody>
                  <a:tcPr marL="54864" marR="54864" marT="13716" marB="13716" anchor="ctr">
                    <a:solidFill>
                      <a:srgbClr val="FFFFFF"/>
                    </a:solidFill>
                  </a:tcPr>
                </a:tc>
              </a:tr>
              <a:tr h="265176">
                <a:tc>
                  <a:txBody>
                    <a:bodyPr/>
                    <a:lstStyle/>
                    <a:p>
                      <a:pPr algn="l">
                        <a:defRPr sz="760" b="0">
                          <a:solidFill>
                            <a:srgbClr val="4A4D55"/>
                          </a:solidFill>
                          <a:latin typeface="Open Sans"/>
                        </a:defRPr>
                      </a:pPr>
                      <a:r>
                        <a:t>Freight &amp; insurance</a:t>
                      </a:r>
                    </a:p>
                  </a:txBody>
                  <a:tcPr marL="54864" marR="54864" marT="13716" marB="13716" anchor="ctr">
                    <a:solidFill>
                      <a:srgbClr val="FFFFFF"/>
                    </a:solidFill>
                  </a:tcPr>
                </a:tc>
                <a:tc>
                  <a:txBody>
                    <a:bodyPr/>
                    <a:lstStyle/>
                    <a:p>
                      <a:pPr algn="r">
                        <a:defRPr sz="760" b="0">
                          <a:solidFill>
                            <a:srgbClr val="4A4D55"/>
                          </a:solidFill>
                          <a:latin typeface="Open Sans"/>
                        </a:defRPr>
                      </a:pPr>
                      <a:r>
                        <a:t>Container market, monthly; part of CIF</a:t>
                      </a:r>
                    </a:p>
                  </a:txBody>
                  <a:tcPr marL="54864" marR="54864" marT="13716" marB="13716" anchor="ctr">
                    <a:solidFill>
                      <a:srgbClr val="FFFFFF"/>
                    </a:solidFill>
                  </a:tcPr>
                </a:tc>
                <a:tc>
                  <a:txBody>
                    <a:bodyPr/>
                    <a:lstStyle/>
                    <a:p>
                      <a:pPr algn="r">
                        <a:defRPr sz="760" b="0">
                          <a:solidFill>
                            <a:srgbClr val="4A4D55"/>
                          </a:solidFill>
                          <a:latin typeface="Open Sans"/>
                        </a:defRPr>
                      </a:pPr>
                      <a:r>
                        <a:t>counts toward the PVC floor</a:t>
                      </a:r>
                    </a:p>
                  </a:txBody>
                  <a:tcPr marL="54864" marR="54864" marT="13716" marB="13716" anchor="ctr">
                    <a:solidFill>
                      <a:srgbClr val="FFFFFF"/>
                    </a:solidFill>
                  </a:tcPr>
                </a:tc>
              </a:tr>
              <a:tr h="265176">
                <a:tc>
                  <a:txBody>
                    <a:bodyPr/>
                    <a:lstStyle/>
                    <a:p>
                      <a:pPr algn="l">
                        <a:defRPr sz="760" b="0">
                          <a:solidFill>
                            <a:srgbClr val="4A4D55"/>
                          </a:solidFill>
                          <a:latin typeface="Open Sans"/>
                        </a:defRPr>
                      </a:pPr>
                      <a:r>
                        <a:t>USD/INR</a:t>
                      </a:r>
                    </a:p>
                  </a:txBody>
                  <a:tcPr marL="54864" marR="54864" marT="13716" marB="13716" anchor="ctr">
                    <a:solidFill>
                      <a:srgbClr val="FFFFFF"/>
                    </a:solidFill>
                  </a:tcPr>
                </a:tc>
                <a:tc>
                  <a:txBody>
                    <a:bodyPr/>
                    <a:lstStyle/>
                    <a:p>
                      <a:pPr algn="r">
                        <a:defRPr sz="760" b="0">
                          <a:solidFill>
                            <a:srgbClr val="4A4D55"/>
                          </a:solidFill>
                          <a:latin typeface="Open Sans"/>
                        </a:defRPr>
                      </a:pPr>
                      <a:r>
                        <a:t>FX market, daily</a:t>
                      </a:r>
                    </a:p>
                  </a:txBody>
                  <a:tcPr marL="54864" marR="54864" marT="13716" marB="13716" anchor="ctr">
                    <a:solidFill>
                      <a:srgbClr val="FFFFFF"/>
                    </a:solidFill>
                  </a:tcPr>
                </a:tc>
                <a:tc>
                  <a:txBody>
                    <a:bodyPr/>
                    <a:lstStyle/>
                    <a:p>
                      <a:pPr algn="r">
                        <a:defRPr sz="760" b="0">
                          <a:solidFill>
                            <a:srgbClr val="4A4D55"/>
                          </a:solidFill>
                          <a:latin typeface="Open Sans"/>
                        </a:defRPr>
                      </a:pPr>
                      <a:r>
                        <a:t>~1% of Al, ~36% of PVC swings</a:t>
                      </a:r>
                    </a:p>
                  </a:txBody>
                  <a:tcPr marL="54864" marR="54864" marT="13716" marB="13716" anchor="ctr">
                    <a:solidFill>
                      <a:srgbClr val="FFFFFF"/>
                    </a:solidFill>
                  </a:tcPr>
                </a:tc>
              </a:tr>
              <a:tr h="265176">
                <a:tc>
                  <a:txBody>
                    <a:bodyPr/>
                    <a:lstStyle/>
                    <a:p>
                      <a:pPr algn="l">
                        <a:defRPr sz="760" b="0">
                          <a:solidFill>
                            <a:srgbClr val="4A4D55"/>
                          </a:solidFill>
                          <a:latin typeface="Open Sans"/>
                        </a:defRPr>
                      </a:pPr>
                      <a:r>
                        <a:t>Customs duty</a:t>
                      </a:r>
                    </a:p>
                  </a:txBody>
                  <a:tcPr marL="54864" marR="54864" marT="13716" marB="13716" anchor="ctr">
                    <a:solidFill>
                      <a:srgbClr val="FFFFFF"/>
                    </a:solidFill>
                  </a:tcPr>
                </a:tc>
                <a:tc>
                  <a:txBody>
                    <a:bodyPr/>
                    <a:lstStyle/>
                    <a:p>
                      <a:pPr algn="r">
                        <a:defRPr sz="760" b="0">
                          <a:solidFill>
                            <a:srgbClr val="4A4D55"/>
                          </a:solidFill>
                          <a:latin typeface="Open Sans"/>
                        </a:defRPr>
                      </a:pPr>
                      <a:r>
                        <a:t>BCD 7.5% + AIDC (7.5% of BCD) + SWS 10%</a:t>
                      </a:r>
                    </a:p>
                  </a:txBody>
                  <a:tcPr marL="54864" marR="54864" marT="13716" marB="13716" anchor="ctr">
                    <a:solidFill>
                      <a:srgbClr val="FFFFFF"/>
                    </a:solidFill>
                  </a:tcPr>
                </a:tc>
                <a:tc>
                  <a:txBody>
                    <a:bodyPr/>
                    <a:lstStyle/>
                    <a:p>
                      <a:pPr algn="r">
                        <a:defRPr sz="760" b="0">
                          <a:solidFill>
                            <a:srgbClr val="4A4D55"/>
                          </a:solidFill>
                          <a:latin typeface="Open Sans"/>
                        </a:defRPr>
                      </a:pPr>
                      <a:r>
                        <a:t>8.87% of CIF; 0% BCD if FTA</a:t>
                      </a:r>
                    </a:p>
                  </a:txBody>
                  <a:tcPr marL="54864" marR="54864" marT="13716" marB="13716" anchor="ctr">
                    <a:solidFill>
                      <a:srgbClr val="FFFFFF"/>
                    </a:solidFill>
                  </a:tcPr>
                </a:tc>
              </a:tr>
              <a:tr h="265176">
                <a:tc>
                  <a:txBody>
                    <a:bodyPr/>
                    <a:lstStyle/>
                    <a:p>
                      <a:pPr algn="l">
                        <a:defRPr sz="760" b="0">
                          <a:solidFill>
                            <a:srgbClr val="4A4D55"/>
                          </a:solidFill>
                          <a:latin typeface="Open Sans"/>
                        </a:defRPr>
                      </a:pPr>
                      <a:r>
                        <a:t>Trade remedies</a:t>
                      </a:r>
                    </a:p>
                  </a:txBody>
                  <a:tcPr marL="54864" marR="54864" marT="13716" marB="13716" anchor="ctr">
                    <a:solidFill>
                      <a:srgbClr val="FFFFFF"/>
                    </a:solidFill>
                  </a:tcPr>
                </a:tc>
                <a:tc>
                  <a:txBody>
                    <a:bodyPr/>
                    <a:lstStyle/>
                    <a:p>
                      <a:pPr algn="r">
                        <a:defRPr sz="760" b="0">
                          <a:solidFill>
                            <a:srgbClr val="4A4D55"/>
                          </a:solidFill>
                          <a:latin typeface="Open Sans"/>
                        </a:defRPr>
                      </a:pPr>
                      <a:r>
                        <a:t>Government decisions with dates</a:t>
                      </a:r>
                    </a:p>
                  </a:txBody>
                  <a:tcPr marL="54864" marR="54864" marT="13716" marB="13716" anchor="ctr">
                    <a:solidFill>
                      <a:srgbClr val="FFFFFF"/>
                    </a:solidFill>
                  </a:tcPr>
                </a:tc>
                <a:tc>
                  <a:txBody>
                    <a:bodyPr/>
                    <a:lstStyle/>
                    <a:p>
                      <a:pPr algn="r">
                        <a:defRPr sz="760" b="0">
                          <a:solidFill>
                            <a:srgbClr val="4A4D55"/>
                          </a:solidFill>
                          <a:latin typeface="Open Sans"/>
                        </a:defRPr>
                      </a:pPr>
                      <a:r>
                        <a:t>foil ADD; PVC $766/t CIF floor</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Port, clearance and inland haulage add a fixed ₹/t from ACG invoices. IGST is creditable,</a:t>
            </a:r>
          </a:p>
          <a:p>
            <a:pPr algn="l">
              <a:lnSpc>
                <a:spcPct val="125000"/>
              </a:lnSpc>
              <a:defRPr sz="740" b="1" i="0">
                <a:solidFill>
                  <a:srgbClr val="C8102E"/>
                </a:solidFill>
                <a:latin typeface="Open Sans"/>
              </a:defRPr>
            </a:pPr>
            <a:r>
              <a:t>so it is cash flow, not cost. The duty rows are verified on ICEGATE before each PO.</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Smart Buy handles each gap</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Index: forecast six months ahead with an 80% band (the rest of this deck).</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Duty, FX and freight: calculated from current published rates and quotes.</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Premiums and port costs: fitted to ACG invoices, re-checked every quarter.</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Policy events: on a dated calendar, flagged in the buyer's note in advance.</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Three numbers that set the gap today</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8.87%</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customs duty on CIF value</a:t>
            </a:r>
          </a:p>
          <a:p>
            <a:pPr algn="l">
              <a:lnSpc>
                <a:spcPct val="122000"/>
              </a:lnSpc>
              <a:defRPr sz="760" b="0" i="0">
                <a:solidFill>
                  <a:srgbClr val="7C8089"/>
                </a:solidFill>
                <a:latin typeface="Open Sans"/>
              </a:defRPr>
            </a:pPr>
            <a:r>
              <a:t>(MFN origin); IGST excluded</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$766/t</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CIF floor on suspension</a:t>
            </a:r>
          </a:p>
          <a:p>
            <a:pPr algn="l">
              <a:lnSpc>
                <a:spcPct val="122000"/>
              </a:lnSpc>
              <a:defRPr sz="760" b="0" i="0">
                <a:solidFill>
                  <a:srgbClr val="7C8089"/>
                </a:solidFill>
                <a:latin typeface="Open Sans"/>
              </a:defRPr>
            </a:pPr>
            <a:r>
              <a:t>PVC, to late Jan 2027</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$479–721</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per t ADD on Chinese foil,</a:t>
            </a:r>
          </a:p>
          <a:p>
            <a:pPr algn="l">
              <a:lnSpc>
                <a:spcPct val="122000"/>
              </a:lnSpc>
              <a:defRPr sz="760" b="0" i="0">
                <a:solidFill>
                  <a:srgbClr val="7C8089"/>
                </a:solidFill>
                <a:latin typeface="Open Sans"/>
              </a:defRPr>
            </a:pPr>
            <a:r>
              <a:t>extended to 15 Dec 2026</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moves the landed price month to month</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Aluminium: the LME price itself. FX is only ~1% of monthly rupee-price variance.</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PVC: FX is ~36% of it, so the rupee view matters as much as the forecast.</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Origin decides duty: ASEAN, Japan, Korea pay 0% BCD; China can add ADD.</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Policy steps: PVC BCD was nil Apr–Jun 2026, then a $766/t floor from 24 Jul.</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Premiums reset quarterly with suppliers, so they are known in advance.</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rPr sz="780" b="1" i="0">
                <a:solidFill>
                  <a:srgbClr val="4A4D55"/>
                </a:solidFill>
                <a:latin typeface="Open Sans"/>
              </a:rPr>
              <a:t xml:space="preserve">Worked example, PVC at the floor. </a:t>
            </a:r>
            <a:r>
              <a:rPr sz="780" b="0" i="0">
                <a:solidFill>
                  <a:srgbClr val="4A4D55"/>
                </a:solidFill>
                <a:latin typeface="Open Sans"/>
              </a:rPr>
              <a:t>CIF $766/t + BCD $57.4 + AIDC $4.3 + SWS $6.2</a:t>
            </a:r>
          </a:p>
          <a:p>
            <a:pPr algn="l">
              <a:lnSpc>
                <a:spcPct val="125000"/>
              </a:lnSpc>
              <a:defRPr sz="780" b="0" i="0">
                <a:solidFill>
                  <a:srgbClr val="4A4D55"/>
                </a:solidFill>
                <a:latin typeface="Open Sans"/>
              </a:defRPr>
            </a:pPr>
            <a:r>
              <a:t>= $833.9/t duty-paid (+8.87%); at ₹95.45/$: ₹79.6/kg vs ₹73.1/kg CIF.</a:t>
            </a:r>
          </a:p>
          <a:p>
            <a:pPr algn="l">
              <a:lnSpc>
                <a:spcPct val="125000"/>
              </a:lnSpc>
              <a:defRPr sz="780" b="0" i="0">
                <a:solidFill>
                  <a:srgbClr val="4A4D55"/>
                </a:solidFill>
                <a:latin typeface="Open Sans"/>
              </a:defRPr>
            </a:pPr>
            <a:r>
              <a:t>Imports under Advance Authorisation for exports are exempt from the floor (conditions apply).</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Duty stack: CBIC/ICEGATE rates via EximPe (May 2026). PVC floor: DGFT Notification 25/2026-27, 24 Jul 2026. Foil ADD: Customs (ADD) extension to 15 Dec 2026, sunset review. FX: ECB. FX variance shares: this pipeline, 2010–2024.</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11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520248"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2  ·  P I L O T   P L A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90-day zero-capex shadow pilot, Nov 2026 – Feb 2027: what it costs, when it runs,</a:t>
            </a:r>
          </a:p>
          <a:p>
            <a:pPr algn="l">
              <a:lnSpc>
                <a:spcPct val="112000"/>
              </a:lnSpc>
              <a:defRPr sz="1700" b="1" i="0">
                <a:solidFill>
                  <a:srgbClr val="16181D"/>
                </a:solidFill>
                <a:latin typeface="Open Sans"/>
              </a:defRPr>
            </a:pPr>
            <a:r>
              <a:t>and the numbers that decide go or stop</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Timeline, November 2026 to February 2027</a:t>
            </a:r>
          </a:p>
        </p:txBody>
      </p:sp>
      <p:sp>
        <p:nvSpPr>
          <p:cNvPr id="15" name="Rectangle 14"/>
          <p:cNvSpPr/>
          <p:nvPr/>
        </p:nvSpPr>
        <p:spPr>
          <a:xfrm>
            <a:off x="502920" y="2057400"/>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2057400"/>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130552"/>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Weeks 1–2</a:t>
            </a:r>
          </a:p>
        </p:txBody>
      </p:sp>
      <p:sp>
        <p:nvSpPr>
          <p:cNvPr id="18" name="TextBox 17"/>
          <p:cNvSpPr txBox="1"/>
          <p:nvPr/>
        </p:nvSpPr>
        <p:spPr>
          <a:xfrm>
            <a:off x="1828800" y="2130552"/>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Data refresh and PO baseline</a:t>
            </a:r>
          </a:p>
        </p:txBody>
      </p:sp>
      <p:sp>
        <p:nvSpPr>
          <p:cNvPr id="19" name="TextBox 18"/>
          <p:cNvSpPr txBox="1"/>
          <p:nvPr/>
        </p:nvSpPr>
        <p:spPr>
          <a:xfrm>
            <a:off x="640080" y="2350008"/>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Refresh public data; load 12–24 months of ACG POs for aluminium foil and PVC resin.</a:t>
            </a:r>
          </a:p>
        </p:txBody>
      </p:sp>
      <p:sp>
        <p:nvSpPr>
          <p:cNvPr id="20" name="Rectangle 19"/>
          <p:cNvSpPr/>
          <p:nvPr/>
        </p:nvSpPr>
        <p:spPr>
          <a:xfrm>
            <a:off x="502920" y="2862072"/>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 y="2862072"/>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2935224"/>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Weeks 3–4</a:t>
            </a:r>
          </a:p>
        </p:txBody>
      </p:sp>
      <p:sp>
        <p:nvSpPr>
          <p:cNvPr id="23" name="TextBox 22"/>
          <p:cNvSpPr txBox="1"/>
          <p:nvPr/>
        </p:nvSpPr>
        <p:spPr>
          <a:xfrm>
            <a:off x="1828800" y="2935224"/>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Landed-cost overlay calibration</a:t>
            </a:r>
          </a:p>
        </p:txBody>
      </p:sp>
      <p:sp>
        <p:nvSpPr>
          <p:cNvPr id="24" name="TextBox 23"/>
          <p:cNvSpPr txBox="1"/>
          <p:nvPr/>
        </p:nvSpPr>
        <p:spPr>
          <a:xfrm>
            <a:off x="640080" y="3154679"/>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Fit premiums, freight and port costs so the overlay matches ACG invoices; load the policy calendar.</a:t>
            </a:r>
          </a:p>
        </p:txBody>
      </p:sp>
      <p:sp>
        <p:nvSpPr>
          <p:cNvPr id="25" name="Rectangle 24"/>
          <p:cNvSpPr/>
          <p:nvPr/>
        </p:nvSpPr>
        <p:spPr>
          <a:xfrm>
            <a:off x="502920" y="3666744"/>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02920" y="3666744"/>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3739896"/>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Months 2–3</a:t>
            </a:r>
          </a:p>
        </p:txBody>
      </p:sp>
      <p:sp>
        <p:nvSpPr>
          <p:cNvPr id="28" name="TextBox 27"/>
          <p:cNvSpPr txBox="1"/>
          <p:nvPr/>
        </p:nvSpPr>
        <p:spPr>
          <a:xfrm>
            <a:off x="1828800" y="3739896"/>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Shadow scoring, twice a month</a:t>
            </a:r>
          </a:p>
        </p:txBody>
      </p:sp>
      <p:sp>
        <p:nvSpPr>
          <p:cNvPr id="29" name="TextBox 28"/>
          <p:cNvSpPr txBox="1"/>
          <p:nvPr/>
        </p:nvSpPr>
        <p:spPr>
          <a:xfrm>
            <a:off x="640080" y="3959352"/>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Buyers decide as today; every signal is logged against the actual buy. Spans the foil ADD and PVC floor decisions.</a:t>
            </a:r>
          </a:p>
        </p:txBody>
      </p:sp>
      <p:sp>
        <p:nvSpPr>
          <p:cNvPr id="30" name="Rectangle 29"/>
          <p:cNvSpPr/>
          <p:nvPr/>
        </p:nvSpPr>
        <p:spPr>
          <a:xfrm>
            <a:off x="502920" y="4471416"/>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4471416"/>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4544568"/>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Month 4</a:t>
            </a:r>
          </a:p>
        </p:txBody>
      </p:sp>
      <p:sp>
        <p:nvSpPr>
          <p:cNvPr id="33" name="TextBox 32"/>
          <p:cNvSpPr txBox="1"/>
          <p:nvPr/>
        </p:nvSpPr>
        <p:spPr>
          <a:xfrm>
            <a:off x="1828800" y="4544568"/>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Go / no-go review, Feb 2027</a:t>
            </a:r>
          </a:p>
        </p:txBody>
      </p:sp>
      <p:sp>
        <p:nvSpPr>
          <p:cNvPr id="34" name="TextBox 33"/>
          <p:cNvSpPr txBox="1"/>
          <p:nvPr/>
        </p:nvSpPr>
        <p:spPr>
          <a:xfrm>
            <a:off x="640080" y="4764024"/>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Leadership decides against the gates on the right. If go: monthly run, then the ERP hook.</a:t>
            </a:r>
          </a:p>
        </p:txBody>
      </p:sp>
      <p:sp>
        <p:nvSpPr>
          <p:cNvPr id="35" name="TextBox 34"/>
          <p:cNvSpPr txBox="1"/>
          <p:nvPr/>
        </p:nvSpPr>
        <p:spPr>
          <a:xfrm>
            <a:off x="502920" y="5349240"/>
            <a:ext cx="539496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Cost: ₹0 capex, no licences; runs on one laptop in about 20 minutes a month.</a:t>
            </a:r>
          </a:p>
          <a:p>
            <a:pPr algn="l">
              <a:lnSpc>
                <a:spcPct val="125000"/>
              </a:lnSpc>
              <a:defRPr sz="740" b="1" i="0">
                <a:solidFill>
                  <a:srgbClr val="C8102E"/>
                </a:solidFill>
                <a:latin typeface="Open Sans"/>
              </a:defRPr>
            </a:pPr>
            <a:r>
              <a:t>ACG time: about 25 hours in total (sponsor 1 h/month, 2 buyers 30 min/fortnight, PO extract).</a:t>
            </a:r>
          </a:p>
        </p:txBody>
      </p:sp>
      <p:sp>
        <p:nvSpPr>
          <p:cNvPr id="36" name="TextBox 3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Go gates at day 90 (all four must pass)</a:t>
            </a:r>
          </a:p>
        </p:txBody>
      </p:sp>
      <p:graphicFrame>
        <p:nvGraphicFramePr>
          <p:cNvPr id="37" name="Table 36"/>
          <p:cNvGraphicFramePr>
            <a:graphicFrameLocks noGrp="1"/>
          </p:cNvGraphicFramePr>
          <p:nvPr/>
        </p:nvGraphicFramePr>
        <p:xfrm>
          <a:off x="6263640" y="2057400"/>
          <a:ext cx="5440680" cy="1627632"/>
        </p:xfrm>
        <a:graphic>
          <a:graphicData uri="http://schemas.openxmlformats.org/drawingml/2006/table">
            <a:tbl>
              <a:tblPr>
                <a:tableStyleId>{5C22544A-7EE6-4342-B048-85BDC9FD1C3A}</a:tableStyleId>
              </a:tblPr>
              <a:tblGrid>
                <a:gridCol w="1280160"/>
                <a:gridCol w="4160520"/>
              </a:tblGrid>
              <a:tr h="237744">
                <a:tc>
                  <a:txBody>
                    <a:bodyPr/>
                    <a:lstStyle/>
                    <a:p>
                      <a:pPr algn="l">
                        <a:defRPr sz="700" b="1">
                          <a:solidFill>
                            <a:srgbClr val="FFFFFF"/>
                          </a:solidFill>
                          <a:latin typeface="Open Sans"/>
                        </a:defRPr>
                      </a:pPr>
                      <a:r>
                        <a:t>Gate</a:t>
                      </a:r>
                    </a:p>
                  </a:txBody>
                  <a:tcPr marL="54864" marR="54864" marT="18288" marB="18288" anchor="ctr">
                    <a:solidFill>
                      <a:srgbClr val="C8102E"/>
                    </a:solidFill>
                  </a:tcPr>
                </a:tc>
                <a:tc>
                  <a:txBody>
                    <a:bodyPr/>
                    <a:lstStyle/>
                    <a:p>
                      <a:pPr algn="r">
                        <a:defRPr sz="700" b="1">
                          <a:solidFill>
                            <a:srgbClr val="FFFFFF"/>
                          </a:solidFill>
                          <a:latin typeface="Open Sans"/>
                        </a:defRPr>
                      </a:pPr>
                      <a:r>
                        <a:t>Pass criterion</a:t>
                      </a:r>
                    </a:p>
                  </a:txBody>
                  <a:tcPr marL="54864" marR="54864" marT="18288" marB="18288" anchor="ctr">
                    <a:solidFill>
                      <a:srgbClr val="C8102E"/>
                    </a:solidFill>
                  </a:tcPr>
                </a:tc>
              </a:tr>
              <a:tr h="347472">
                <a:tc>
                  <a:txBody>
                    <a:bodyPr/>
                    <a:lstStyle/>
                    <a:p>
                      <a:pPr algn="l">
                        <a:defRPr sz="740" b="0">
                          <a:solidFill>
                            <a:srgbClr val="4A4D55"/>
                          </a:solidFill>
                          <a:latin typeface="Open Sans"/>
                        </a:defRPr>
                      </a:pPr>
                      <a:r>
                        <a:t>Accuracy</a:t>
                      </a:r>
                    </a:p>
                  </a:txBody>
                  <a:tcPr marL="54864" marR="54864" marT="13716" marB="13716" anchor="ctr">
                    <a:solidFill>
                      <a:srgbClr val="FFFFFF"/>
                    </a:solidFill>
                  </a:tcPr>
                </a:tc>
                <a:tc>
                  <a:txBody>
                    <a:bodyPr/>
                    <a:lstStyle/>
                    <a:p>
                      <a:pPr algn="r">
                        <a:defRPr sz="740" b="0">
                          <a:solidFill>
                            <a:srgbClr val="4A4D55"/>
                          </a:solidFill>
                          <a:latin typeface="Open Sans"/>
                        </a:defRPr>
                      </a:pPr>
                      <a:r>
                        <a:t>Forecast MAPE ≤ naïve at 1–3 months, both materials</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Landed cost</a:t>
                      </a:r>
                    </a:p>
                  </a:txBody>
                  <a:tcPr marL="54864" marR="54864" marT="13716" marB="13716" anchor="ctr">
                    <a:solidFill>
                      <a:srgbClr val="FFFFFF"/>
                    </a:solidFill>
                  </a:tcPr>
                </a:tc>
                <a:tc>
                  <a:txBody>
                    <a:bodyPr/>
                    <a:lstStyle/>
                    <a:p>
                      <a:pPr algn="r">
                        <a:defRPr sz="740" b="0">
                          <a:solidFill>
                            <a:srgbClr val="4A4D55"/>
                          </a:solidFill>
                          <a:latin typeface="Open Sans"/>
                        </a:defRPr>
                      </a:pPr>
                      <a:r>
                        <a:t>Overlay within ±2.5% of ACG invoice on ≥ 80% of POs</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Decision value</a:t>
                      </a:r>
                    </a:p>
                  </a:txBody>
                  <a:tcPr marL="54864" marR="54864" marT="13716" marB="13716" anchor="ctr">
                    <a:solidFill>
                      <a:srgbClr val="FFFFFF"/>
                    </a:solidFill>
                  </a:tcPr>
                </a:tc>
                <a:tc>
                  <a:txBody>
                    <a:bodyPr/>
                    <a:lstStyle/>
                    <a:p>
                      <a:pPr algn="r">
                        <a:defRPr sz="740" b="0">
                          <a:solidFill>
                            <a:srgbClr val="4A4D55"/>
                          </a:solidFill>
                          <a:latin typeface="Open Sans"/>
                        </a:defRPr>
                      </a:pPr>
                      <a:r>
                        <a:t>Shadow saving ≥ 0 after carry; full timing test at month 12</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Buyer trust</a:t>
                      </a:r>
                    </a:p>
                  </a:txBody>
                  <a:tcPr marL="54864" marR="54864" marT="13716" marB="13716" anchor="ctr">
                    <a:solidFill>
                      <a:srgbClr val="FFFFFF"/>
                    </a:solidFill>
                  </a:tcPr>
                </a:tc>
                <a:tc>
                  <a:txBody>
                    <a:bodyPr/>
                    <a:lstStyle/>
                    <a:p>
                      <a:pPr algn="r">
                        <a:defRPr sz="740" b="0">
                          <a:solidFill>
                            <a:srgbClr val="4A4D55"/>
                          </a:solidFill>
                          <a:latin typeface="Open Sans"/>
                        </a:defRPr>
                      </a:pPr>
                      <a:r>
                        <a:t>≥ 80% of signals rated useful; every buy logged</a:t>
                      </a:r>
                    </a:p>
                  </a:txBody>
                  <a:tcPr marL="54864" marR="54864" marT="13716" marB="13716" anchor="ctr">
                    <a:solidFill>
                      <a:srgbClr val="FFFFFF"/>
                    </a:solidFill>
                  </a:tcPr>
                </a:tc>
              </a:tr>
            </a:tbl>
          </a:graphicData>
        </a:graphic>
      </p:graphicFrame>
      <p:sp>
        <p:nvSpPr>
          <p:cNvPr id="38" name="TextBox 37"/>
          <p:cNvSpPr txBox="1"/>
          <p:nvPr/>
        </p:nvSpPr>
        <p:spPr>
          <a:xfrm>
            <a:off x="6263640" y="388620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Stop rules (automatic, any one triggers)</a:t>
            </a:r>
          </a:p>
        </p:txBody>
      </p:sp>
      <p:graphicFrame>
        <p:nvGraphicFramePr>
          <p:cNvPr id="39" name="Table 38"/>
          <p:cNvGraphicFramePr>
            <a:graphicFrameLocks noGrp="1"/>
          </p:cNvGraphicFramePr>
          <p:nvPr/>
        </p:nvGraphicFramePr>
        <p:xfrm>
          <a:off x="6263640" y="4160520"/>
          <a:ext cx="5440680" cy="1389888"/>
        </p:xfrm>
        <a:graphic>
          <a:graphicData uri="http://schemas.openxmlformats.org/drawingml/2006/table">
            <a:tbl>
              <a:tblPr>
                <a:tableStyleId>{5C22544A-7EE6-4342-B048-85BDC9FD1C3A}</a:tableStyleId>
              </a:tblPr>
              <a:tblGrid>
                <a:gridCol w="1371600"/>
                <a:gridCol w="4069080"/>
              </a:tblGrid>
              <a:tr h="237744">
                <a:tc>
                  <a:txBody>
                    <a:bodyPr/>
                    <a:lstStyle/>
                    <a:p>
                      <a:pPr algn="l">
                        <a:defRPr sz="680" b="1">
                          <a:solidFill>
                            <a:srgbClr val="FFFFFF"/>
                          </a:solidFill>
                          <a:latin typeface="Open Sans"/>
                        </a:defRPr>
                      </a:pPr>
                      <a:r>
                        <a:t>Trigger</a:t>
                      </a:r>
                    </a:p>
                  </a:txBody>
                  <a:tcPr marL="54864" marR="54864" marT="18288" marB="18288" anchor="ctr">
                    <a:solidFill>
                      <a:srgbClr val="C8102E"/>
                    </a:solidFill>
                  </a:tcPr>
                </a:tc>
                <a:tc>
                  <a:txBody>
                    <a:bodyPr/>
                    <a:lstStyle/>
                    <a:p>
                      <a:pPr algn="r">
                        <a:defRPr sz="680" b="1">
                          <a:solidFill>
                            <a:srgbClr val="FFFFFF"/>
                          </a:solidFill>
                          <a:latin typeface="Open Sans"/>
                        </a:defRPr>
                      </a:pPr>
                      <a:r>
                        <a:t>Automatic action</a:t>
                      </a:r>
                    </a:p>
                  </a:txBody>
                  <a:tcPr marL="54864" marR="54864" marT="18288" marB="18288" anchor="ctr">
                    <a:solidFill>
                      <a:srgbClr val="C8102E"/>
                    </a:solidFill>
                  </a:tcPr>
                </a:tc>
              </a:tr>
              <a:tr h="384048">
                <a:tc>
                  <a:txBody>
                    <a:bodyPr/>
                    <a:lstStyle/>
                    <a:p>
                      <a:pPr algn="l">
                        <a:defRPr sz="720" b="0">
                          <a:solidFill>
                            <a:srgbClr val="4A4D55"/>
                          </a:solidFill>
                          <a:latin typeface="Open Sans"/>
                        </a:defRPr>
                      </a:pPr>
                      <a:r>
                        <a:t>Accuracy failure</a:t>
                      </a:r>
                    </a:p>
                  </a:txBody>
                  <a:tcPr marL="54864" marR="54864" marT="13716" marB="13716" anchor="ctr">
                    <a:solidFill>
                      <a:srgbClr val="FFFFFF"/>
                    </a:solidFill>
                  </a:tcPr>
                </a:tc>
                <a:tc>
                  <a:txBody>
                    <a:bodyPr/>
                    <a:lstStyle/>
                    <a:p>
                      <a:pPr algn="r">
                        <a:defRPr sz="720" b="0">
                          <a:solidFill>
                            <a:srgbClr val="4A4D55"/>
                          </a:solidFill>
                          <a:latin typeface="Open Sans"/>
                        </a:defRPr>
                      </a:pPr>
                      <a:r>
                        <a:t>MAPE &gt; naïve 2 months running → freeze signals, buy as today</a:t>
                      </a:r>
                    </a:p>
                  </a:txBody>
                  <a:tcPr marL="54864" marR="54864" marT="13716" marB="13716" anchor="ctr">
                    <a:solidFill>
                      <a:srgbClr val="FFFFFF"/>
                    </a:solidFill>
                  </a:tcPr>
                </a:tc>
              </a:tr>
              <a:tr h="384048">
                <a:tc>
                  <a:txBody>
                    <a:bodyPr/>
                    <a:lstStyle/>
                    <a:p>
                      <a:pPr algn="l">
                        <a:defRPr sz="720" b="0">
                          <a:solidFill>
                            <a:srgbClr val="4A4D55"/>
                          </a:solidFill>
                          <a:latin typeface="Open Sans"/>
                        </a:defRPr>
                      </a:pPr>
                      <a:r>
                        <a:t>Landed-cost drift</a:t>
                      </a:r>
                    </a:p>
                  </a:txBody>
                  <a:tcPr marL="54864" marR="54864" marT="13716" marB="13716" anchor="ctr">
                    <a:solidFill>
                      <a:srgbClr val="FFFFFF"/>
                    </a:solidFill>
                  </a:tcPr>
                </a:tc>
                <a:tc>
                  <a:txBody>
                    <a:bodyPr/>
                    <a:lstStyle/>
                    <a:p>
                      <a:pPr algn="r">
                        <a:defRPr sz="720" b="0">
                          <a:solidFill>
                            <a:srgbClr val="4A4D55"/>
                          </a:solidFill>
                          <a:latin typeface="Open Sans"/>
                        </a:defRPr>
                      </a:pPr>
                      <a:r>
                        <a:t>Overlay &gt; 5% off invoices → pause and re-fit before resuming</a:t>
                      </a:r>
                    </a:p>
                  </a:txBody>
                  <a:tcPr marL="54864" marR="54864" marT="13716" marB="13716" anchor="ctr">
                    <a:solidFill>
                      <a:srgbClr val="FFFFFF"/>
                    </a:solidFill>
                  </a:tcPr>
                </a:tc>
              </a:tr>
              <a:tr h="384048">
                <a:tc>
                  <a:txBody>
                    <a:bodyPr/>
                    <a:lstStyle/>
                    <a:p>
                      <a:pPr algn="l">
                        <a:defRPr sz="720" b="0">
                          <a:solidFill>
                            <a:srgbClr val="4A4D55"/>
                          </a:solidFill>
                          <a:latin typeface="Open Sans"/>
                        </a:defRPr>
                      </a:pPr>
                      <a:r>
                        <a:t>Regime break / stale data</a:t>
                      </a:r>
                    </a:p>
                  </a:txBody>
                  <a:tcPr marL="54864" marR="54864" marT="13716" marB="13716" anchor="ctr">
                    <a:solidFill>
                      <a:srgbClr val="FFFFFF"/>
                    </a:solidFill>
                  </a:tcPr>
                </a:tc>
                <a:tc>
                  <a:txBody>
                    <a:bodyPr/>
                    <a:lstStyle/>
                    <a:p>
                      <a:pPr algn="r">
                        <a:defRPr sz="720" b="0">
                          <a:solidFill>
                            <a:srgbClr val="4A4D55"/>
                          </a:solidFill>
                          <a:latin typeface="Open Sans"/>
                        </a:defRPr>
                      </a:pPr>
                      <a:r>
                        <a:t>Band coverage &lt; 50% or any feed &gt; 45 days old → all BUY NORMAL</a:t>
                      </a:r>
                    </a:p>
                  </a:txBody>
                  <a:tcPr marL="54864" marR="54864" marT="13716" marB="13716" anchor="ctr">
                    <a:solidFill>
                      <a:srgbClr val="FFFFFF"/>
                    </a:solidFill>
                  </a:tcPr>
                </a:tc>
              </a:tr>
            </a:tbl>
          </a:graphicData>
        </a:graphic>
      </p:graphicFrame>
      <p:sp>
        <p:nvSpPr>
          <p:cNvPr id="40" name="TextBox 39"/>
          <p:cNvSpPr txBox="1"/>
          <p:nvPr/>
        </p:nvSpPr>
        <p:spPr>
          <a:xfrm>
            <a:off x="6263640" y="5715000"/>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Open Sans"/>
              </a:defRPr>
            </a:pPr>
            <a:r>
              <a:t>Why the savings verdict waits for month 12: the rule acts only a few times a quarter, so 90 days proves accuracy, landed-cost fit and adoption; proving savings needs about 12 months of signals.</a:t>
            </a:r>
          </a:p>
        </p:txBody>
      </p:sp>
      <p:sp>
        <p:nvSpPr>
          <p:cNvPr id="41" name="TextBox 40"/>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Governance: shadow mode throughout. Buyer decisions do not change during the pilot; nothing connects to ERP before the go decision.</a:t>
            </a:r>
          </a:p>
        </p:txBody>
      </p:sp>
      <p:sp>
        <p:nvSpPr>
          <p:cNvPr id="42" name="TextBox 41"/>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12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0118227"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9" name="TextBox 8"/>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3  ·  R I S K S   &amp;   R O A D M A P</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Risks we carry and how we contain them: policy events, residual model risk,</a:t>
            </a:r>
          </a:p>
          <a:p>
            <a:pPr algn="l">
              <a:lnSpc>
                <a:spcPct val="112000"/>
              </a:lnSpc>
              <a:defRPr sz="1700" b="1" i="0">
                <a:solidFill>
                  <a:srgbClr val="16181D"/>
                </a:solidFill>
                <a:latin typeface="Open Sans"/>
              </a:defRPr>
            </a:pPr>
            <a:r>
              <a:t>and the roadmap after the pilot</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Policy events inside the pilot window</a:t>
            </a:r>
          </a:p>
        </p:txBody>
      </p:sp>
      <p:sp>
        <p:nvSpPr>
          <p:cNvPr id="15" name="Rectangle 14"/>
          <p:cNvSpPr/>
          <p:nvPr/>
        </p:nvSpPr>
        <p:spPr>
          <a:xfrm>
            <a:off x="502920" y="2057400"/>
            <a:ext cx="5394960" cy="14173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48840"/>
            <a:ext cx="5120640" cy="1234440"/>
          </a:xfrm>
          <a:prstGeom prst="rect">
            <a:avLst/>
          </a:prstGeom>
          <a:noFill/>
        </p:spPr>
        <p:txBody>
          <a:bodyPr wrap="square" lIns="0" rIns="0" tIns="0" bIns="0">
            <a:spAutoFit/>
          </a:bodyPr>
          <a:lstStyle/>
          <a:p>
            <a:pPr algn="l">
              <a:lnSpc>
                <a:spcPct val="128000"/>
              </a:lnSpc>
              <a:defRPr sz="760" b="0" i="0">
                <a:solidFill>
                  <a:srgbClr val="4A4D55"/>
                </a:solidFill>
                <a:latin typeface="Open Sans"/>
              </a:defRPr>
            </a:pPr>
            <a:r>
              <a:t>15 Dec 2026 · Foil ADD (China, Malaysia, Thailand, Indonesia): sunset decision</a:t>
            </a:r>
          </a:p>
          <a:p>
            <a:pPr algn="l">
              <a:lnSpc>
                <a:spcPct val="128000"/>
              </a:lnSpc>
              <a:defRPr sz="760" b="0" i="0">
                <a:solidFill>
                  <a:srgbClr val="4A4D55"/>
                </a:solidFill>
                <a:latin typeface="Open Sans"/>
              </a:defRPr>
            </a:pPr>
            <a:r>
              <a:t>Late Jan 2027 · S-PVC $766/t CIF floor ends: extend, replace with ADD, or lapse</a:t>
            </a:r>
          </a:p>
          <a:p>
            <a:pPr algn="l">
              <a:lnSpc>
                <a:spcPct val="128000"/>
              </a:lnSpc>
              <a:defRPr sz="760" b="0" i="0">
                <a:solidFill>
                  <a:srgbClr val="4A4D55"/>
                </a:solidFill>
                <a:latin typeface="Open Sans"/>
              </a:defRPr>
            </a:pPr>
            <a:r>
              <a:t>Pending · S-PVC anti-dumping duty recommended by DGTR (Aug 2025)</a:t>
            </a:r>
          </a:p>
          <a:p>
            <a:pPr algn="l">
              <a:lnSpc>
                <a:spcPct val="128000"/>
              </a:lnSpc>
              <a:defRPr sz="760" b="0" i="0">
                <a:solidFill>
                  <a:srgbClr val="4A4D55"/>
                </a:solidFill>
                <a:latin typeface="Open Sans"/>
              </a:defRPr>
            </a:pPr>
            <a:r>
              <a:t>Pending · Countervailing-duty probe on Chinese S-PVC (opened Mar 2026)</a:t>
            </a:r>
          </a:p>
          <a:p>
            <a:pPr algn="l">
              <a:lnSpc>
                <a:spcPct val="128000"/>
              </a:lnSpc>
              <a:defRPr sz="760" b="0" i="0">
                <a:solidFill>
                  <a:srgbClr val="4A4D55"/>
                </a:solidFill>
                <a:latin typeface="Open Sans"/>
              </a:defRPr>
            </a:pPr>
            <a:r>
              <a:t>Past · PVC BCD nil 2 Apr – 30 Jun 2026, then restored</a:t>
            </a:r>
          </a:p>
          <a:p>
            <a:pPr algn="l">
              <a:lnSpc>
                <a:spcPct val="128000"/>
              </a:lnSpc>
              <a:defRPr sz="760" b="0" i="0">
                <a:solidFill>
                  <a:srgbClr val="4A4D55"/>
                </a:solidFill>
                <a:latin typeface="Open Sans"/>
              </a:defRPr>
            </a:pPr>
            <a:r>
              <a:t>Each shifts landed cost by a known amount on a known date,</a:t>
            </a:r>
          </a:p>
          <a:p>
            <a:pPr algn="l">
              <a:lnSpc>
                <a:spcPct val="128000"/>
              </a:lnSpc>
              <a:defRPr sz="760" b="0" i="0">
                <a:solidFill>
                  <a:srgbClr val="4A4D55"/>
                </a:solidFill>
                <a:latin typeface="Open Sans"/>
              </a:defRPr>
            </a:pPr>
            <a:r>
              <a:t>so the overlay calculates it; the forecast does not guess it.</a:t>
            </a:r>
          </a:p>
        </p:txBody>
      </p:sp>
      <p:sp>
        <p:nvSpPr>
          <p:cNvPr id="17" name="TextBox 16"/>
          <p:cNvSpPr txBox="1"/>
          <p:nvPr/>
        </p:nvSpPr>
        <p:spPr>
          <a:xfrm>
            <a:off x="502920" y="36118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we forecast the index and calculate the rest</a:t>
            </a:r>
          </a:p>
        </p:txBody>
      </p:sp>
      <p:sp>
        <p:nvSpPr>
          <p:cNvPr id="18" name="TextBox 17"/>
          <p:cNvSpPr txBox="1"/>
          <p:nvPr/>
        </p:nvSpPr>
        <p:spPr>
          <a:xfrm>
            <a:off x="502920" y="3858768"/>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19" name="TextBox 18"/>
          <p:cNvSpPr txBox="1"/>
          <p:nvPr/>
        </p:nvSpPr>
        <p:spPr>
          <a:xfrm>
            <a:off x="621792" y="3858768"/>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Import parity: Indian producers price off import parity, so the global index also drives the domestic price ACG pays.</a:t>
            </a:r>
          </a:p>
        </p:txBody>
      </p:sp>
      <p:sp>
        <p:nvSpPr>
          <p:cNvPr id="20" name="TextBox 19"/>
          <p:cNvSpPr txBox="1"/>
          <p:nvPr/>
        </p:nvSpPr>
        <p:spPr>
          <a:xfrm>
            <a:off x="502920" y="4206240"/>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1" name="TextBox 20"/>
          <p:cNvSpPr txBox="1"/>
          <p:nvPr/>
        </p:nvSpPr>
        <p:spPr>
          <a:xfrm>
            <a:off x="621792" y="4206240"/>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Contemporaneous FX (H4): pass-through is one-for-one by construction; FX is ~1% of aluminium's monthly rupee-price variance and ~36% for the PVC index.</a:t>
            </a:r>
          </a:p>
        </p:txBody>
      </p:sp>
      <p:sp>
        <p:nvSpPr>
          <p:cNvPr id="22" name="TextBox 21"/>
          <p:cNvSpPr txBox="1"/>
          <p:nvPr/>
        </p:nvSpPr>
        <p:spPr>
          <a:xfrm>
            <a:off x="502920" y="4553712"/>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3" name="TextBox 22"/>
          <p:cNvSpPr txBox="1"/>
          <p:nvPr/>
        </p:nvSpPr>
        <p:spPr>
          <a:xfrm>
            <a:off x="621792" y="4553712"/>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Duties, floors and anti-dumping rates are published rules with dates: calculated exactly, not forecast.</a:t>
            </a:r>
          </a:p>
        </p:txBody>
      </p:sp>
      <p:sp>
        <p:nvSpPr>
          <p:cNvPr id="24" name="TextBox 23"/>
          <p:cNvSpPr txBox="1"/>
          <p:nvPr/>
        </p:nvSpPr>
        <p:spPr>
          <a:xfrm>
            <a:off x="502920" y="4901183"/>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5" name="TextBox 24"/>
          <p:cNvSpPr txBox="1"/>
          <p:nvPr/>
        </p:nvSpPr>
        <p:spPr>
          <a:xfrm>
            <a:off x="621792" y="4901183"/>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Local basis is measured, not assumed: the gap between global index and ACG's price is fitted on ACG PO history in Phase 1.</a:t>
            </a:r>
          </a:p>
        </p:txBody>
      </p:sp>
      <p:sp>
        <p:nvSpPr>
          <p:cNvPr id="26" name="TextBox 2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Residual risks we carry &amp; proactive mitigations</a:t>
            </a:r>
          </a:p>
        </p:txBody>
      </p:sp>
      <p:graphicFrame>
        <p:nvGraphicFramePr>
          <p:cNvPr id="27" name="Table 26"/>
          <p:cNvGraphicFramePr>
            <a:graphicFrameLocks noGrp="1"/>
          </p:cNvGraphicFramePr>
          <p:nvPr/>
        </p:nvGraphicFramePr>
        <p:xfrm>
          <a:off x="6263640" y="2057400"/>
          <a:ext cx="5440680" cy="1517904"/>
        </p:xfrm>
        <a:graphic>
          <a:graphicData uri="http://schemas.openxmlformats.org/drawingml/2006/table">
            <a:tbl>
              <a:tblPr>
                <a:tableStyleId>{5C22544A-7EE6-4342-B048-85BDC9FD1C3A}</a:tableStyleId>
              </a:tblPr>
              <a:tblGrid>
                <a:gridCol w="1234440"/>
                <a:gridCol w="1554480"/>
                <a:gridCol w="2651760"/>
              </a:tblGrid>
              <a:tr h="237744">
                <a:tc>
                  <a:txBody>
                    <a:bodyPr/>
                    <a:lstStyle/>
                    <a:p>
                      <a:pPr algn="l">
                        <a:defRPr sz="660" b="1">
                          <a:solidFill>
                            <a:srgbClr val="FFFFFF"/>
                          </a:solidFill>
                          <a:latin typeface="Open Sans"/>
                        </a:defRPr>
                      </a:pPr>
                      <a:r>
                        <a:t>Risk</a:t>
                      </a:r>
                    </a:p>
                  </a:txBody>
                  <a:tcPr marL="54864" marR="54864" marT="18288" marB="18288" anchor="ctr">
                    <a:solidFill>
                      <a:srgbClr val="C8102E"/>
                    </a:solidFill>
                  </a:tcPr>
                </a:tc>
                <a:tc>
                  <a:txBody>
                    <a:bodyPr/>
                    <a:lstStyle/>
                    <a:p>
                      <a:pPr algn="l">
                        <a:defRPr sz="660" b="1">
                          <a:solidFill>
                            <a:srgbClr val="FFFFFF"/>
                          </a:solidFill>
                          <a:latin typeface="Open Sans"/>
                        </a:defRPr>
                      </a:pPr>
                      <a:r>
                        <a:t>Current State</a:t>
                      </a:r>
                    </a:p>
                  </a:txBody>
                  <a:tcPr marL="54864" marR="54864" marT="18288" marB="18288" anchor="ctr">
                    <a:solidFill>
                      <a:srgbClr val="C8102E"/>
                    </a:solidFill>
                  </a:tcPr>
                </a:tc>
                <a:tc>
                  <a:txBody>
                    <a:bodyPr/>
                    <a:lstStyle/>
                    <a:p>
                      <a:pPr algn="r">
                        <a:defRPr sz="660" b="1">
                          <a:solidFill>
                            <a:srgbClr val="FFFFFF"/>
                          </a:solidFill>
                          <a:latin typeface="Open Sans"/>
                        </a:defRPr>
                      </a:pPr>
                      <a:r>
                        <a:t>Mitigation</a:t>
                      </a:r>
                    </a:p>
                  </a:txBody>
                  <a:tcPr marL="54864" marR="54864" marT="18288" marB="18288" anchor="ctr">
                    <a:solidFill>
                      <a:srgbClr val="C8102E"/>
                    </a:solidFill>
                  </a:tcPr>
                </a:tc>
              </a:tr>
              <a:tr h="320040">
                <a:tc>
                  <a:txBody>
                    <a:bodyPr/>
                    <a:lstStyle/>
                    <a:p>
                      <a:pPr algn="l">
                        <a:defRPr sz="680" b="0">
                          <a:solidFill>
                            <a:srgbClr val="4A4D55"/>
                          </a:solidFill>
                          <a:latin typeface="Open Sans"/>
                        </a:defRPr>
                      </a:pPr>
                      <a:r>
                        <a:t>PVC proxy quality</a:t>
                      </a:r>
                    </a:p>
                  </a:txBody>
                  <a:tcPr marL="54864" marR="54864" marT="13716" marB="13716" anchor="ctr">
                    <a:solidFill>
                      <a:srgbClr val="FFFFFF"/>
                    </a:solidFill>
                  </a:tcPr>
                </a:tc>
                <a:tc>
                  <a:txBody>
                    <a:bodyPr/>
                    <a:lstStyle/>
                    <a:p>
                      <a:pPr algn="l">
                        <a:defRPr sz="680" b="0">
                          <a:solidFill>
                            <a:srgbClr val="4A4D55"/>
                          </a:solidFill>
                          <a:latin typeface="Open Sans"/>
                        </a:defRPr>
                      </a:pPr>
                      <a:r>
                        <a:t>Real US PPI; no free Asian spot</a:t>
                      </a:r>
                    </a:p>
                  </a:txBody>
                  <a:tcPr marL="54864" marR="54864" marT="13716" marB="13716" anchor="ctr">
                    <a:solidFill>
                      <a:srgbClr val="FFFFFF"/>
                    </a:solidFill>
                  </a:tcPr>
                </a:tc>
                <a:tc>
                  <a:txBody>
                    <a:bodyPr/>
                    <a:lstStyle/>
                    <a:p>
                      <a:pPr algn="r">
                        <a:defRPr sz="680" b="0">
                          <a:solidFill>
                            <a:srgbClr val="4A4D55"/>
                          </a:solidFill>
                          <a:latin typeface="Open Sans"/>
                        </a:defRPr>
                      </a:pPr>
                      <a:r>
                        <a:t>Licensed Asian feed; overlay fitted on ACG POs</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Band under-coverage</a:t>
                      </a:r>
                    </a:p>
                  </a:txBody>
                  <a:tcPr marL="54864" marR="54864" marT="13716" marB="13716" anchor="ctr">
                    <a:solidFill>
                      <a:srgbClr val="FFFFFF"/>
                    </a:solidFill>
                  </a:tcPr>
                </a:tc>
                <a:tc>
                  <a:txBody>
                    <a:bodyPr/>
                    <a:lstStyle/>
                    <a:p>
                      <a:pPr algn="l">
                        <a:defRPr sz="680" b="0">
                          <a:solidFill>
                            <a:srgbClr val="4A4D55"/>
                          </a:solidFill>
                          <a:latin typeface="Open Sans"/>
                        </a:defRPr>
                      </a:pPr>
                      <a:r>
                        <a:t>66–78% vs 75–85% gate</a:t>
                      </a:r>
                    </a:p>
                  </a:txBody>
                  <a:tcPr marL="54864" marR="54864" marT="13716" marB="13716" anchor="ctr">
                    <a:solidFill>
                      <a:srgbClr val="FFFFFF"/>
                    </a:solidFill>
                  </a:tcPr>
                </a:tc>
                <a:tc>
                  <a:txBody>
                    <a:bodyPr/>
                    <a:lstStyle/>
                    <a:p>
                      <a:pPr algn="r">
                        <a:defRPr sz="680" b="0">
                          <a:solidFill>
                            <a:srgbClr val="4A4D55"/>
                          </a:solidFill>
                          <a:latin typeface="Open Sans"/>
                        </a:defRPr>
                      </a:pPr>
                      <a:r>
                        <a:t>Regime-aware conformal; widen bands in shocks</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Stale public data</a:t>
                      </a:r>
                    </a:p>
                  </a:txBody>
                  <a:tcPr marL="54864" marR="54864" marT="13716" marB="13716" anchor="ctr">
                    <a:solidFill>
                      <a:srgbClr val="FFFFFF"/>
                    </a:solidFill>
                  </a:tcPr>
                </a:tc>
                <a:tc>
                  <a:txBody>
                    <a:bodyPr/>
                    <a:lstStyle/>
                    <a:p>
                      <a:pPr algn="l">
                        <a:defRPr sz="680" b="0">
                          <a:solidFill>
                            <a:srgbClr val="4A4D55"/>
                          </a:solidFill>
                          <a:latin typeface="Open Sans"/>
                        </a:defRPr>
                      </a:pPr>
                      <a:r>
                        <a:t>Pink Sheet file ends Dec 2024</a:t>
                      </a:r>
                    </a:p>
                  </a:txBody>
                  <a:tcPr marL="54864" marR="54864" marT="13716" marB="13716" anchor="ctr">
                    <a:solidFill>
                      <a:srgbClr val="FFFFFF"/>
                    </a:solidFill>
                  </a:tcPr>
                </a:tc>
                <a:tc>
                  <a:txBody>
                    <a:bodyPr/>
                    <a:lstStyle/>
                    <a:p>
                      <a:pPr algn="r">
                        <a:defRPr sz="680" b="0">
                          <a:solidFill>
                            <a:srgbClr val="4A4D55"/>
                          </a:solidFill>
                          <a:latin typeface="Open Sans"/>
                        </a:defRPr>
                      </a:pPr>
                      <a:r>
                        <a:t>Monthly refresh job; stale-input warnings live</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Regime breaks</a:t>
                      </a:r>
                    </a:p>
                  </a:txBody>
                  <a:tcPr marL="54864" marR="54864" marT="13716" marB="13716" anchor="ctr">
                    <a:solidFill>
                      <a:srgbClr val="FFFFFF"/>
                    </a:solidFill>
                  </a:tcPr>
                </a:tc>
                <a:tc>
                  <a:txBody>
                    <a:bodyPr/>
                    <a:lstStyle/>
                    <a:p>
                      <a:pPr algn="l">
                        <a:defRPr sz="680" b="0">
                          <a:solidFill>
                            <a:srgbClr val="4A4D55"/>
                          </a:solidFill>
                          <a:latin typeface="Open Sans"/>
                        </a:defRPr>
                      </a:pPr>
                      <a:r>
                        <a:t>Coverage 42–67% in shocks</a:t>
                      </a:r>
                    </a:p>
                  </a:txBody>
                  <a:tcPr marL="54864" marR="54864" marT="13716" marB="13716" anchor="ctr">
                    <a:solidFill>
                      <a:srgbClr val="FFFFFF"/>
                    </a:solidFill>
                  </a:tcPr>
                </a:tc>
                <a:tc>
                  <a:txBody>
                    <a:bodyPr/>
                    <a:lstStyle/>
                    <a:p>
                      <a:pPr algn="r">
                        <a:defRPr sz="680" b="0">
                          <a:solidFill>
                            <a:srgbClr val="4A4D55"/>
                          </a:solidFill>
                          <a:latin typeface="Open Sans"/>
                        </a:defRPr>
                      </a:pPr>
                      <a:r>
                        <a:t>Kill-switch forces BUY NORMAL (capital preservation)</a:t>
                      </a:r>
                    </a:p>
                  </a:txBody>
                  <a:tcPr marL="54864" marR="54864" marT="13716" marB="13716" anchor="ctr">
                    <a:solidFill>
                      <a:srgbClr val="FFFFFF"/>
                    </a:solidFill>
                  </a:tcPr>
                </a:tc>
              </a:tr>
            </a:tbl>
          </a:graphicData>
        </a:graphic>
      </p:graphicFrame>
      <p:sp>
        <p:nvSpPr>
          <p:cNvPr id="28" name="TextBox 27"/>
          <p:cNvSpPr txBox="1"/>
          <p:nvPr/>
        </p:nvSpPr>
        <p:spPr>
          <a:xfrm>
            <a:off x="6263640" y="37033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Post-pilot scalability roadmap</a:t>
            </a:r>
          </a:p>
        </p:txBody>
      </p:sp>
      <p:sp>
        <p:nvSpPr>
          <p:cNvPr id="29" name="Rectangle 28"/>
          <p:cNvSpPr/>
          <p:nvPr/>
        </p:nvSpPr>
        <p:spPr>
          <a:xfrm>
            <a:off x="6263640" y="3977639"/>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82512" y="3995927"/>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5–6</a:t>
            </a:r>
          </a:p>
        </p:txBody>
      </p:sp>
      <p:sp>
        <p:nvSpPr>
          <p:cNvPr id="31" name="TextBox 30"/>
          <p:cNvSpPr txBox="1"/>
          <p:nvPr/>
        </p:nvSpPr>
        <p:spPr>
          <a:xfrm>
            <a:off x="7406640" y="3995927"/>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Futures curve and licensed PVC feed</a:t>
            </a:r>
          </a:p>
        </p:txBody>
      </p:sp>
      <p:sp>
        <p:nvSpPr>
          <p:cNvPr id="32" name="TextBox 31"/>
          <p:cNvSpPr txBox="1"/>
          <p:nvPr/>
        </p:nvSpPr>
        <p:spPr>
          <a:xfrm>
            <a:off x="7406640" y="4178807"/>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Add LME/SHFE futures as baseline and feature; licensed Asian PVC price.</a:t>
            </a:r>
          </a:p>
        </p:txBody>
      </p:sp>
      <p:sp>
        <p:nvSpPr>
          <p:cNvPr id="33" name="Rectangle 32"/>
          <p:cNvSpPr/>
          <p:nvPr/>
        </p:nvSpPr>
        <p:spPr>
          <a:xfrm>
            <a:off x="6263640" y="4453127"/>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2512" y="4471415"/>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7–9</a:t>
            </a:r>
          </a:p>
        </p:txBody>
      </p:sp>
      <p:sp>
        <p:nvSpPr>
          <p:cNvPr id="35" name="TextBox 34"/>
          <p:cNvSpPr txBox="1"/>
          <p:nvPr/>
        </p:nvSpPr>
        <p:spPr>
          <a:xfrm>
            <a:off x="7406640" y="4471415"/>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ERP Requisition Integration</a:t>
            </a:r>
          </a:p>
        </p:txBody>
      </p:sp>
      <p:sp>
        <p:nvSpPr>
          <p:cNvPr id="36" name="TextBox 35"/>
          <p:cNvSpPr txBox="1"/>
          <p:nvPr/>
        </p:nvSpPr>
        <p:spPr>
          <a:xfrm>
            <a:off x="7406640" y="4654295"/>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Direct API hook into SAP/Oracle purchase requisition creation.</a:t>
            </a:r>
          </a:p>
        </p:txBody>
      </p:sp>
      <p:sp>
        <p:nvSpPr>
          <p:cNvPr id="37" name="Rectangle 36"/>
          <p:cNvSpPr/>
          <p:nvPr/>
        </p:nvSpPr>
        <p:spPr>
          <a:xfrm>
            <a:off x="6263640" y="4928616"/>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82512" y="4946903"/>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10+</a:t>
            </a:r>
          </a:p>
        </p:txBody>
      </p:sp>
      <p:sp>
        <p:nvSpPr>
          <p:cNvPr id="39" name="TextBox 38"/>
          <p:cNvSpPr txBox="1"/>
          <p:nvPr/>
        </p:nvSpPr>
        <p:spPr>
          <a:xfrm>
            <a:off x="7406640" y="4946903"/>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Expand Packaging Materials</a:t>
            </a:r>
          </a:p>
        </p:txBody>
      </p:sp>
      <p:sp>
        <p:nvSpPr>
          <p:cNvPr id="40" name="TextBox 39"/>
          <p:cNvSpPr txBox="1"/>
          <p:nvPr/>
        </p:nvSpPr>
        <p:spPr>
          <a:xfrm>
            <a:off x="7406640" y="5129783"/>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Extend pipeline to cold-form laminates, PVDC, and auxiliary foils.</a:t>
            </a:r>
          </a:p>
        </p:txBody>
      </p:sp>
      <p:cxnSp>
        <p:nvCxnSpPr>
          <p:cNvPr id="41" name="Connector 40"/>
          <p:cNvCxnSpPr/>
          <p:nvPr/>
        </p:nvCxnSpPr>
        <p:spPr>
          <a:xfrm>
            <a:off x="502920" y="55321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5632704"/>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leadership should take away</a:t>
            </a:r>
          </a:p>
        </p:txBody>
      </p:sp>
      <p:sp>
        <p:nvSpPr>
          <p:cNvPr id="43" name="TextBox 42"/>
          <p:cNvSpPr txBox="1"/>
          <p:nvPr/>
        </p:nvSpPr>
        <p:spPr>
          <a:xfrm>
            <a:off x="502920"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1. Proven where it matters</a:t>
            </a:r>
          </a:p>
        </p:txBody>
      </p:sp>
      <p:sp>
        <p:nvSpPr>
          <p:cNvPr id="44" name="TextBox 43"/>
          <p:cNvSpPr txBox="1"/>
          <p:nvPr/>
        </p:nvSpPr>
        <p:spPr>
          <a:xfrm>
            <a:off x="502920"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PVC timing beats random over 78 months; aluminium is reported honestly as near-efficient.</a:t>
            </a:r>
          </a:p>
        </p:txBody>
      </p:sp>
      <p:sp>
        <p:nvSpPr>
          <p:cNvPr id="45" name="TextBox 44"/>
          <p:cNvSpPr txBox="1"/>
          <p:nvPr/>
        </p:nvSpPr>
        <p:spPr>
          <a:xfrm>
            <a:off x="3364991"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2. Landed cost explained</a:t>
            </a:r>
          </a:p>
        </p:txBody>
      </p:sp>
      <p:sp>
        <p:nvSpPr>
          <p:cNvPr id="46" name="TextBox 45"/>
          <p:cNvSpPr txBox="1"/>
          <p:nvPr/>
        </p:nvSpPr>
        <p:spPr>
          <a:xfrm>
            <a:off x="3364991"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Index forecast plus calculated duty, FX, freight and premiums, checked against invoices.</a:t>
            </a:r>
          </a:p>
        </p:txBody>
      </p:sp>
      <p:sp>
        <p:nvSpPr>
          <p:cNvPr id="47" name="TextBox 46"/>
          <p:cNvSpPr txBox="1"/>
          <p:nvPr/>
        </p:nvSpPr>
        <p:spPr>
          <a:xfrm>
            <a:off x="6227064"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3. Low risk to try</a:t>
            </a:r>
          </a:p>
        </p:txBody>
      </p:sp>
      <p:sp>
        <p:nvSpPr>
          <p:cNvPr id="48" name="TextBox 47"/>
          <p:cNvSpPr txBox="1"/>
          <p:nvPr/>
        </p:nvSpPr>
        <p:spPr>
          <a:xfrm>
            <a:off x="6227064"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Zero capex, buyers keep deciding, and automatic stop rules end it at no cost.</a:t>
            </a:r>
          </a:p>
        </p:txBody>
      </p:sp>
      <p:sp>
        <p:nvSpPr>
          <p:cNvPr id="49" name="TextBox 48"/>
          <p:cNvSpPr txBox="1"/>
          <p:nvPr/>
        </p:nvSpPr>
        <p:spPr>
          <a:xfrm>
            <a:off x="9089136"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4. One decision needed</a:t>
            </a:r>
          </a:p>
        </p:txBody>
      </p:sp>
      <p:sp>
        <p:nvSpPr>
          <p:cNvPr id="50" name="TextBox 49"/>
          <p:cNvSpPr txBox="1"/>
          <p:nvPr/>
        </p:nvSpPr>
        <p:spPr>
          <a:xfrm>
            <a:off x="9089136"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Approve the shadow pilot from November 2026. Details on the next slide.</a:t>
            </a:r>
          </a:p>
        </p:txBody>
      </p:sp>
      <p:sp>
        <p:nvSpPr>
          <p:cNvPr id="51" name="TextBox 50"/>
          <p:cNvSpPr txBox="1"/>
          <p:nvPr/>
        </p:nvSpPr>
        <p:spPr>
          <a:xfrm>
            <a:off x="502920" y="660196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DGFT Notification 25/2026-27. [2] Customs (ADD) extension of foil duty to 15 Dec 2026. [3] DGTR final findings, S-PVC (Aug 2025). [4] DGTR CVD initiation, S-PVC (Mar 2026). [5] Audit trail: CHANGES.md in the repository.</a:t>
            </a:r>
          </a:p>
        </p:txBody>
      </p:sp>
      <p:sp>
        <p:nvSpPr>
          <p:cNvPr id="52" name="TextBox 51"/>
          <p:cNvSpPr txBox="1"/>
          <p:nvPr/>
        </p:nvSpPr>
        <p:spPr>
          <a:xfrm>
            <a:off x="10957255" y="660196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13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Open Sa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Open Sa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Open Sans"/>
              </a:defRPr>
            </a:pPr>
            <a:r>
              <a:t>Our ask</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Open Sans"/>
              </a:defRPr>
            </a:pPr>
            <a:r>
              <a:t>Approve a 90-day, zero-capex</a:t>
            </a:r>
          </a:p>
          <a:p>
            <a:pPr algn="l">
              <a:lnSpc>
                <a:spcPct val="130000"/>
              </a:lnSpc>
              <a:defRPr sz="1350" b="0" i="0">
                <a:solidFill>
                  <a:srgbClr val="FBDDE2"/>
                </a:solidFill>
                <a:latin typeface="Open Sans"/>
              </a:defRPr>
            </a:pPr>
            <a:r>
              <a:t>shadow pilot from November 2026</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Open Sans"/>
              </a:defRPr>
            </a:pPr>
            <a:r>
              <a:t>Forecast the index. Calculate the rest.</a:t>
            </a:r>
          </a:p>
          <a:p>
            <a:pPr algn="l">
              <a:lnSpc>
                <a:spcPct val="130000"/>
              </a:lnSpc>
              <a:defRPr sz="1050" b="1" i="0">
                <a:solidFill>
                  <a:srgbClr val="FFFFFF"/>
                </a:solidFill>
                <a:latin typeface="Open Sans"/>
              </a:defRPr>
            </a:pPr>
            <a:r>
              <a:t>Let measured results, not judgement,</a:t>
            </a:r>
          </a:p>
          <a:p>
            <a:pPr algn="l">
              <a:lnSpc>
                <a:spcPct val="130000"/>
              </a:lnSpc>
              <a:defRPr sz="1050" b="1" i="0">
                <a:solidFill>
                  <a:srgbClr val="FFFFFF"/>
                </a:solidFill>
                <a:latin typeface="Open Sans"/>
              </a:defRPr>
            </a:pPr>
            <a:r>
              <a:t>decide when to buy ahead.</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Open Sans"/>
              </a:defRPr>
            </a:pPr>
            <a:r>
              <a:t>Finals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Open Sans"/>
              </a:defRPr>
            </a:pPr>
            <a:r>
              <a:t>Decision requested today</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H E   T H R E E   T H I N G S   W E   N E E D</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Open Sans"/>
              </a:defRPr>
            </a:pPr>
            <a:r>
              <a:t>One sponsor, one buyer per material, and purchase-order data. No capex, no licences, no systems change. A go / no-go review in February 2027 against gates we have set in advance.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PO data</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12–24 months of aluminium foil</a:t>
            </a:r>
          </a:p>
          <a:p>
            <a:pPr algn="l">
              <a:lnSpc>
                <a:spcPct val="122000"/>
              </a:lnSpc>
              <a:defRPr sz="760" b="0" i="0">
                <a:solidFill>
                  <a:srgbClr val="7C8089"/>
                </a:solidFill>
                <a:latin typeface="Open Sans"/>
              </a:defRPr>
            </a:pPr>
            <a:r>
              <a:t>and PVC resin purchase orders</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~25 hours</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of ACG time in total: a sponsor</a:t>
            </a:r>
          </a:p>
          <a:p>
            <a:pPr algn="l">
              <a:lnSpc>
                <a:spcPct val="122000"/>
              </a:lnSpc>
              <a:defRPr sz="760" b="0" i="0">
                <a:solidFill>
                  <a:srgbClr val="7C8089"/>
                </a:solidFill>
                <a:latin typeface="Open Sans"/>
              </a:defRPr>
            </a:pPr>
            <a:r>
              <a:t>and one buyer per material</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Go</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approval to start the shadow</a:t>
            </a:r>
          </a:p>
          <a:p>
            <a:pPr algn="l">
              <a:lnSpc>
                <a:spcPct val="122000"/>
              </a:lnSpc>
              <a:defRPr sz="760" b="0" i="0">
                <a:solidFill>
                  <a:srgbClr val="7C8089"/>
                </a:solidFill>
                <a:latin typeface="Open Sans"/>
              </a:defRPr>
            </a:pPr>
            <a:r>
              <a:t>pilot in November 2026</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W H A T   A C G   G E T S   B Y   F E B R U A R Y   2 0 2 7</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Open Sans"/>
              </a:defRPr>
            </a:pPr>
            <a:r>
              <a:t>A measured answer to three questions. Does the forecast beat a no-change baseline on ACG's own buys? Does the landed-cost model match ACG invoices through two live policy decisions? Do buyers trust and use the signal? If yes, Smart Buy runs monthly and connects to the ERP. If not, the stop rules end it at no cost.</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Open Sans"/>
                        </a:defRPr>
                      </a:pPr>
                      <a:r>
                        <a:t>Team</a:t>
                      </a:r>
                    </a:p>
                  </a:txBody>
                  <a:tcPr marL="54864" marR="54864" marT="18288" marB="18288" anchor="ctr">
                    <a:solidFill>
                      <a:srgbClr val="C8102E"/>
                    </a:solidFill>
                  </a:tcPr>
                </a:tc>
                <a:tc>
                  <a:txBody>
                    <a:bodyPr/>
                    <a:lstStyle/>
                    <a:p>
                      <a:pPr algn="l">
                        <a:defRPr sz="760" b="1">
                          <a:solidFill>
                            <a:srgbClr val="FFFFFF"/>
                          </a:solidFill>
                          <a:latin typeface="Open Sa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Open Sans"/>
                        </a:defRPr>
                      </a:pPr>
                      <a:r>
                        <a:t>Members</a:t>
                      </a:r>
                    </a:p>
                  </a:txBody>
                  <a:tcPr marL="54864" marR="54864" marT="13716" marB="13716" anchor="ctr">
                    <a:solidFill>
                      <a:srgbClr val="FFFFFF"/>
                    </a:solidFill>
                  </a:tcPr>
                </a:tc>
                <a:tc>
                  <a:txBody>
                    <a:bodyPr/>
                    <a:lstStyle/>
                    <a:p>
                      <a:pPr algn="l">
                        <a:defRPr sz="800" b="0">
                          <a:solidFill>
                            <a:srgbClr val="4A4D55"/>
                          </a:solidFill>
                          <a:latin typeface="Open Sa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Institute</a:t>
                      </a:r>
                    </a:p>
                  </a:txBody>
                  <a:tcPr marL="54864" marR="54864" marT="13716" marB="13716" anchor="ctr">
                    <a:solidFill>
                      <a:srgbClr val="FFFFFF"/>
                    </a:solidFill>
                  </a:tcPr>
                </a:tc>
                <a:tc>
                  <a:txBody>
                    <a:bodyPr/>
                    <a:lstStyle/>
                    <a:p>
                      <a:pPr algn="l">
                        <a:defRPr sz="800" b="0">
                          <a:solidFill>
                            <a:srgbClr val="4A4D55"/>
                          </a:solidFill>
                          <a:latin typeface="Open Sa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Contact</a:t>
                      </a:r>
                    </a:p>
                  </a:txBody>
                  <a:tcPr marL="54864" marR="54864" marT="13716" marB="13716" anchor="ctr">
                    <a:solidFill>
                      <a:srgbClr val="FFFFFF"/>
                    </a:solidFill>
                  </a:tcPr>
                </a:tc>
                <a:tc>
                  <a:txBody>
                    <a:bodyPr/>
                    <a:lstStyle/>
                    <a:p>
                      <a:pPr algn="l">
                        <a:defRPr sz="800" b="0">
                          <a:solidFill>
                            <a:srgbClr val="4A4D55"/>
                          </a:solidFill>
                          <a:latin typeface="Open Sa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Prototype</a:t>
                      </a:r>
                    </a:p>
                  </a:txBody>
                  <a:tcPr marL="54864" marR="54864" marT="13716" marB="13716" anchor="ctr">
                    <a:solidFill>
                      <a:srgbClr val="FFFFFF"/>
                    </a:solidFill>
                  </a:tcPr>
                </a:tc>
                <a:tc>
                  <a:txBody>
                    <a:bodyPr/>
                    <a:lstStyle/>
                    <a:p>
                      <a:pPr algn="l">
                        <a:defRPr sz="800" b="0">
                          <a:solidFill>
                            <a:srgbClr val="4A4D55"/>
                          </a:solidFill>
                          <a:latin typeface="Open Sans"/>
                        </a:defRPr>
                      </a:pPr>
                      <a:r>
                        <a:t>Live dashboard, 14-slide deck + appendix, reproducible pipeline with leakage tests</a:t>
                      </a:r>
                    </a:p>
                  </a:txBody>
                  <a:tcPr marL="54864" marR="54864" marT="13716" marB="13716" anchor="ctr">
                    <a:solidFill>
                      <a:srgbClr val="FFFFFF"/>
                    </a:solidFill>
                  </a:tcPr>
                </a:tc>
              </a:tr>
            </a:tbl>
          </a:graphicData>
        </a:graphic>
      </p:graphicFrame>
      <p:sp>
        <p:nvSpPr>
          <p:cNvPr id="28" name="TextBox 27"/>
          <p:cNvSpPr txBox="1"/>
          <p:nvPr/>
        </p:nvSpPr>
        <p:spPr>
          <a:xfrm>
            <a:off x="5440680" y="6565392"/>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Open Sans"/>
              </a:defRPr>
            </a:pPr>
            <a:r>
              <a:t>Pilot design: slide 12. Landed-cost model: slide 11. Backup: appendix A1–A3. Q&amp;A welcome.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A1 Value chain</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A2 Data &amp; leakage</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A3 Bands</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A 1  ·  A P P E N D I X  ·  V A L U E   C H A I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Both prices sit at the end of a physical chain, and every link in that chain</a:t>
            </a:r>
          </a:p>
          <a:p>
            <a:pPr algn="l">
              <a:lnSpc>
                <a:spcPct val="112000"/>
              </a:lnSpc>
              <a:defRPr sz="1700" b="1" i="0">
                <a:solidFill>
                  <a:srgbClr val="16181D"/>
                </a:solidFill>
                <a:latin typeface="Open Sans"/>
              </a:defRPr>
            </a:pPr>
            <a:r>
              <a:t>is tracked from public data</a:t>
            </a:r>
          </a:p>
        </p:txBody>
      </p:sp>
      <p:sp>
        <p:nvSpPr>
          <p:cNvPr id="14" name="TextBox 13"/>
          <p:cNvSpPr txBox="1"/>
          <p:nvPr/>
        </p:nvSpPr>
        <p:spPr>
          <a:xfrm>
            <a:off x="502920" y="178308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a:t>
            </a:r>
          </a:p>
        </p:txBody>
      </p:sp>
      <p:sp>
        <p:nvSpPr>
          <p:cNvPr id="15" name="Rectangle 14"/>
          <p:cNvSpPr/>
          <p:nvPr/>
        </p:nvSpPr>
        <p:spPr>
          <a:xfrm>
            <a:off x="50292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Bauxite</a:t>
            </a:r>
          </a:p>
        </p:txBody>
      </p:sp>
      <p:sp>
        <p:nvSpPr>
          <p:cNvPr id="17" name="TextBox 16"/>
          <p:cNvSpPr txBox="1"/>
          <p:nvPr/>
        </p:nvSpPr>
        <p:spPr>
          <a:xfrm>
            <a:off x="53949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Guinea and Australia</a:t>
            </a:r>
          </a:p>
          <a:p>
            <a:pPr algn="ctr">
              <a:lnSpc>
                <a:spcPct val="120000"/>
              </a:lnSpc>
              <a:defRPr sz="660" b="0" i="0">
                <a:solidFill>
                  <a:srgbClr val="7C8089"/>
                </a:solidFill>
                <a:latin typeface="Open Sans"/>
              </a:defRPr>
            </a:pPr>
            <a:r>
              <a:t>supply, export policy</a:t>
            </a:r>
          </a:p>
        </p:txBody>
      </p:sp>
      <p:sp>
        <p:nvSpPr>
          <p:cNvPr id="18" name="TextBox 17"/>
          <p:cNvSpPr txBox="1"/>
          <p:nvPr/>
        </p:nvSpPr>
        <p:spPr>
          <a:xfrm>
            <a:off x="1965960"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19" name="Rectangle 18"/>
          <p:cNvSpPr/>
          <p:nvPr/>
        </p:nvSpPr>
        <p:spPr>
          <a:xfrm>
            <a:off x="2130552"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12848"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Alumina</a:t>
            </a:r>
          </a:p>
        </p:txBody>
      </p:sp>
      <p:sp>
        <p:nvSpPr>
          <p:cNvPr id="21" name="TextBox 20"/>
          <p:cNvSpPr txBox="1"/>
          <p:nvPr/>
        </p:nvSpPr>
        <p:spPr>
          <a:xfrm>
            <a:off x="2167128"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4 t bauxite →</a:t>
            </a:r>
          </a:p>
          <a:p>
            <a:pPr algn="ctr">
              <a:lnSpc>
                <a:spcPct val="120000"/>
              </a:lnSpc>
              <a:defRPr sz="660" b="0" i="0">
                <a:solidFill>
                  <a:srgbClr val="7C8089"/>
                </a:solidFill>
                <a:latin typeface="Open Sans"/>
              </a:defRPr>
            </a:pPr>
            <a:r>
              <a:t>2 t alumina → 1 t metal</a:t>
            </a:r>
          </a:p>
        </p:txBody>
      </p:sp>
      <p:sp>
        <p:nvSpPr>
          <p:cNvPr id="22" name="TextBox 21"/>
          <p:cNvSpPr txBox="1"/>
          <p:nvPr/>
        </p:nvSpPr>
        <p:spPr>
          <a:xfrm>
            <a:off x="3593592"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23" name="Rectangle 22"/>
          <p:cNvSpPr/>
          <p:nvPr/>
        </p:nvSpPr>
        <p:spPr>
          <a:xfrm>
            <a:off x="3758184"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40480"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Smelter energy</a:t>
            </a:r>
          </a:p>
        </p:txBody>
      </p:sp>
      <p:sp>
        <p:nvSpPr>
          <p:cNvPr id="25" name="TextBox 24"/>
          <p:cNvSpPr txBox="1"/>
          <p:nvPr/>
        </p:nvSpPr>
        <p:spPr>
          <a:xfrm>
            <a:off x="3794760"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coal, gas and power:</a:t>
            </a:r>
          </a:p>
          <a:p>
            <a:pPr algn="ctr">
              <a:lnSpc>
                <a:spcPct val="120000"/>
              </a:lnSpc>
              <a:defRPr sz="660" b="0" i="0">
                <a:solidFill>
                  <a:srgbClr val="7C8089"/>
                </a:solidFill>
                <a:latin typeface="Open Sans"/>
              </a:defRPr>
            </a:pPr>
            <a:r>
              <a:t>the largest cash cost</a:t>
            </a:r>
          </a:p>
        </p:txBody>
      </p:sp>
      <p:sp>
        <p:nvSpPr>
          <p:cNvPr id="26" name="TextBox 25"/>
          <p:cNvSpPr txBox="1"/>
          <p:nvPr/>
        </p:nvSpPr>
        <p:spPr>
          <a:xfrm>
            <a:off x="5221224"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27" name="Rectangle 26"/>
          <p:cNvSpPr/>
          <p:nvPr/>
        </p:nvSpPr>
        <p:spPr>
          <a:xfrm>
            <a:off x="5385816" y="2075688"/>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68112" y="216712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Open Sans"/>
              </a:defRPr>
            </a:pPr>
            <a:r>
              <a:t>LME price</a:t>
            </a:r>
          </a:p>
          <a:p>
            <a:pPr algn="ctr">
              <a:lnSpc>
                <a:spcPct val="115000"/>
              </a:lnSpc>
              <a:defRPr sz="819" b="1" i="0">
                <a:solidFill>
                  <a:srgbClr val="FFFFFF"/>
                </a:solidFill>
                <a:latin typeface="Open Sans"/>
              </a:defRPr>
            </a:pPr>
            <a:r>
              <a:t>and stocks</a:t>
            </a:r>
          </a:p>
        </p:txBody>
      </p:sp>
      <p:sp>
        <p:nvSpPr>
          <p:cNvPr id="29" name="TextBox 28"/>
          <p:cNvSpPr txBox="1"/>
          <p:nvPr/>
        </p:nvSpPr>
        <p:spPr>
          <a:xfrm>
            <a:off x="5422392"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financialised; stocks</a:t>
            </a:r>
          </a:p>
          <a:p>
            <a:pPr algn="ctr">
              <a:lnSpc>
                <a:spcPct val="120000"/>
              </a:lnSpc>
              <a:defRPr sz="660" b="0" i="0">
                <a:solidFill>
                  <a:srgbClr val="7C8089"/>
                </a:solidFill>
                <a:latin typeface="Open Sans"/>
              </a:defRPr>
            </a:pPr>
            <a:r>
              <a:t>signal tightness</a:t>
            </a:r>
          </a:p>
        </p:txBody>
      </p:sp>
      <p:sp>
        <p:nvSpPr>
          <p:cNvPr id="30" name="TextBox 29"/>
          <p:cNvSpPr txBox="1"/>
          <p:nvPr/>
        </p:nvSpPr>
        <p:spPr>
          <a:xfrm>
            <a:off x="6848856"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31" name="Rectangle 30"/>
          <p:cNvSpPr/>
          <p:nvPr/>
        </p:nvSpPr>
        <p:spPr>
          <a:xfrm>
            <a:off x="7013448"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95744"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Premium, FX,</a:t>
            </a:r>
          </a:p>
          <a:p>
            <a:pPr algn="ctr">
              <a:lnSpc>
                <a:spcPct val="115000"/>
              </a:lnSpc>
              <a:defRPr sz="819" b="1" i="0">
                <a:solidFill>
                  <a:srgbClr val="16181D"/>
                </a:solidFill>
                <a:latin typeface="Open Sans"/>
              </a:defRPr>
            </a:pPr>
            <a:r>
              <a:t>duty, freight</a:t>
            </a:r>
          </a:p>
        </p:txBody>
      </p:sp>
      <p:sp>
        <p:nvSpPr>
          <p:cNvPr id="33" name="TextBox 32"/>
          <p:cNvSpPr txBox="1"/>
          <p:nvPr/>
        </p:nvSpPr>
        <p:spPr>
          <a:xfrm>
            <a:off x="7050024"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USD/INR, CBIC tariff,</a:t>
            </a:r>
          </a:p>
          <a:p>
            <a:pPr algn="ctr">
              <a:lnSpc>
                <a:spcPct val="120000"/>
              </a:lnSpc>
              <a:defRPr sz="660" b="0" i="0">
                <a:solidFill>
                  <a:srgbClr val="7C8089"/>
                </a:solidFill>
                <a:latin typeface="Open Sans"/>
              </a:defRPr>
            </a:pPr>
            <a:r>
              <a:t>logistics</a:t>
            </a:r>
          </a:p>
        </p:txBody>
      </p:sp>
      <p:sp>
        <p:nvSpPr>
          <p:cNvPr id="34" name="TextBox 33"/>
          <p:cNvSpPr txBox="1"/>
          <p:nvPr/>
        </p:nvSpPr>
        <p:spPr>
          <a:xfrm>
            <a:off x="8476488"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35" name="Rectangle 34"/>
          <p:cNvSpPr/>
          <p:nvPr/>
        </p:nvSpPr>
        <p:spPr>
          <a:xfrm>
            <a:off x="864108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2337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Landed India</a:t>
            </a:r>
          </a:p>
          <a:p>
            <a:pPr algn="ctr">
              <a:lnSpc>
                <a:spcPct val="115000"/>
              </a:lnSpc>
              <a:defRPr sz="819" b="1" i="0">
                <a:solidFill>
                  <a:srgbClr val="16181D"/>
                </a:solidFill>
                <a:latin typeface="Open Sans"/>
              </a:defRPr>
            </a:pPr>
            <a:r>
              <a:t>price</a:t>
            </a:r>
          </a:p>
        </p:txBody>
      </p:sp>
      <p:sp>
        <p:nvSpPr>
          <p:cNvPr id="37" name="TextBox 36"/>
          <p:cNvSpPr txBox="1"/>
          <p:nvPr/>
        </p:nvSpPr>
        <p:spPr>
          <a:xfrm>
            <a:off x="867765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what ACG</a:t>
            </a:r>
          </a:p>
          <a:p>
            <a:pPr algn="ctr">
              <a:lnSpc>
                <a:spcPct val="120000"/>
              </a:lnSpc>
              <a:defRPr sz="660" b="0" i="0">
                <a:solidFill>
                  <a:srgbClr val="7C8089"/>
                </a:solidFill>
                <a:latin typeface="Open Sans"/>
              </a:defRPr>
            </a:pPr>
            <a:r>
              <a:t>actually pays</a:t>
            </a:r>
          </a:p>
        </p:txBody>
      </p:sp>
      <p:sp>
        <p:nvSpPr>
          <p:cNvPr id="38" name="TextBox 37"/>
          <p:cNvSpPr txBox="1"/>
          <p:nvPr/>
        </p:nvSpPr>
        <p:spPr>
          <a:xfrm>
            <a:off x="502920" y="324612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resin</a:t>
            </a:r>
          </a:p>
        </p:txBody>
      </p:sp>
      <p:sp>
        <p:nvSpPr>
          <p:cNvPr id="39" name="Rectangle 38"/>
          <p:cNvSpPr/>
          <p:nvPr/>
        </p:nvSpPr>
        <p:spPr>
          <a:xfrm>
            <a:off x="50292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521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Crude (Brent)</a:t>
            </a:r>
          </a:p>
        </p:txBody>
      </p:sp>
      <p:sp>
        <p:nvSpPr>
          <p:cNvPr id="41" name="TextBox 40"/>
          <p:cNvSpPr txBox="1"/>
          <p:nvPr/>
        </p:nvSpPr>
        <p:spPr>
          <a:xfrm>
            <a:off x="53949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sets the whole</a:t>
            </a:r>
          </a:p>
          <a:p>
            <a:pPr algn="ctr">
              <a:lnSpc>
                <a:spcPct val="120000"/>
              </a:lnSpc>
              <a:defRPr sz="660" b="0" i="0">
                <a:solidFill>
                  <a:srgbClr val="7C8089"/>
                </a:solidFill>
                <a:latin typeface="Open Sans"/>
              </a:defRPr>
            </a:pPr>
            <a:r>
              <a:t>feedstock chain</a:t>
            </a:r>
          </a:p>
        </p:txBody>
      </p:sp>
      <p:sp>
        <p:nvSpPr>
          <p:cNvPr id="42" name="TextBox 41"/>
          <p:cNvSpPr txBox="1"/>
          <p:nvPr/>
        </p:nvSpPr>
        <p:spPr>
          <a:xfrm>
            <a:off x="1965960"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43" name="Rectangle 42"/>
          <p:cNvSpPr/>
          <p:nvPr/>
        </p:nvSpPr>
        <p:spPr>
          <a:xfrm>
            <a:off x="2130552"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212848"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Naphtha</a:t>
            </a:r>
          </a:p>
        </p:txBody>
      </p:sp>
      <p:sp>
        <p:nvSpPr>
          <p:cNvPr id="45" name="TextBox 44"/>
          <p:cNvSpPr txBox="1"/>
          <p:nvPr/>
        </p:nvSpPr>
        <p:spPr>
          <a:xfrm>
            <a:off x="2167128"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Asian cracker</a:t>
            </a:r>
          </a:p>
          <a:p>
            <a:pPr algn="ctr">
              <a:lnSpc>
                <a:spcPct val="120000"/>
              </a:lnSpc>
              <a:defRPr sz="660" b="0" i="0">
                <a:solidFill>
                  <a:srgbClr val="7C8089"/>
                </a:solidFill>
                <a:latin typeface="Open Sans"/>
              </a:defRPr>
            </a:pPr>
            <a:r>
              <a:t>feedstock</a:t>
            </a:r>
          </a:p>
        </p:txBody>
      </p:sp>
      <p:sp>
        <p:nvSpPr>
          <p:cNvPr id="46" name="TextBox 45"/>
          <p:cNvSpPr txBox="1"/>
          <p:nvPr/>
        </p:nvSpPr>
        <p:spPr>
          <a:xfrm>
            <a:off x="3593592"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47" name="Rectangle 46"/>
          <p:cNvSpPr/>
          <p:nvPr/>
        </p:nvSpPr>
        <p:spPr>
          <a:xfrm>
            <a:off x="3758184"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40480"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Ethylene</a:t>
            </a:r>
          </a:p>
        </p:txBody>
      </p:sp>
      <p:sp>
        <p:nvSpPr>
          <p:cNvPr id="49" name="TextBox 48"/>
          <p:cNvSpPr txBox="1"/>
          <p:nvPr/>
        </p:nvSpPr>
        <p:spPr>
          <a:xfrm>
            <a:off x="3794760"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plus chlorine</a:t>
            </a:r>
          </a:p>
          <a:p>
            <a:pPr algn="ctr">
              <a:lnSpc>
                <a:spcPct val="120000"/>
              </a:lnSpc>
              <a:defRPr sz="660" b="0" i="0">
                <a:solidFill>
                  <a:srgbClr val="7C8089"/>
                </a:solidFill>
                <a:latin typeface="Open Sans"/>
              </a:defRPr>
            </a:pPr>
            <a:r>
              <a:t>gives EDC</a:t>
            </a:r>
          </a:p>
        </p:txBody>
      </p:sp>
      <p:sp>
        <p:nvSpPr>
          <p:cNvPr id="50" name="TextBox 49"/>
          <p:cNvSpPr txBox="1"/>
          <p:nvPr/>
        </p:nvSpPr>
        <p:spPr>
          <a:xfrm>
            <a:off x="5221224"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1" name="Rectangle 50"/>
          <p:cNvSpPr/>
          <p:nvPr/>
        </p:nvSpPr>
        <p:spPr>
          <a:xfrm>
            <a:off x="5385816"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68112"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VCM / EDC</a:t>
            </a:r>
          </a:p>
        </p:txBody>
      </p:sp>
      <p:sp>
        <p:nvSpPr>
          <p:cNvPr id="53" name="TextBox 52"/>
          <p:cNvSpPr txBox="1"/>
          <p:nvPr/>
        </p:nvSpPr>
        <p:spPr>
          <a:xfrm>
            <a:off x="5422392"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the direct</a:t>
            </a:r>
          </a:p>
          <a:p>
            <a:pPr algn="ctr">
              <a:lnSpc>
                <a:spcPct val="120000"/>
              </a:lnSpc>
              <a:defRPr sz="660" b="0" i="0">
                <a:solidFill>
                  <a:srgbClr val="7C8089"/>
                </a:solidFill>
                <a:latin typeface="Open Sans"/>
              </a:defRPr>
            </a:pPr>
            <a:r>
              <a:t>monomer input</a:t>
            </a:r>
          </a:p>
        </p:txBody>
      </p:sp>
      <p:sp>
        <p:nvSpPr>
          <p:cNvPr id="54" name="TextBox 53"/>
          <p:cNvSpPr txBox="1"/>
          <p:nvPr/>
        </p:nvSpPr>
        <p:spPr>
          <a:xfrm>
            <a:off x="6848856"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5" name="Rectangle 54"/>
          <p:cNvSpPr/>
          <p:nvPr/>
        </p:nvSpPr>
        <p:spPr>
          <a:xfrm>
            <a:off x="7013448" y="3538727"/>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095744" y="363016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Open Sans"/>
              </a:defRPr>
            </a:pPr>
            <a:r>
              <a:t>Resin price</a:t>
            </a:r>
          </a:p>
          <a:p>
            <a:pPr algn="ctr">
              <a:lnSpc>
                <a:spcPct val="115000"/>
              </a:lnSpc>
              <a:defRPr sz="819" b="1" i="0">
                <a:solidFill>
                  <a:srgbClr val="FFFFFF"/>
                </a:solidFill>
                <a:latin typeface="Open Sans"/>
              </a:defRPr>
            </a:pPr>
            <a:r>
              <a:t>(US PPI proxy)</a:t>
            </a:r>
          </a:p>
        </p:txBody>
      </p:sp>
      <p:sp>
        <p:nvSpPr>
          <p:cNvPr id="57" name="TextBox 56"/>
          <p:cNvSpPr txBox="1"/>
          <p:nvPr/>
        </p:nvSpPr>
        <p:spPr>
          <a:xfrm>
            <a:off x="7050024"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no free Asian spot history;</a:t>
            </a:r>
          </a:p>
          <a:p>
            <a:pPr algn="ctr">
              <a:lnSpc>
                <a:spcPct val="120000"/>
              </a:lnSpc>
              <a:defRPr sz="660" b="0" i="0">
                <a:solidFill>
                  <a:srgbClr val="7C8089"/>
                </a:solidFill>
                <a:latin typeface="Open Sans"/>
              </a:defRPr>
            </a:pPr>
            <a:r>
              <a:t>US index modelled</a:t>
            </a:r>
          </a:p>
        </p:txBody>
      </p:sp>
      <p:sp>
        <p:nvSpPr>
          <p:cNvPr id="58" name="TextBox 57"/>
          <p:cNvSpPr txBox="1"/>
          <p:nvPr/>
        </p:nvSpPr>
        <p:spPr>
          <a:xfrm>
            <a:off x="8476488"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9" name="Rectangle 58"/>
          <p:cNvSpPr/>
          <p:nvPr/>
        </p:nvSpPr>
        <p:spPr>
          <a:xfrm>
            <a:off x="864108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2337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Landed India</a:t>
            </a:r>
          </a:p>
          <a:p>
            <a:pPr algn="ctr">
              <a:lnSpc>
                <a:spcPct val="115000"/>
              </a:lnSpc>
              <a:defRPr sz="819" b="1" i="0">
                <a:solidFill>
                  <a:srgbClr val="16181D"/>
                </a:solidFill>
                <a:latin typeface="Open Sans"/>
              </a:defRPr>
            </a:pPr>
            <a:r>
              <a:t>price</a:t>
            </a:r>
          </a:p>
        </p:txBody>
      </p:sp>
      <p:sp>
        <p:nvSpPr>
          <p:cNvPr id="61" name="TextBox 60"/>
          <p:cNvSpPr txBox="1"/>
          <p:nvPr/>
        </p:nvSpPr>
        <p:spPr>
          <a:xfrm>
            <a:off x="867765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freight, FX,</a:t>
            </a:r>
          </a:p>
          <a:p>
            <a:pPr algn="ctr">
              <a:lnSpc>
                <a:spcPct val="120000"/>
              </a:lnSpc>
              <a:defRPr sz="660" b="0" i="0">
                <a:solidFill>
                  <a:srgbClr val="7C8089"/>
                </a:solidFill>
                <a:latin typeface="Open Sans"/>
              </a:defRPr>
            </a:pPr>
            <a:r>
              <a:t>anti-dumping duty</a:t>
            </a:r>
          </a:p>
        </p:txBody>
      </p:sp>
      <p:cxnSp>
        <p:nvCxnSpPr>
          <p:cNvPr id="62" name="Connector 61"/>
          <p:cNvCxnSpPr/>
          <p:nvPr/>
        </p:nvCxnSpPr>
        <p:spPr>
          <a:xfrm>
            <a:off x="502920" y="4754880"/>
            <a:ext cx="111556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4892040"/>
            <a:ext cx="53035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we decided which indicators to keep</a:t>
            </a:r>
          </a:p>
        </p:txBody>
      </p:sp>
      <p:sp>
        <p:nvSpPr>
          <p:cNvPr id="64" name="TextBox 63"/>
          <p:cNvSpPr txBox="1"/>
          <p:nvPr/>
        </p:nvSpPr>
        <p:spPr>
          <a:xfrm>
            <a:off x="502920" y="51937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5" name="TextBox 64"/>
          <p:cNvSpPr txBox="1"/>
          <p:nvPr/>
        </p:nvSpPr>
        <p:spPr>
          <a:xfrm>
            <a:off x="621792" y="519379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Cross-correlation of log-returns at leads 0–6 months on real series; best lead recorded.</a:t>
            </a:r>
          </a:p>
        </p:txBody>
      </p:sp>
      <p:sp>
        <p:nvSpPr>
          <p:cNvPr id="66" name="TextBox 65"/>
          <p:cNvSpPr txBox="1"/>
          <p:nvPr/>
        </p:nvSpPr>
        <p:spPr>
          <a:xfrm>
            <a:off x="502920" y="5399531"/>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7" name="TextBox 66"/>
          <p:cNvSpPr txBox="1"/>
          <p:nvPr/>
        </p:nvSpPr>
        <p:spPr>
          <a:xfrm>
            <a:off x="621792" y="5399531"/>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ADF stationarity, then Granger at a fixed 3-month lag, FDR-corrected across 24 tests.</a:t>
            </a:r>
          </a:p>
        </p:txBody>
      </p:sp>
      <p:sp>
        <p:nvSpPr>
          <p:cNvPr id="68" name="TextBox 67"/>
          <p:cNvSpPr txBox="1"/>
          <p:nvPr/>
        </p:nvSpPr>
        <p:spPr>
          <a:xfrm>
            <a:off x="502920" y="560527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9" name="TextBox 68"/>
          <p:cNvSpPr txBox="1"/>
          <p:nvPr/>
        </p:nvSpPr>
        <p:spPr>
          <a:xfrm>
            <a:off x="621792" y="560527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Every real driver is offered to the models; ElasticNet keeps 15 inside each fold, and the naïve gate decides what earns weight.</a:t>
            </a:r>
          </a:p>
        </p:txBody>
      </p:sp>
      <p:sp>
        <p:nvSpPr>
          <p:cNvPr id="70" name="TextBox 69"/>
          <p:cNvSpPr txBox="1"/>
          <p:nvPr/>
        </p:nvSpPr>
        <p:spPr>
          <a:xfrm>
            <a:off x="6263640" y="48920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changed against the indicative list</a:t>
            </a:r>
          </a:p>
        </p:txBody>
      </p:sp>
      <p:graphicFrame>
        <p:nvGraphicFramePr>
          <p:cNvPr id="71" name="Table 70"/>
          <p:cNvGraphicFramePr>
            <a:graphicFrameLocks noGrp="1"/>
          </p:cNvGraphicFramePr>
          <p:nvPr/>
        </p:nvGraphicFramePr>
        <p:xfrm>
          <a:off x="6263640" y="5175504"/>
          <a:ext cx="5394960" cy="1097280"/>
        </p:xfrm>
        <a:graphic>
          <a:graphicData uri="http://schemas.openxmlformats.org/drawingml/2006/table">
            <a:tbl>
              <a:tblPr>
                <a:tableStyleId>{5C22544A-7EE6-4342-B048-85BDC9FD1C3A}</a:tableStyleId>
              </a:tblPr>
              <a:tblGrid>
                <a:gridCol w="914400"/>
                <a:gridCol w="4480560"/>
              </a:tblGrid>
              <a:tr h="274320">
                <a:tc>
                  <a:txBody>
                    <a:bodyPr/>
                    <a:lstStyle/>
                    <a:p>
                      <a:pPr algn="l">
                        <a:defRPr sz="680" b="1">
                          <a:solidFill>
                            <a:srgbClr val="FFFFFF"/>
                          </a:solidFill>
                          <a:latin typeface="Open Sans"/>
                        </a:defRPr>
                      </a:pPr>
                      <a:r>
                        <a:t>Change</a:t>
                      </a:r>
                    </a:p>
                  </a:txBody>
                  <a:tcPr marL="54864" marR="54864" marT="18288" marB="18288" anchor="ctr">
                    <a:solidFill>
                      <a:srgbClr val="C8102E"/>
                    </a:solidFill>
                  </a:tcPr>
                </a:tc>
                <a:tc>
                  <a:txBody>
                    <a:bodyPr/>
                    <a:lstStyle/>
                    <a:p>
                      <a:pPr algn="r">
                        <a:defRPr sz="680" b="1">
                          <a:solidFill>
                            <a:srgbClr val="FFFFFF"/>
                          </a:solidFill>
                          <a:latin typeface="Open Sans"/>
                        </a:defRPr>
                      </a:pPr>
                      <a:r>
                        <a:t>Detail</a:t>
                      </a:r>
                    </a:p>
                  </a:txBody>
                  <a:tcPr marL="54864" marR="54864" marT="18288" marB="18288" anchor="ctr">
                    <a:solidFill>
                      <a:srgbClr val="C8102E"/>
                    </a:solidFill>
                  </a:tcPr>
                </a:tc>
              </a:tr>
              <a:tr h="274320">
                <a:tc>
                  <a:txBody>
                    <a:bodyPr/>
                    <a:lstStyle/>
                    <a:p>
                      <a:pPr algn="l">
                        <a:defRPr sz="720" b="0">
                          <a:solidFill>
                            <a:srgbClr val="4A4D55"/>
                          </a:solidFill>
                          <a:latin typeface="Open Sans"/>
                        </a:defRPr>
                      </a:pPr>
                      <a:r>
                        <a:t>Added</a:t>
                      </a:r>
                    </a:p>
                  </a:txBody>
                  <a:tcPr marL="54864" marR="54864" marT="13716" marB="13716" anchor="ctr">
                    <a:solidFill>
                      <a:srgbClr val="FFFFFF"/>
                    </a:solidFill>
                  </a:tcPr>
                </a:tc>
                <a:tc>
                  <a:txBody>
                    <a:bodyPr/>
                    <a:lstStyle/>
                    <a:p>
                      <a:pPr algn="r">
                        <a:defRPr sz="720" b="0">
                          <a:solidFill>
                            <a:srgbClr val="4A4D55"/>
                          </a:solidFill>
                          <a:latin typeface="Open Sans"/>
                        </a:defRPr>
                      </a:pPr>
                      <a:r>
                        <a:t>GPR, EPU, China CLI, copper/zinc, US PPIs and output, shock indicators</a:t>
                      </a:r>
                    </a:p>
                  </a:txBody>
                  <a:tcPr marL="54864" marR="54864" marT="13716" marB="13716" anchor="ctr">
                    <a:solidFill>
                      <a:srgbClr val="FFFFFF"/>
                    </a:solidFill>
                  </a:tcPr>
                </a:tc>
              </a:tr>
              <a:tr h="274320">
                <a:tc>
                  <a:txBody>
                    <a:bodyPr/>
                    <a:lstStyle/>
                    <a:p>
                      <a:pPr algn="l">
                        <a:defRPr sz="720" b="0">
                          <a:solidFill>
                            <a:srgbClr val="4A4D55"/>
                          </a:solidFill>
                          <a:latin typeface="Open Sans"/>
                        </a:defRPr>
                      </a:pPr>
                      <a:r>
                        <a:t>Replaced</a:t>
                      </a:r>
                    </a:p>
                  </a:txBody>
                  <a:tcPr marL="54864" marR="54864" marT="13716" marB="13716" anchor="ctr">
                    <a:solidFill>
                      <a:srgbClr val="FFFFFF"/>
                    </a:solidFill>
                  </a:tcPr>
                </a:tc>
                <a:tc>
                  <a:txBody>
                    <a:bodyPr/>
                    <a:lstStyle/>
                    <a:p>
                      <a:pPr algn="r">
                        <a:defRPr sz="720" b="0">
                          <a:solidFill>
                            <a:srgbClr val="4A4D55"/>
                          </a:solidFill>
                          <a:latin typeface="Open Sans"/>
                        </a:defRPr>
                      </a:pPr>
                      <a:r>
                        <a:t>Simulated PVC price, formula drivers → real BLS PPI WPU066 and published data</a:t>
                      </a:r>
                    </a:p>
                  </a:txBody>
                  <a:tcPr marL="54864" marR="54864" marT="13716" marB="13716" anchor="ctr">
                    <a:solidFill>
                      <a:srgbClr val="FFFFFF"/>
                    </a:solidFill>
                  </a:tcPr>
                </a:tc>
              </a:tr>
              <a:tr h="274320">
                <a:tc>
                  <a:txBody>
                    <a:bodyPr/>
                    <a:lstStyle/>
                    <a:p>
                      <a:pPr algn="l">
                        <a:defRPr sz="720" b="0">
                          <a:solidFill>
                            <a:srgbClr val="4A4D55"/>
                          </a:solidFill>
                          <a:latin typeface="Open Sans"/>
                        </a:defRPr>
                      </a:pPr>
                      <a:r>
                        <a:t>Not testable</a:t>
                      </a:r>
                    </a:p>
                  </a:txBody>
                  <a:tcPr marL="54864" marR="54864" marT="13716" marB="13716" anchor="ctr">
                    <a:solidFill>
                      <a:srgbClr val="FFFFFF"/>
                    </a:solidFill>
                  </a:tcPr>
                </a:tc>
                <a:tc>
                  <a:txBody>
                    <a:bodyPr/>
                    <a:lstStyle/>
                    <a:p>
                      <a:pPr algn="r">
                        <a:defRPr sz="720" b="0">
                          <a:solidFill>
                            <a:srgbClr val="4A4D55"/>
                          </a:solidFill>
                          <a:latin typeface="Open Sans"/>
                        </a:defRPr>
                      </a:pPr>
                      <a:r>
                        <a:t>LME stocks, China export offers, ethylene/VCM: no free history</a:t>
                      </a:r>
                    </a:p>
                  </a:txBody>
                  <a:tcPr marL="54864" marR="54864" marT="13716" marB="13716" anchor="ctr">
                    <a:solidFill>
                      <a:srgbClr val="FFFFFF"/>
                    </a:solidFill>
                  </a:tcPr>
                </a:tc>
              </a:tr>
            </a:tbl>
          </a:graphicData>
        </a:graphic>
      </p:graphicFrame>
      <p:sp>
        <p:nvSpPr>
          <p:cNvPr id="72" name="TextBox 71"/>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World Bank Pink Sheet. [2] BLS and Federal Reserve via FRED. [3] ECB. [4] Caldara &amp; Iacoviello (2022), AER 112(4). [5] Baker, Bloom &amp; Davis (2016), QJE 131(4). [6] OECD leading indicators. Public sources only.</a:t>
            </a:r>
          </a:p>
        </p:txBody>
      </p:sp>
      <p:sp>
        <p:nvSpPr>
          <p:cNvPr id="73" name="TextBox 72"/>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A1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A1 Value chain</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A2 Data &amp; leakage</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A3 Bands</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A 2  ·  A P P E N D I X  ·  D A T A   &amp;   L E A K A G E   C O N T R O L S</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feature carries the publication lag it really had, so the backtest sees only</a:t>
            </a:r>
          </a:p>
          <a:p>
            <a:pPr algn="l">
              <a:lnSpc>
                <a:spcPct val="112000"/>
              </a:lnSpc>
              <a:defRPr sz="1700" b="1" i="0">
                <a:solidFill>
                  <a:srgbClr val="16181D"/>
                </a:solidFill>
                <a:latin typeface="Open Sa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Open Sans"/>
                        </a:defRPr>
                      </a:pPr>
                      <a:r>
                        <a:t>Source</a:t>
                      </a:r>
                    </a:p>
                  </a:txBody>
                  <a:tcPr marL="54864" marR="54864" marT="18288" marB="18288" anchor="ctr">
                    <a:solidFill>
                      <a:srgbClr val="C8102E"/>
                    </a:solidFill>
                  </a:tcPr>
                </a:tc>
                <a:tc>
                  <a:txBody>
                    <a:bodyPr/>
                    <a:lstStyle/>
                    <a:p>
                      <a:pPr algn="r">
                        <a:defRPr sz="700" b="1">
                          <a:solidFill>
                            <a:srgbClr val="FFFFFF"/>
                          </a:solidFill>
                          <a:latin typeface="Open Sans"/>
                        </a:defRPr>
                      </a:pPr>
                      <a:r>
                        <a:t>Series</a:t>
                      </a:r>
                    </a:p>
                  </a:txBody>
                  <a:tcPr marL="54864" marR="54864" marT="18288" marB="18288" anchor="ctr">
                    <a:solidFill>
                      <a:srgbClr val="C8102E"/>
                    </a:solidFill>
                  </a:tcPr>
                </a:tc>
                <a:tc>
                  <a:txBody>
                    <a:bodyPr/>
                    <a:lstStyle/>
                    <a:p>
                      <a:pPr algn="r">
                        <a:defRPr sz="700" b="1">
                          <a:solidFill>
                            <a:srgbClr val="FFFFFF"/>
                          </a:solidFill>
                          <a:latin typeface="Open Sa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Open Sa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Open Sans"/>
                        </a:defRPr>
                      </a:pPr>
                      <a:r>
                        <a:t>aluminium, Brent, coal, gas, base metals</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BLS producer price indices</a:t>
                      </a:r>
                    </a:p>
                  </a:txBody>
                  <a:tcPr marL="54864" marR="54864" marT="13716" marB="13716" anchor="ctr">
                    <a:solidFill>
                      <a:srgbClr val="FFFFFF"/>
                    </a:solidFill>
                  </a:tcPr>
                </a:tc>
                <a:tc>
                  <a:txBody>
                    <a:bodyPr/>
                    <a:lstStyle/>
                    <a:p>
                      <a:pPr algn="r">
                        <a:defRPr sz="760" b="0">
                          <a:solidFill>
                            <a:srgbClr val="4A4D55"/>
                          </a:solidFill>
                          <a:latin typeface="Open Sans"/>
                        </a:defRPr>
                      </a:pPr>
                      <a:r>
                        <a:t>PVC target (WPU066), monomers, primary Al</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Fed industrial production</a:t>
                      </a:r>
                    </a:p>
                  </a:txBody>
                  <a:tcPr marL="54864" marR="54864" marT="13716" marB="13716" anchor="ctr">
                    <a:solidFill>
                      <a:srgbClr val="FFFFFF"/>
                    </a:solidFill>
                  </a:tcPr>
                </a:tc>
                <a:tc>
                  <a:txBody>
                    <a:bodyPr/>
                    <a:lstStyle/>
                    <a:p>
                      <a:pPr algn="r">
                        <a:defRPr sz="760" b="0">
                          <a:solidFill>
                            <a:srgbClr val="4A4D55"/>
                          </a:solidFill>
                          <a:latin typeface="Open Sans"/>
                        </a:defRPr>
                      </a:pPr>
                      <a:r>
                        <a:t>resins, aluminium, total industry</a:t>
                      </a:r>
                    </a:p>
                  </a:txBody>
                  <a:tcPr marL="54864" marR="54864" marT="13716" marB="13716" anchor="ctr">
                    <a:solidFill>
                      <a:srgbClr val="FFFFFF"/>
                    </a:solidFill>
                  </a:tcPr>
                </a:tc>
                <a:tc>
                  <a:txBody>
                    <a:bodyPr/>
                    <a:lstStyle/>
                    <a:p>
                      <a:pPr algn="r">
                        <a:defRPr sz="760" b="0">
                          <a:solidFill>
                            <a:srgbClr val="4A4D55"/>
                          </a:solidFill>
                          <a:latin typeface="Open Sa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Open Sans"/>
                        </a:defRPr>
                      </a:pPr>
                      <a:r>
                        <a:t>USD/INR</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GPR, EPU, OECD China CLI</a:t>
                      </a:r>
                    </a:p>
                  </a:txBody>
                  <a:tcPr marL="54864" marR="54864" marT="13716" marB="13716" anchor="ctr">
                    <a:solidFill>
                      <a:srgbClr val="FFFFFF"/>
                    </a:solidFill>
                  </a:tcPr>
                </a:tc>
                <a:tc>
                  <a:txBody>
                    <a:bodyPr/>
                    <a:lstStyle/>
                    <a:p>
                      <a:pPr algn="r">
                        <a:defRPr sz="760" b="0">
                          <a:solidFill>
                            <a:srgbClr val="4A4D55"/>
                          </a:solidFill>
                          <a:latin typeface="Open Sans"/>
                        </a:defRPr>
                      </a:pPr>
                      <a:r>
                        <a:t>risk, uncertainty, China demand</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BTS freight index</a:t>
                      </a:r>
                    </a:p>
                  </a:txBody>
                  <a:tcPr marL="54864" marR="54864" marT="13716" marB="13716" anchor="ctr">
                    <a:solidFill>
                      <a:srgbClr val="FFFFFF"/>
                    </a:solidFill>
                  </a:tcPr>
                </a:tc>
                <a:tc>
                  <a:txBody>
                    <a:bodyPr/>
                    <a:lstStyle/>
                    <a:p>
                      <a:pPr algn="r">
                        <a:defRPr sz="760" b="0">
                          <a:solidFill>
                            <a:srgbClr val="4A4D55"/>
                          </a:solidFill>
                          <a:latin typeface="Open Sans"/>
                        </a:defRPr>
                      </a:pPr>
                      <a:r>
                        <a:t>US freight transportation services</a:t>
                      </a:r>
                    </a:p>
                  </a:txBody>
                  <a:tcPr marL="54864" marR="54864" marT="13716" marB="13716" anchor="ctr">
                    <a:solidFill>
                      <a:srgbClr val="FFFFFF"/>
                    </a:solidFill>
                  </a:tcPr>
                </a:tc>
                <a:tc>
                  <a:txBody>
                    <a:bodyPr/>
                    <a:lstStyle/>
                    <a:p>
                      <a:pPr algn="r">
                        <a:defRPr sz="760" b="0">
                          <a:solidFill>
                            <a:srgbClr val="4A4D55"/>
                          </a:solidFill>
                          <a:latin typeface="Open Sans"/>
                        </a:defRPr>
                      </a:pPr>
                      <a:r>
                        <a:t>2 months</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One function, visible_panel(material), applies every lag. Training rows are embargoed:</a:t>
            </a:r>
          </a:p>
          <a:p>
            <a:pPr algn="l">
              <a:lnSpc>
                <a:spcPct val="125000"/>
              </a:lnSpc>
              <a:defRPr sz="740" b="1" i="0">
                <a:solidFill>
                  <a:srgbClr val="C8102E"/>
                </a:solidFill>
                <a:latin typeface="Open Sans"/>
              </a:defRPr>
            </a:pPr>
            <a:r>
              <a:t>a row is used only if its h-month outcome was published before the forecast day.</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Leakage guardrails, enforced and tested</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Embargo on every training row, asserted in the backtest itself.</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Future-perturbation test: scramble all post-origin data; no forecast may change.</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The Round 2 draft logic fails that test; version 2 passes it.</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Trailing windows only, no back-fill; selection and tuning inside every fold.</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74</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commodity series in the</a:t>
            </a:r>
          </a:p>
          <a:p>
            <a:pPr algn="l">
              <a:lnSpc>
                <a:spcPct val="122000"/>
              </a:lnSpc>
              <a:defRPr sz="760" b="0" i="0">
                <a:solidFill>
                  <a:srgbClr val="7C8089"/>
                </a:solidFill>
                <a:latin typeface="Open Sans"/>
              </a:defRPr>
            </a:pPr>
            <a:r>
              <a:t>global training panel</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41 / 36</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features for aluminium and</a:t>
            </a:r>
          </a:p>
          <a:p>
            <a:pPr algn="l">
              <a:lnSpc>
                <a:spcPct val="122000"/>
              </a:lnSpc>
              <a:defRPr sz="760" b="0" i="0">
                <a:solidFill>
                  <a:srgbClr val="7C8089"/>
                </a:solidFill>
                <a:latin typeface="Open Sans"/>
              </a:defRPr>
            </a:pPr>
            <a:r>
              <a:t>PVC, all from real data</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scored origins 2018–24,</a:t>
            </a:r>
          </a:p>
          <a:p>
            <a:pPr algn="l">
              <a:lnSpc>
                <a:spcPct val="122000"/>
              </a:lnSpc>
              <a:defRPr sz="760" b="0" i="0">
                <a:solidFill>
                  <a:srgbClr val="7C8089"/>
                </a:solidFill>
                <a:latin typeface="Open Sans"/>
              </a:defRPr>
            </a:pPr>
            <a:r>
              <a:t>plus a 2025–26 holdout</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Price dynamics —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Cost-push — coal, gas, Brent, monomer PPI, resin/feedstock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Demand — OECD China CLI, US industrial production, base metals</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Currency — USD/INR, also used in the landed-cost overlay</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Risk and shocks — GPR, EPU, data-driven shock indicators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rPr sz="780" b="1" i="0">
                <a:solidFill>
                  <a:srgbClr val="4A4D55"/>
                </a:solidFill>
                <a:latin typeface="Open Sans"/>
              </a:rPr>
              <a:t xml:space="preserve">Known limitation. </a:t>
            </a:r>
            <a:r>
              <a:rPr sz="780" b="0" i="0">
                <a:solidFill>
                  <a:srgbClr val="4A4D55"/>
                </a:solidFill>
                <a:latin typeface="Open Sans"/>
              </a:rPr>
              <a:t>No free long-history Asian PVC spot price exists. We use the real</a:t>
            </a:r>
          </a:p>
          <a:p>
            <a:pPr algn="l">
              <a:lnSpc>
                <a:spcPct val="125000"/>
              </a:lnSpc>
              <a:defRPr sz="780" b="0" i="0">
                <a:solidFill>
                  <a:srgbClr val="4A4D55"/>
                </a:solidFill>
                <a:latin typeface="Open Sans"/>
              </a:defRPr>
            </a:pPr>
            <a:r>
              <a:t>BLS producer price index for plastic resins (WPU066) as the proxy: a US index,</a:t>
            </a:r>
          </a:p>
          <a:p>
            <a:pPr algn="l">
              <a:lnSpc>
                <a:spcPct val="125000"/>
              </a:lnSpc>
              <a:defRPr sz="780" b="0" i="0">
                <a:solidFill>
                  <a:srgbClr val="4A4D55"/>
                </a:solidFill>
                <a:latin typeface="Open Sans"/>
              </a:defRPr>
            </a:pPr>
            <a:r>
              <a:t>not Asian spot. The India landed price is a separate overlay, calibrated on ACG POs.</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Publication lags set per material from each provider's release calendar (config/pipeline.yaml) and applied in one place. Aluminium is forecast on the 1st of the month; PVC on BLS PPI release day.</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A2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Solution</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4  ·  W H A T   D R I V E S   T H E   P R I C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What drives the price: aluminium moves with copper and energy in the same month;</a:t>
            </a:r>
          </a:p>
          <a:p>
            <a:pPr algn="l">
              <a:lnSpc>
                <a:spcPct val="112000"/>
              </a:lnSpc>
              <a:defRPr sz="1700" b="1" i="0">
                <a:solidFill>
                  <a:srgbClr val="16181D"/>
                </a:solidFill>
                <a:latin typeface="Open Sans"/>
              </a:defRPr>
            </a:pPr>
            <a:r>
              <a:t>crude oil and China demand give PVC one to two months' warning</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Lead–lag study: peak cross-correlations</a:t>
            </a:r>
          </a:p>
        </p:txBody>
      </p:sp>
      <p:pic>
        <p:nvPicPr>
          <p:cNvPr id="15" name="Picture 14" descr="aluminium_drivers.png"/>
          <p:cNvPicPr>
            <a:picLocks noChangeAspect="1"/>
          </p:cNvPicPr>
          <p:nvPr/>
        </p:nvPicPr>
        <p:blipFill>
          <a:blip r:embed="rId2"/>
          <a:stretch>
            <a:fillRect/>
          </a:stretch>
        </p:blipFill>
        <p:spPr>
          <a:xfrm>
            <a:off x="502920" y="2029968"/>
            <a:ext cx="5394960" cy="2202024"/>
          </a:xfrm>
          <a:prstGeom prst="rect">
            <a:avLst/>
          </a:prstGeom>
        </p:spPr>
      </p:pic>
      <p:sp>
        <p:nvSpPr>
          <p:cNvPr id="16" name="TextBox 15"/>
          <p:cNvSpPr txBox="1"/>
          <p:nvPr/>
        </p:nvSpPr>
        <p:spPr>
          <a:xfrm>
            <a:off x="502920" y="4279392"/>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real data shows</a:t>
            </a:r>
          </a:p>
        </p:txBody>
      </p:sp>
      <p:sp>
        <p:nvSpPr>
          <p:cNvPr id="17" name="TextBox 16"/>
          <p:cNvSpPr txBox="1"/>
          <p:nvPr/>
        </p:nvSpPr>
        <p:spPr>
          <a:xfrm>
            <a:off x="502920" y="4535424"/>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18" name="TextBox 17"/>
          <p:cNvSpPr txBox="1"/>
          <p:nvPr/>
        </p:nvSpPr>
        <p:spPr>
          <a:xfrm>
            <a:off x="630936" y="4535424"/>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Aluminium moves with its peers, in the same month: </a:t>
            </a:r>
            <a:r>
              <a:rPr sz="750" b="0" i="0">
                <a:solidFill>
                  <a:srgbClr val="4A4D55"/>
                </a:solidFill>
                <a:latin typeface="Open Sans"/>
              </a:rPr>
              <a:t>copper ρ = +0.68, zinc +0.63, energy +0.46 at lag 0. These explain moves; they cannot forecast them.</a:t>
            </a:r>
          </a:p>
        </p:txBody>
      </p:sp>
      <p:sp>
        <p:nvSpPr>
          <p:cNvPr id="19" name="TextBox 18"/>
          <p:cNvSpPr txBox="1"/>
          <p:nvPr/>
        </p:nvSpPr>
        <p:spPr>
          <a:xfrm>
            <a:off x="502920" y="4937760"/>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0" name="TextBox 19"/>
          <p:cNvSpPr txBox="1"/>
          <p:nvPr/>
        </p:nvSpPr>
        <p:spPr>
          <a:xfrm>
            <a:off x="630936" y="4937760"/>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China leading indicator leads both by ~2 months: </a:t>
            </a:r>
            <a:r>
              <a:rPr sz="750" b="0" i="0">
                <a:solidFill>
                  <a:srgbClr val="4A4D55"/>
                </a:solidFill>
                <a:latin typeface="Open Sans"/>
              </a:rPr>
              <a:t>ρ = +0.20 (Al) and +0.18 (PVC), Granger-significant after FDR (q = 0.02 / 0.004).</a:t>
            </a:r>
          </a:p>
        </p:txBody>
      </p:sp>
      <p:sp>
        <p:nvSpPr>
          <p:cNvPr id="21" name="TextBox 20"/>
          <p:cNvSpPr txBox="1"/>
          <p:nvPr/>
        </p:nvSpPr>
        <p:spPr>
          <a:xfrm>
            <a:off x="502920" y="5340096"/>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2" name="TextBox 21"/>
          <p:cNvSpPr txBox="1"/>
          <p:nvPr/>
        </p:nvSpPr>
        <p:spPr>
          <a:xfrm>
            <a:off x="630936" y="5340096"/>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Brent crude leads the PVC proxy by 1 month: </a:t>
            </a:r>
            <a:r>
              <a:rPr sz="750" b="0" i="0">
                <a:solidFill>
                  <a:srgbClr val="4A4D55"/>
                </a:solidFill>
                <a:latin typeface="Open Sans"/>
              </a:rPr>
              <a:t>ρ = +0.41, Granger q &lt; 0.001. The energy index (+0.44) and US gas also lead it.</a:t>
            </a:r>
          </a:p>
        </p:txBody>
      </p:sp>
      <p:sp>
        <p:nvSpPr>
          <p:cNvPr id="23" name="TextBox 22"/>
          <p:cNvSpPr txBox="1"/>
          <p:nvPr/>
        </p:nvSpPr>
        <p:spPr>
          <a:xfrm>
            <a:off x="502920" y="5742432"/>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4" name="TextBox 23"/>
          <p:cNvSpPr txBox="1"/>
          <p:nvPr/>
        </p:nvSpPr>
        <p:spPr>
          <a:xfrm>
            <a:off x="630936" y="5742432"/>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Not testable with free data: </a:t>
            </a:r>
            <a:r>
              <a:rPr sz="750" b="0" i="0">
                <a:solidFill>
                  <a:srgbClr val="4A4D55"/>
                </a:solidFill>
                <a:latin typeface="Open Sans"/>
              </a:rPr>
              <a:t>LME stocks and China PVC export offers. We say so rather than simulate them.</a:t>
            </a:r>
          </a:p>
        </p:txBody>
      </p:sp>
      <p:sp>
        <p:nvSpPr>
          <p:cNvPr id="25" name="TextBox 24"/>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Four core hypotheses: formal verdicts</a:t>
            </a:r>
          </a:p>
        </p:txBody>
      </p:sp>
      <p:sp>
        <p:nvSpPr>
          <p:cNvPr id="26" name="Rectangle 25"/>
          <p:cNvSpPr/>
          <p:nvPr/>
        </p:nvSpPr>
        <p:spPr>
          <a:xfrm>
            <a:off x="6263640" y="2029968"/>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2029968"/>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0" y="2121408"/>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H1</a:t>
            </a:r>
          </a:p>
        </p:txBody>
      </p:sp>
      <p:sp>
        <p:nvSpPr>
          <p:cNvPr id="29" name="TextBox 28"/>
          <p:cNvSpPr txBox="1"/>
          <p:nvPr/>
        </p:nvSpPr>
        <p:spPr>
          <a:xfrm>
            <a:off x="6858000" y="2121408"/>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China coal and LME stocks lead aluminium by 1 to 3 months.</a:t>
            </a:r>
          </a:p>
        </p:txBody>
      </p:sp>
      <p:sp>
        <p:nvSpPr>
          <p:cNvPr id="30" name="TextBox 29"/>
          <p:cNvSpPr txBox="1"/>
          <p:nvPr/>
        </p:nvSpPr>
        <p:spPr>
          <a:xfrm>
            <a:off x="10469880" y="2121408"/>
            <a:ext cx="1143000" cy="201168"/>
          </a:xfrm>
          <a:prstGeom prst="rect">
            <a:avLst/>
          </a:prstGeom>
          <a:noFill/>
        </p:spPr>
        <p:txBody>
          <a:bodyPr wrap="square" lIns="0" rIns="0" tIns="0" bIns="0">
            <a:spAutoFit/>
          </a:bodyPr>
          <a:lstStyle/>
          <a:p>
            <a:pPr algn="r">
              <a:lnSpc>
                <a:spcPct val="115000"/>
              </a:lnSpc>
              <a:defRPr sz="740" b="1" i="0">
                <a:solidFill>
                  <a:srgbClr val="C8102E"/>
                </a:solidFill>
                <a:latin typeface="Open Sans"/>
              </a:defRPr>
            </a:pPr>
            <a:r>
              <a:rPr sz="740" b="1" i="0">
                <a:solidFill>
                  <a:srgbClr val="C8102E"/>
                </a:solidFill>
                <a:latin typeface="Open Sans"/>
              </a:rPr>
              <a:t>NOT SUPPORTED</a:t>
            </a:r>
          </a:p>
        </p:txBody>
      </p:sp>
      <p:sp>
        <p:nvSpPr>
          <p:cNvPr id="31" name="TextBox 30"/>
          <p:cNvSpPr txBox="1"/>
          <p:nvPr/>
        </p:nvSpPr>
        <p:spPr>
          <a:xfrm>
            <a:off x="6858000" y="2340864"/>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Coal: best lead 0m, ρ = +0.36, Granger q = 0.83  ·  LME stocks: no free history, not testable</a:t>
            </a:r>
          </a:p>
        </p:txBody>
      </p:sp>
      <p:sp>
        <p:nvSpPr>
          <p:cNvPr id="32" name="TextBox 31"/>
          <p:cNvSpPr txBox="1"/>
          <p:nvPr/>
        </p:nvSpPr>
        <p:spPr>
          <a:xfrm>
            <a:off x="6858000" y="2596896"/>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Coal moves with aluminium in the same month but does not lead it. Round 2's stocks result came from a series computed from the price itself.</a:t>
            </a:r>
          </a:p>
        </p:txBody>
      </p:sp>
      <p:sp>
        <p:nvSpPr>
          <p:cNvPr id="33" name="Rectangle 32"/>
          <p:cNvSpPr/>
          <p:nvPr/>
        </p:nvSpPr>
        <p:spPr>
          <a:xfrm>
            <a:off x="6263640" y="2999232"/>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263640" y="2999232"/>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0" y="3090672"/>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H2</a:t>
            </a:r>
          </a:p>
        </p:txBody>
      </p:sp>
      <p:sp>
        <p:nvSpPr>
          <p:cNvPr id="36" name="TextBox 35"/>
          <p:cNvSpPr txBox="1"/>
          <p:nvPr/>
        </p:nvSpPr>
        <p:spPr>
          <a:xfrm>
            <a:off x="6858000" y="3090672"/>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Feedstock and China export offers lead PVC by 1 to 2 months.</a:t>
            </a:r>
          </a:p>
        </p:txBody>
      </p:sp>
      <p:sp>
        <p:nvSpPr>
          <p:cNvPr id="37" name="TextBox 36"/>
          <p:cNvSpPr txBox="1"/>
          <p:nvPr/>
        </p:nvSpPr>
        <p:spPr>
          <a:xfrm>
            <a:off x="10469880" y="3090672"/>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Open Sans"/>
              </a:defRPr>
            </a:pPr>
            <a:r>
              <a:rPr sz="740" b="1" i="0">
                <a:solidFill>
                  <a:srgbClr val="8A5A00"/>
                </a:solidFill>
                <a:latin typeface="Open Sans"/>
              </a:rPr>
              <a:t>PARTIAL</a:t>
            </a:r>
          </a:p>
        </p:txBody>
      </p:sp>
      <p:sp>
        <p:nvSpPr>
          <p:cNvPr id="38" name="TextBox 37"/>
          <p:cNvSpPr txBox="1"/>
          <p:nvPr/>
        </p:nvSpPr>
        <p:spPr>
          <a:xfrm>
            <a:off x="6858000" y="3310128"/>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Brent: lead 1m, ρ = +0.41, q &lt; 0.001  ·  Monomer PPI: lead 6m, ρ = −0.23, q = 0.63</a:t>
            </a:r>
          </a:p>
        </p:txBody>
      </p:sp>
      <p:sp>
        <p:nvSpPr>
          <p:cNvPr id="39" name="TextBox 38"/>
          <p:cNvSpPr txBox="1"/>
          <p:nvPr/>
        </p:nvSpPr>
        <p:spPr>
          <a:xfrm>
            <a:off x="6858000" y="3566160"/>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Crude feeds through to resin prices within a month. The monomer proxy does not lead; export offers cannot be tested.</a:t>
            </a:r>
          </a:p>
        </p:txBody>
      </p:sp>
      <p:sp>
        <p:nvSpPr>
          <p:cNvPr id="40" name="Rectangle 39"/>
          <p:cNvSpPr/>
          <p:nvPr/>
        </p:nvSpPr>
        <p:spPr>
          <a:xfrm>
            <a:off x="6263640" y="3968496"/>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63640" y="3968496"/>
            <a:ext cx="41148" cy="914400"/>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0" y="4059935"/>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H3</a:t>
            </a:r>
          </a:p>
        </p:txBody>
      </p:sp>
      <p:sp>
        <p:nvSpPr>
          <p:cNvPr id="43" name="TextBox 42"/>
          <p:cNvSpPr txBox="1"/>
          <p:nvPr/>
        </p:nvSpPr>
        <p:spPr>
          <a:xfrm>
            <a:off x="6858000" y="4059935"/>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Manufacturing activity leads both materials by 0 to 2 months.</a:t>
            </a:r>
          </a:p>
        </p:txBody>
      </p:sp>
      <p:sp>
        <p:nvSpPr>
          <p:cNvPr id="44" name="TextBox 43"/>
          <p:cNvSpPr txBox="1"/>
          <p:nvPr/>
        </p:nvSpPr>
        <p:spPr>
          <a:xfrm>
            <a:off x="10469880" y="4059935"/>
            <a:ext cx="1143000" cy="201168"/>
          </a:xfrm>
          <a:prstGeom prst="rect">
            <a:avLst/>
          </a:prstGeom>
          <a:noFill/>
        </p:spPr>
        <p:txBody>
          <a:bodyPr wrap="square" lIns="0" rIns="0" tIns="0" bIns="0">
            <a:spAutoFit/>
          </a:bodyPr>
          <a:lstStyle/>
          <a:p>
            <a:pPr algn="r">
              <a:lnSpc>
                <a:spcPct val="115000"/>
              </a:lnSpc>
              <a:defRPr sz="740" b="1" i="0">
                <a:solidFill>
                  <a:srgbClr val="0F6B3F"/>
                </a:solidFill>
                <a:latin typeface="Open Sans"/>
              </a:defRPr>
            </a:pPr>
            <a:r>
              <a:rPr sz="740" b="1" i="0">
                <a:solidFill>
                  <a:srgbClr val="0F6B3F"/>
                </a:solidFill>
                <a:latin typeface="Open Sans"/>
              </a:rPr>
              <a:t>SUPPORTED</a:t>
            </a:r>
          </a:p>
        </p:txBody>
      </p:sp>
      <p:sp>
        <p:nvSpPr>
          <p:cNvPr id="45" name="TextBox 44"/>
          <p:cNvSpPr txBox="1"/>
          <p:nvPr/>
        </p:nvSpPr>
        <p:spPr>
          <a:xfrm>
            <a:off x="6858000" y="4279392"/>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China CLI: lead 2m, ρ = +0.20 (Al, q = 0.02), +0.18 (PVC, q = 0.004)  ·  US output: same month, n.s.</a:t>
            </a:r>
          </a:p>
        </p:txBody>
      </p:sp>
      <p:sp>
        <p:nvSpPr>
          <p:cNvPr id="46" name="TextBox 45"/>
          <p:cNvSpPr txBox="1"/>
          <p:nvPr/>
        </p:nvSpPr>
        <p:spPr>
          <a:xfrm>
            <a:off x="6858000" y="4535424"/>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The OECD China leading indicator is the one genuine early signal for aluminium. PMIs are paywalled; the CLI is the free proxy.</a:t>
            </a:r>
          </a:p>
        </p:txBody>
      </p:sp>
      <p:sp>
        <p:nvSpPr>
          <p:cNvPr id="47" name="Rectangle 46"/>
          <p:cNvSpPr/>
          <p:nvPr/>
        </p:nvSpPr>
        <p:spPr>
          <a:xfrm>
            <a:off x="6263640" y="4937760"/>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263640" y="4937760"/>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00800" y="5029200"/>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H4</a:t>
            </a:r>
          </a:p>
        </p:txBody>
      </p:sp>
      <p:sp>
        <p:nvSpPr>
          <p:cNvPr id="50" name="TextBox 49"/>
          <p:cNvSpPr txBox="1"/>
          <p:nvPr/>
        </p:nvSpPr>
        <p:spPr>
          <a:xfrm>
            <a:off x="6858000" y="5029200"/>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USD/INR moves the landed price in the same month.</a:t>
            </a:r>
          </a:p>
        </p:txBody>
      </p:sp>
      <p:sp>
        <p:nvSpPr>
          <p:cNvPr id="51" name="TextBox 50"/>
          <p:cNvSpPr txBox="1"/>
          <p:nvPr/>
        </p:nvSpPr>
        <p:spPr>
          <a:xfrm>
            <a:off x="10469880" y="5029200"/>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Open Sans"/>
              </a:defRPr>
            </a:pPr>
            <a:r>
              <a:rPr sz="740" b="1" i="0">
                <a:solidFill>
                  <a:srgbClr val="8A5A00"/>
                </a:solidFill>
                <a:latin typeface="Open Sans"/>
              </a:rPr>
              <a:t>PARTIAL</a:t>
            </a:r>
          </a:p>
        </p:txBody>
      </p:sp>
      <p:sp>
        <p:nvSpPr>
          <p:cNvPr id="52" name="TextBox 51"/>
          <p:cNvSpPr txBox="1"/>
          <p:nvPr/>
        </p:nvSpPr>
        <p:spPr>
          <a:xfrm>
            <a:off x="6858000" y="5248656"/>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FX share of monthly rupee-price variance: Al 1%, PVC 36%  ·  FX → US$ price: Al n.s., PVC q = 0.002</a:t>
            </a:r>
          </a:p>
        </p:txBody>
      </p:sp>
      <p:sp>
        <p:nvSpPr>
          <p:cNvPr id="53" name="TextBox 52"/>
          <p:cNvSpPr txBox="1"/>
          <p:nvPr/>
        </p:nvSpPr>
        <p:spPr>
          <a:xfrm>
            <a:off x="6858000" y="5504688"/>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Pass-through is one-for-one by construction, but aluminium's US$ swings dwarf FX. FX belongs in the landed-cost overlay.</a:t>
            </a:r>
          </a:p>
        </p:txBody>
      </p:sp>
      <p:sp>
        <p:nvSpPr>
          <p:cNvPr id="54" name="TextBox 53"/>
          <p:cNvSpPr txBox="1"/>
          <p:nvPr/>
        </p:nvSpPr>
        <p:spPr>
          <a:xfrm>
            <a:off x="6263640" y="5961888"/>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Open Sans"/>
              </a:defRPr>
            </a:pPr>
            <a:r>
              <a:t>Only leads forecast. Leads surviving FDR: China CLI (both); Brent, energy, US gas, USD/INR (PVC).</a:t>
            </a:r>
          </a:p>
        </p:txBody>
      </p:sp>
      <p:sp>
        <p:nvSpPr>
          <p:cNvPr id="55" name="TextBox 54"/>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real series only, 2000–2024, monthly log-returns at leads 0–6. Granger at a fixed 3-month lag; Benjamini–Hochberg FDR across all 24 tests. Source: outputs/drivers.</a:t>
            </a:r>
          </a:p>
        </p:txBody>
      </p:sp>
      <p:sp>
        <p:nvSpPr>
          <p:cNvPr id="56" name="TextBox 55"/>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4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7  ·  W H I C H   M O D E L   W I N S</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Ten models on identical embargoed origins. Trained on 74 commodity series, a real</a:t>
            </a:r>
          </a:p>
          <a:p>
            <a:pPr algn="l">
              <a:lnSpc>
                <a:spcPct val="112000"/>
              </a:lnSpc>
              <a:defRPr sz="1700" b="1" i="0">
                <a:solidFill>
                  <a:srgbClr val="16181D"/>
                </a:solidFill>
                <a:latin typeface="Open Sans"/>
              </a:defRPr>
            </a:pPr>
            <a:r>
              <a:t>N-BEATS became the best single forecaster on both materials</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 — MAPE at h = 3, development window</a:t>
            </a:r>
          </a:p>
        </p:txBody>
      </p:sp>
      <p:pic>
        <p:nvPicPr>
          <p:cNvPr id="15" name="Picture 14" descr="aluminium_ladder.png"/>
          <p:cNvPicPr>
            <a:picLocks noChangeAspect="1"/>
          </p:cNvPicPr>
          <p:nvPr/>
        </p:nvPicPr>
        <p:blipFill>
          <a:blip r:embed="rId2"/>
          <a:stretch>
            <a:fillRect/>
          </a:stretch>
        </p:blipFill>
        <p:spPr>
          <a:xfrm>
            <a:off x="502920" y="2011680"/>
            <a:ext cx="5440680" cy="2569092"/>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 MAPE at h = 3, development window</a:t>
            </a:r>
          </a:p>
        </p:txBody>
      </p:sp>
      <p:pic>
        <p:nvPicPr>
          <p:cNvPr id="17" name="Picture 16" descr="pvc_ladder.png"/>
          <p:cNvPicPr>
            <a:picLocks noChangeAspect="1"/>
          </p:cNvPicPr>
          <p:nvPr/>
        </p:nvPicPr>
        <p:blipFill>
          <a:blip r:embed="rId3"/>
          <a:stretch>
            <a:fillRect/>
          </a:stretch>
        </p:blipFill>
        <p:spPr>
          <a:xfrm>
            <a:off x="6355080" y="2011680"/>
            <a:ext cx="5349240" cy="2525914"/>
          </a:xfrm>
          <a:prstGeom prst="rect">
            <a:avLst/>
          </a:prstGeom>
        </p:spPr>
      </p:pic>
      <p:cxnSp>
        <p:nvCxnSpPr>
          <p:cNvPr id="18" name="Connector 17"/>
          <p:cNvCxnSpPr/>
          <p:nvPr/>
        </p:nvCxnSpPr>
        <p:spPr>
          <a:xfrm>
            <a:off x="502920" y="46634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gate did</a:t>
            </a:r>
          </a:p>
        </p:txBody>
      </p:sp>
      <p:sp>
        <p:nvSpPr>
          <p:cNvPr id="20" name="TextBox 19"/>
          <p:cNvSpPr txBox="1"/>
          <p:nvPr/>
        </p:nvSpPr>
        <p:spPr>
          <a:xfrm>
            <a:off x="50292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A model earns a share of the forecast only in months when it has beaten naïve on its own realised past forecasts. Seasonal naïve never did, on either material. No model was excluded by judgement; the LSTM was dropped after the audit found it was fed the wrong inputs.</a:t>
            </a:r>
          </a:p>
        </p:txBody>
      </p:sp>
      <p:sp>
        <p:nvSpPr>
          <p:cNvPr id="21" name="TextBox 20"/>
          <p:cNvSpPr txBox="1"/>
          <p:nvPr/>
        </p:nvSpPr>
        <p:spPr>
          <a:xfrm>
            <a:off x="434340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N-BEATS, done properly, won</a:t>
            </a:r>
          </a:p>
        </p:txBody>
      </p:sp>
      <p:sp>
        <p:nvSpPr>
          <p:cNvPr id="22" name="TextBox 21"/>
          <p:cNvSpPr txBox="1"/>
          <p:nvPr/>
        </p:nvSpPr>
        <p:spPr>
          <a:xfrm>
            <a:off x="434340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Real N-BEATS (trend and seasonality stacks) is the best single model on both: aluminium 7.53% vs naïve 8.19% (+8.1%), PVC 3.96% vs 4.37% (+9.5%). It came out best in every training run; its exact skill varies from run to run. Round 2's "N-BEATS" was a plain MLP; that result is withdrawn.</a:t>
            </a:r>
          </a:p>
        </p:txBody>
      </p:sp>
      <p:sp>
        <p:nvSpPr>
          <p:cNvPr id="23" name="TextBox 22"/>
          <p:cNvSpPr txBox="1"/>
          <p:nvPr/>
        </p:nvSpPr>
        <p:spPr>
          <a:xfrm>
            <a:off x="8183879" y="4791456"/>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finding</a:t>
            </a:r>
          </a:p>
        </p:txBody>
      </p:sp>
      <p:sp>
        <p:nvSpPr>
          <p:cNvPr id="24" name="Rectangle 23"/>
          <p:cNvSpPr/>
          <p:nvPr/>
        </p:nvSpPr>
        <p:spPr>
          <a:xfrm>
            <a:off x="8183879" y="5029200"/>
            <a:ext cx="3520440" cy="987552"/>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5138928"/>
            <a:ext cx="3246120" cy="777240"/>
          </a:xfrm>
          <a:prstGeom prst="rect">
            <a:avLst/>
          </a:prstGeom>
          <a:noFill/>
        </p:spPr>
        <p:txBody>
          <a:bodyPr wrap="square" lIns="0" rIns="0" tIns="0" bIns="0">
            <a:spAutoFit/>
          </a:bodyPr>
          <a:lstStyle/>
          <a:p>
            <a:pPr algn="l">
              <a:lnSpc>
                <a:spcPct val="130000"/>
              </a:lnSpc>
              <a:defRPr sz="819" b="1" i="0">
                <a:solidFill>
                  <a:srgbClr val="C8102E"/>
                </a:solidFill>
                <a:latin typeface="Open Sans"/>
              </a:defRPr>
            </a:pPr>
            <a:r>
              <a:t>Pooling data substitutes for data.</a:t>
            </a:r>
          </a:p>
          <a:p>
            <a:pPr algn="l">
              <a:lnSpc>
                <a:spcPct val="130000"/>
              </a:lnSpc>
              <a:defRPr sz="819" b="1" i="0">
                <a:solidFill>
                  <a:srgbClr val="C8102E"/>
                </a:solidFill>
                <a:latin typeface="Open Sans"/>
              </a:defRPr>
            </a:pPr>
            <a:r>
              <a:t/>
            </a:r>
          </a:p>
          <a:p>
            <a:pPr algn="l">
              <a:lnSpc>
                <a:spcPct val="130000"/>
              </a:lnSpc>
              <a:defRPr sz="819" b="1" i="0">
                <a:solidFill>
                  <a:srgbClr val="C8102E"/>
                </a:solidFill>
                <a:latin typeface="Open Sans"/>
              </a:defRPr>
            </a:pPr>
            <a:r>
              <a:t>One model trained on 74 commodity series beats models trained on one 180-point series. That is the M4 lesson, reproduced.</a:t>
            </a:r>
          </a:p>
        </p:txBody>
      </p:sp>
      <p:sp>
        <p:nvSpPr>
          <p:cNvPr id="26" name="TextBox 2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All models run through one walk-forward harness on the same 78 origins, with embargoed training rows. Headline = equal-weight average of the models that beat naïve on realised past forecasts. N-BEATS uses early stopping on an in-fold validation slice. Consistent with Makridakis et al., M4 (2020).</a:t>
            </a:r>
          </a:p>
        </p:txBody>
      </p:sp>
      <p:sp>
        <p:nvSpPr>
          <p:cNvPr id="27" name="TextBox 2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0  ·  W H Y   T H E   F O R E C A S T   M O V E D</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forecast comes with the reason it moved, because a buyer cannot act on a</a:t>
            </a:r>
          </a:p>
          <a:p>
            <a:pPr algn="l">
              <a:lnSpc>
                <a:spcPct val="112000"/>
              </a:lnSpc>
              <a:defRPr sz="1700" b="1" i="0">
                <a:solidFill>
                  <a:srgbClr val="16181D"/>
                </a:solidFill>
                <a:latin typeface="Open Sans"/>
              </a:defRPr>
            </a:pPr>
            <a:r>
              <a:t>number they cannot interrogate</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buyer sees each month</a:t>
            </a:r>
          </a:p>
        </p:txBody>
      </p:sp>
      <p:sp>
        <p:nvSpPr>
          <p:cNvPr id="15" name="Rectangle 14"/>
          <p:cNvSpPr/>
          <p:nvPr/>
        </p:nvSpPr>
        <p:spPr>
          <a:xfrm>
            <a:off x="502920" y="2057400"/>
            <a:ext cx="5394960" cy="196596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2194560"/>
            <a:ext cx="5074920" cy="219456"/>
          </a:xfrm>
          <a:prstGeom prst="rect">
            <a:avLst/>
          </a:prstGeom>
          <a:noFill/>
        </p:spPr>
        <p:txBody>
          <a:bodyPr wrap="square" lIns="0" rIns="0" tIns="0" bIns="0">
            <a:spAutoFit/>
          </a:bodyPr>
          <a:lstStyle/>
          <a:p>
            <a:pPr algn="l">
              <a:lnSpc>
                <a:spcPct val="115000"/>
              </a:lnSpc>
              <a:defRPr sz="800" b="1" i="0">
                <a:solidFill>
                  <a:srgbClr val="C8102E"/>
                </a:solidFill>
                <a:latin typeface="Open Sans"/>
              </a:defRPr>
            </a:pPr>
            <a:r>
              <a:t>Driver note, generated from the model</a:t>
            </a:r>
          </a:p>
        </p:txBody>
      </p:sp>
      <p:sp>
        <p:nvSpPr>
          <p:cNvPr id="17" name="TextBox 16"/>
          <p:cNvSpPr txBox="1"/>
          <p:nvPr/>
        </p:nvSpPr>
        <p:spPr>
          <a:xfrm>
            <a:off x="667512" y="2468880"/>
            <a:ext cx="5074920" cy="1463040"/>
          </a:xfrm>
          <a:prstGeom prst="rect">
            <a:avLst/>
          </a:prstGeom>
          <a:noFill/>
        </p:spPr>
        <p:txBody>
          <a:bodyPr wrap="square" lIns="0" rIns="0" tIns="0" bIns="0">
            <a:spAutoFit/>
          </a:bodyPr>
          <a:lstStyle/>
          <a:p>
            <a:pPr algn="l">
              <a:lnSpc>
                <a:spcPct val="132000"/>
              </a:lnSpc>
              <a:defRPr sz="819" b="0" i="1">
                <a:solidFill>
                  <a:srgbClr val="4A4D55"/>
                </a:solidFill>
                <a:latin typeface="Open Sans"/>
              </a:defRPr>
            </a:pPr>
            <a:r>
              <a:t>"PVC proxy, Aug 2026: three-month P50 278.6 (−0.7%), 80% range 257.4 to 301.6. Probability higher: 46%. After 3% carrying cost, buying ahead is worth −3.7%: BUY NORMAL. Largest pushes: seasonality (−1.1%), own price momentum (−0.4%), Brent crude (−0.3%). Models trusted now: enet, lgb_local, nbeats. Caution: Brent and gas inputs are stale until the data is refreshed."</a:t>
            </a:r>
          </a:p>
        </p:txBody>
      </p:sp>
      <p:sp>
        <p:nvSpPr>
          <p:cNvPr id="18" name="TextBox 17"/>
          <p:cNvSpPr txBox="1"/>
          <p:nvPr/>
        </p:nvSpPr>
        <p:spPr>
          <a:xfrm>
            <a:off x="502920" y="4224528"/>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sits behind it</a:t>
            </a:r>
          </a:p>
        </p:txBody>
      </p:sp>
      <p:sp>
        <p:nvSpPr>
          <p:cNvPr id="19" name="TextBox 18"/>
          <p:cNvSpPr txBox="1"/>
          <p:nvPr/>
        </p:nvSpPr>
        <p:spPr>
          <a:xfrm>
            <a:off x="502920" y="451713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0" name="TextBox 19"/>
          <p:cNvSpPr txBox="1"/>
          <p:nvPr/>
        </p:nvSpPr>
        <p:spPr>
          <a:xfrm>
            <a:off x="621792" y="451713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SHAP attribution (LightGBM TreeSHAP) on the live forecast, grouped by driver.</a:t>
            </a:r>
          </a:p>
        </p:txBody>
      </p:sp>
      <p:sp>
        <p:nvSpPr>
          <p:cNvPr id="21" name="TextBox 20"/>
          <p:cNvSpPr txBox="1"/>
          <p:nvPr/>
        </p:nvSpPr>
        <p:spPr>
          <a:xfrm>
            <a:off x="502920" y="47228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2" name="TextBox 21"/>
          <p:cNvSpPr txBox="1"/>
          <p:nvPr/>
        </p:nvSpPr>
        <p:spPr>
          <a:xfrm>
            <a:off x="621792" y="472287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Lead–lag and FDR-corrected Granger evidence per indicator, with its best lead.</a:t>
            </a:r>
          </a:p>
        </p:txBody>
      </p:sp>
      <p:sp>
        <p:nvSpPr>
          <p:cNvPr id="23" name="TextBox 22"/>
          <p:cNvSpPr txBox="1"/>
          <p:nvPr/>
        </p:nvSpPr>
        <p:spPr>
          <a:xfrm>
            <a:off x="502920" y="492861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4" name="TextBox 23"/>
          <p:cNvSpPr txBox="1"/>
          <p:nvPr/>
        </p:nvSpPr>
        <p:spPr>
          <a:xfrm>
            <a:off x="621792" y="492861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The models trusted at that horizon are named on every forecast.</a:t>
            </a:r>
          </a:p>
        </p:txBody>
      </p:sp>
      <p:sp>
        <p:nvSpPr>
          <p:cNvPr id="25" name="TextBox 24"/>
          <p:cNvSpPr txBox="1"/>
          <p:nvPr/>
        </p:nvSpPr>
        <p:spPr>
          <a:xfrm>
            <a:off x="502920" y="513435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6" name="TextBox 25"/>
          <p:cNvSpPr txBox="1"/>
          <p:nvPr/>
        </p:nvSpPr>
        <p:spPr>
          <a:xfrm>
            <a:off x="621792" y="513435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Stale-input warning: any driver over 3 months old is flagged in the note.</a:t>
            </a:r>
          </a:p>
        </p:txBody>
      </p:sp>
      <p:sp>
        <p:nvSpPr>
          <p:cNvPr id="27" name="TextBox 26"/>
          <p:cNvSpPr txBox="1"/>
          <p:nvPr/>
        </p:nvSpPr>
        <p:spPr>
          <a:xfrm>
            <a:off x="502920" y="534009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8" name="TextBox 27"/>
          <p:cNvSpPr txBox="1"/>
          <p:nvPr/>
        </p:nvSpPr>
        <p:spPr>
          <a:xfrm>
            <a:off x="621792" y="534009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Every override by a buyer is logged; adoption is a tracked run-state KPI.</a:t>
            </a:r>
          </a:p>
        </p:txBody>
      </p:sp>
      <p:sp>
        <p:nvSpPr>
          <p:cNvPr id="29" name="TextBox 28"/>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Error correlation between ensemble members, PVC h = 3</a:t>
            </a:r>
          </a:p>
        </p:txBody>
      </p:sp>
      <p:pic>
        <p:nvPicPr>
          <p:cNvPr id="30" name="Picture 29" descr="error_corr_pvc.png"/>
          <p:cNvPicPr>
            <a:picLocks noChangeAspect="1"/>
          </p:cNvPicPr>
          <p:nvPr/>
        </p:nvPicPr>
        <p:blipFill>
          <a:blip r:embed="rId2"/>
          <a:stretch>
            <a:fillRect/>
          </a:stretch>
        </p:blipFill>
        <p:spPr>
          <a:xfrm>
            <a:off x="6675120" y="2029968"/>
            <a:ext cx="2992693" cy="3063240"/>
          </a:xfrm>
          <a:prstGeom prst="rect">
            <a:avLst/>
          </a:prstGeom>
        </p:spPr>
      </p:pic>
      <p:sp>
        <p:nvSpPr>
          <p:cNvPr id="31" name="TextBox 30"/>
          <p:cNvSpPr txBox="1"/>
          <p:nvPr/>
        </p:nvSpPr>
        <p:spPr>
          <a:xfrm>
            <a:off x="6263640" y="5230368"/>
            <a:ext cx="5440680" cy="457200"/>
          </a:xfrm>
          <a:prstGeom prst="rect">
            <a:avLst/>
          </a:prstGeom>
          <a:noFill/>
        </p:spPr>
        <p:txBody>
          <a:bodyPr wrap="square" lIns="0" rIns="0" tIns="0" bIns="0">
            <a:spAutoFit/>
          </a:bodyPr>
          <a:lstStyle/>
          <a:p>
            <a:pPr algn="l">
              <a:lnSpc>
                <a:spcPct val="125000"/>
              </a:lnSpc>
              <a:defRPr sz="800" b="1" i="0">
                <a:solidFill>
                  <a:srgbClr val="C8102E"/>
                </a:solidFill>
                <a:latin typeface="Open Sans"/>
              </a:defRPr>
            </a:pPr>
            <a:r>
              <a:t>Mean error correlation between members is 0.84 (aluminium 0.87).</a:t>
            </a:r>
          </a:p>
        </p:txBody>
      </p:sp>
      <p:sp>
        <p:nvSpPr>
          <p:cNvPr id="32" name="TextBox 31"/>
          <p:cNvSpPr txBox="1"/>
          <p:nvPr/>
        </p:nvSpPr>
        <p:spPr>
          <a:xfrm>
            <a:off x="6263640" y="5614416"/>
            <a:ext cx="5440680" cy="685800"/>
          </a:xfrm>
          <a:prstGeom prst="rect">
            <a:avLst/>
          </a:prstGeom>
          <a:noFill/>
        </p:spPr>
        <p:txBody>
          <a:bodyPr wrap="square" lIns="0" rIns="0" tIns="0" bIns="0">
            <a:spAutoFit/>
          </a:bodyPr>
          <a:lstStyle/>
          <a:p>
            <a:pPr algn="l">
              <a:lnSpc>
                <a:spcPct val="128000"/>
              </a:lnSpc>
              <a:defRPr sz="780" b="0" i="0">
                <a:solidFill>
                  <a:srgbClr val="4A4D55"/>
                </a:solidFill>
                <a:latin typeface="Open Sans"/>
              </a:defRPr>
            </a:pPr>
            <a:r>
              <a:t>Members are highly correlated, so averaging adds less than it seems. The most independent are seasonal naïve, VECM and ETS. N-BEATS earns its place by accuracy, not by diversity. Round 2's "N-BEATS is the only diversifier" claim is withdrawn.</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SHAP values from LightGBM's built-in TreeSHAP on the embargoed local driver model. The error-correlation matrix is the evidence for or against any ensemble gain, reported either way.</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10 /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Solution</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Proof</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Demo</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Landed cost</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Pilot</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Risks &amp; ask</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5  ·  H O W   W E   T E S T E D</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We tested it the way procurement would live with it: refit every month from 2018,</a:t>
            </a:r>
          </a:p>
          <a:p>
            <a:pPr algn="l">
              <a:lnSpc>
                <a:spcPct val="112000"/>
              </a:lnSpc>
              <a:defRPr sz="1700" b="1" i="0">
                <a:solidFill>
                  <a:srgbClr val="16181D"/>
                </a:solidFill>
                <a:latin typeface="Open Sans"/>
              </a:defRPr>
            </a:pPr>
            <a:r>
              <a:t>embargoed, and beat the naïve forecast before claiming anything</a:t>
            </a:r>
          </a:p>
        </p:txBody>
      </p:sp>
      <p:sp>
        <p:nvSpPr>
          <p:cNvPr id="14" name="TextBox 13"/>
          <p:cNvSpPr txBox="1"/>
          <p:nvPr/>
        </p:nvSpPr>
        <p:spPr>
          <a:xfrm>
            <a:off x="502920" y="1783080"/>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Rolling-origin walk-forward: 78 expanding origins, plus a 2025–26 holdout</a:t>
            </a:r>
          </a:p>
        </p:txBody>
      </p:sp>
      <p:sp>
        <p:nvSpPr>
          <p:cNvPr id="15" name="TextBox 14"/>
          <p:cNvSpPr txBox="1"/>
          <p:nvPr/>
        </p:nvSpPr>
        <p:spPr>
          <a:xfrm>
            <a:off x="502920" y="2084831"/>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2018</a:t>
            </a:r>
          </a:p>
        </p:txBody>
      </p:sp>
      <p:sp>
        <p:nvSpPr>
          <p:cNvPr id="16" name="Rectangle 15"/>
          <p:cNvSpPr/>
          <p:nvPr/>
        </p:nvSpPr>
        <p:spPr>
          <a:xfrm>
            <a:off x="1920240" y="2103120"/>
            <a:ext cx="2721254"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641494" y="2103120"/>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414015"/>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2020</a:t>
            </a:r>
          </a:p>
        </p:txBody>
      </p:sp>
      <p:sp>
        <p:nvSpPr>
          <p:cNvPr id="19" name="Rectangle 18"/>
          <p:cNvSpPr/>
          <p:nvPr/>
        </p:nvSpPr>
        <p:spPr>
          <a:xfrm>
            <a:off x="1920240" y="2432303"/>
            <a:ext cx="3160166"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80406" y="2432303"/>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2743200"/>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2022</a:t>
            </a:r>
          </a:p>
        </p:txBody>
      </p:sp>
      <p:sp>
        <p:nvSpPr>
          <p:cNvPr id="22" name="Rectangle 21"/>
          <p:cNvSpPr/>
          <p:nvPr/>
        </p:nvSpPr>
        <p:spPr>
          <a:xfrm>
            <a:off x="1920240" y="2761488"/>
            <a:ext cx="3599078"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519318" y="2761488"/>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3072384"/>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Jun 2024</a:t>
            </a:r>
          </a:p>
        </p:txBody>
      </p:sp>
      <p:sp>
        <p:nvSpPr>
          <p:cNvPr id="25" name="Rectangle 24"/>
          <p:cNvSpPr/>
          <p:nvPr/>
        </p:nvSpPr>
        <p:spPr>
          <a:xfrm>
            <a:off x="1920240" y="3090672"/>
            <a:ext cx="4081881"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02121" y="3090672"/>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920240" y="3456432"/>
            <a:ext cx="4389120" cy="182880"/>
          </a:xfrm>
          <a:prstGeom prst="rect">
            <a:avLst/>
          </a:prstGeom>
          <a:noFill/>
        </p:spPr>
        <p:txBody>
          <a:bodyPr wrap="square" lIns="0" rIns="0" tIns="0" bIns="0">
            <a:spAutoFit/>
          </a:bodyPr>
          <a:lstStyle/>
          <a:p>
            <a:pPr algn="l">
              <a:lnSpc>
                <a:spcPct val="115000"/>
              </a:lnSpc>
              <a:defRPr sz="740" b="0" i="1">
                <a:solidFill>
                  <a:srgbClr val="7C8089"/>
                </a:solidFill>
                <a:latin typeface="Open Sans"/>
              </a:defRPr>
            </a:pPr>
            <a:r>
              <a:t>and every monthly origin in between</a:t>
            </a:r>
          </a:p>
        </p:txBody>
      </p:sp>
      <p:sp>
        <p:nvSpPr>
          <p:cNvPr id="28" name="TextBox 27"/>
          <p:cNvSpPr txBox="1"/>
          <p:nvPr/>
        </p:nvSpPr>
        <p:spPr>
          <a:xfrm>
            <a:off x="502920" y="3675887"/>
            <a:ext cx="5943600" cy="182880"/>
          </a:xfrm>
          <a:prstGeom prst="rect">
            <a:avLst/>
          </a:prstGeom>
          <a:noFill/>
        </p:spPr>
        <p:txBody>
          <a:bodyPr wrap="square" lIns="0" rIns="0" tIns="0" bIns="0">
            <a:spAutoFit/>
          </a:bodyPr>
          <a:lstStyle/>
          <a:p>
            <a:pPr algn="l">
              <a:lnSpc>
                <a:spcPct val="115000"/>
              </a:lnSpc>
              <a:defRPr sz="740" b="0" i="0">
                <a:solidFill>
                  <a:srgbClr val="7C8089"/>
                </a:solidFill>
                <a:latin typeface="Open Sans"/>
              </a:defRPr>
            </a:pPr>
            <a:r>
              <a:t>■ training window (expanding)      ■ six-month out-of-sample test</a:t>
            </a:r>
          </a:p>
        </p:txBody>
      </p:sp>
      <p:cxnSp>
        <p:nvCxnSpPr>
          <p:cNvPr id="29" name="Connector 28"/>
          <p:cNvCxnSpPr/>
          <p:nvPr/>
        </p:nvCxnSpPr>
        <p:spPr>
          <a:xfrm>
            <a:off x="502920" y="3950208"/>
            <a:ext cx="59436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4087368"/>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Skill vs naïve by horizon: highest at short horizons, as it should be</a:t>
            </a:r>
          </a:p>
        </p:txBody>
      </p:sp>
      <p:pic>
        <p:nvPicPr>
          <p:cNvPr id="31" name="Picture 30" descr="aluminium_skill.png"/>
          <p:cNvPicPr>
            <a:picLocks noChangeAspect="1"/>
          </p:cNvPicPr>
          <p:nvPr/>
        </p:nvPicPr>
        <p:blipFill>
          <a:blip r:embed="rId2"/>
          <a:stretch>
            <a:fillRect/>
          </a:stretch>
        </p:blipFill>
        <p:spPr>
          <a:xfrm>
            <a:off x="502920" y="4343400"/>
            <a:ext cx="5852160" cy="1920240"/>
          </a:xfrm>
          <a:prstGeom prst="rect">
            <a:avLst/>
          </a:prstGeom>
        </p:spPr>
      </p:pic>
      <p:sp>
        <p:nvSpPr>
          <p:cNvPr id="32" name="TextBox 31"/>
          <p:cNvSpPr txBox="1"/>
          <p:nvPr/>
        </p:nvSpPr>
        <p:spPr>
          <a:xfrm>
            <a:off x="6812280" y="1783080"/>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three-month forecast against what actually happened</a:t>
            </a:r>
          </a:p>
        </p:txBody>
      </p:sp>
      <p:pic>
        <p:nvPicPr>
          <p:cNvPr id="33" name="Picture 32" descr="aluminium_backtest.png"/>
          <p:cNvPicPr>
            <a:picLocks noChangeAspect="1"/>
          </p:cNvPicPr>
          <p:nvPr/>
        </p:nvPicPr>
        <p:blipFill>
          <a:blip r:embed="rId3"/>
          <a:stretch>
            <a:fillRect/>
          </a:stretch>
        </p:blipFill>
        <p:spPr>
          <a:xfrm>
            <a:off x="6812280" y="2029968"/>
            <a:ext cx="4892040" cy="1874519"/>
          </a:xfrm>
          <a:prstGeom prst="rect">
            <a:avLst/>
          </a:prstGeom>
        </p:spPr>
      </p:pic>
      <p:sp>
        <p:nvSpPr>
          <p:cNvPr id="34" name="TextBox 33"/>
          <p:cNvSpPr txBox="1"/>
          <p:nvPr/>
        </p:nvSpPr>
        <p:spPr>
          <a:xfrm>
            <a:off x="6812280" y="3931920"/>
            <a:ext cx="4892040" cy="457200"/>
          </a:xfrm>
          <a:prstGeom prst="rect">
            <a:avLst/>
          </a:prstGeom>
          <a:noFill/>
        </p:spPr>
        <p:txBody>
          <a:bodyPr wrap="square" lIns="0" rIns="0" tIns="0" bIns="0">
            <a:spAutoFit/>
          </a:bodyPr>
          <a:lstStyle/>
          <a:p>
            <a:pPr algn="l">
              <a:lnSpc>
                <a:spcPct val="125000"/>
              </a:lnSpc>
              <a:defRPr sz="760" b="0" i="0">
                <a:solidFill>
                  <a:srgbClr val="7C8089"/>
                </a:solidFill>
                <a:latin typeface="Open Sans"/>
              </a:defRPr>
            </a:pPr>
            <a:r>
              <a:t>Every origin 2018–2026, with the 80% band. Shaded area is the 2025–26 holdout.</a:t>
            </a:r>
          </a:p>
        </p:txBody>
      </p:sp>
      <p:cxnSp>
        <p:nvCxnSpPr>
          <p:cNvPr id="35" name="Connector 34"/>
          <p:cNvCxnSpPr/>
          <p:nvPr/>
        </p:nvCxnSpPr>
        <p:spPr>
          <a:xfrm>
            <a:off x="6812280" y="4315968"/>
            <a:ext cx="48920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4453128"/>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Performance by regime, h = 3</a:t>
            </a:r>
          </a:p>
        </p:txBody>
      </p:sp>
      <p:graphicFrame>
        <p:nvGraphicFramePr>
          <p:cNvPr id="37" name="Table 36"/>
          <p:cNvGraphicFramePr>
            <a:graphicFrameLocks noGrp="1"/>
          </p:cNvGraphicFramePr>
          <p:nvPr/>
        </p:nvGraphicFramePr>
        <p:xfrm>
          <a:off x="6812280" y="4727448"/>
          <a:ext cx="4892040" cy="1261872"/>
        </p:xfrm>
        <a:graphic>
          <a:graphicData uri="http://schemas.openxmlformats.org/drawingml/2006/table">
            <a:tbl>
              <a:tblPr>
                <a:tableStyleId>{5C22544A-7EE6-4342-B048-85BDC9FD1C3A}</a:tableStyleId>
              </a:tblPr>
              <a:tblGrid>
                <a:gridCol w="2057400"/>
                <a:gridCol w="411480"/>
                <a:gridCol w="640080"/>
                <a:gridCol w="621792"/>
                <a:gridCol w="548640"/>
                <a:gridCol w="612648"/>
              </a:tblGrid>
              <a:tr h="237744">
                <a:tc>
                  <a:txBody>
                    <a:bodyPr/>
                    <a:lstStyle/>
                    <a:p>
                      <a:pPr algn="l">
                        <a:defRPr sz="660" b="1">
                          <a:solidFill>
                            <a:srgbClr val="FFFFFF"/>
                          </a:solidFill>
                          <a:latin typeface="Open Sans"/>
                        </a:defRPr>
                      </a:pPr>
                      <a:r>
                        <a:t>Regime</a:t>
                      </a:r>
                    </a:p>
                  </a:txBody>
                  <a:tcPr marL="54864" marR="54864" marT="18288" marB="18288" anchor="ctr">
                    <a:solidFill>
                      <a:srgbClr val="C8102E"/>
                    </a:solidFill>
                  </a:tcPr>
                </a:tc>
                <a:tc>
                  <a:txBody>
                    <a:bodyPr/>
                    <a:lstStyle/>
                    <a:p>
                      <a:pPr algn="r">
                        <a:defRPr sz="660" b="1">
                          <a:solidFill>
                            <a:srgbClr val="FFFFFF"/>
                          </a:solidFill>
                          <a:latin typeface="Open Sans"/>
                        </a:defRPr>
                      </a:pPr>
                      <a:r>
                        <a:t>n</a:t>
                      </a:r>
                    </a:p>
                  </a:txBody>
                  <a:tcPr marL="54864" marR="54864" marT="18288" marB="18288" anchor="ctr">
                    <a:solidFill>
                      <a:srgbClr val="C8102E"/>
                    </a:solidFill>
                  </a:tcPr>
                </a:tc>
                <a:tc>
                  <a:txBody>
                    <a:bodyPr/>
                    <a:lstStyle/>
                    <a:p>
                      <a:pPr algn="r">
                        <a:defRPr sz="660" b="1">
                          <a:solidFill>
                            <a:srgbClr val="FFFFFF"/>
                          </a:solidFill>
                          <a:latin typeface="Open Sans"/>
                        </a:defRPr>
                      </a:pPr>
                      <a:r>
                        <a:t>Al skill</a:t>
                      </a:r>
                    </a:p>
                  </a:txBody>
                  <a:tcPr marL="54864" marR="54864" marT="18288" marB="18288" anchor="ctr">
                    <a:solidFill>
                      <a:srgbClr val="C8102E"/>
                    </a:solidFill>
                  </a:tcPr>
                </a:tc>
                <a:tc>
                  <a:txBody>
                    <a:bodyPr/>
                    <a:lstStyle/>
                    <a:p>
                      <a:pPr algn="r">
                        <a:defRPr sz="660" b="1">
                          <a:solidFill>
                            <a:srgbClr val="FFFFFF"/>
                          </a:solidFill>
                          <a:latin typeface="Open Sans"/>
                        </a:defRPr>
                      </a:pPr>
                      <a:r>
                        <a:t>Al cov.</a:t>
                      </a:r>
                    </a:p>
                  </a:txBody>
                  <a:tcPr marL="54864" marR="54864" marT="18288" marB="18288" anchor="ctr">
                    <a:solidFill>
                      <a:srgbClr val="C8102E"/>
                    </a:solidFill>
                  </a:tcPr>
                </a:tc>
                <a:tc>
                  <a:txBody>
                    <a:bodyPr/>
                    <a:lstStyle/>
                    <a:p>
                      <a:pPr algn="r">
                        <a:defRPr sz="660" b="1">
                          <a:solidFill>
                            <a:srgbClr val="FFFFFF"/>
                          </a:solidFill>
                          <a:latin typeface="Open Sans"/>
                        </a:defRPr>
                      </a:pPr>
                      <a:r>
                        <a:t>PVC skill</a:t>
                      </a:r>
                    </a:p>
                  </a:txBody>
                  <a:tcPr marL="54864" marR="54864" marT="18288" marB="18288" anchor="ctr">
                    <a:solidFill>
                      <a:srgbClr val="C8102E"/>
                    </a:solidFill>
                  </a:tcPr>
                </a:tc>
                <a:tc>
                  <a:txBody>
                    <a:bodyPr/>
                    <a:lstStyle/>
                    <a:p>
                      <a:pPr algn="r">
                        <a:defRPr sz="660" b="1">
                          <a:solidFill>
                            <a:srgbClr val="FFFFFF"/>
                          </a:solidFill>
                          <a:latin typeface="Open Sans"/>
                        </a:defRPr>
                      </a:pPr>
                      <a:r>
                        <a:t>PVC cov.</a:t>
                      </a:r>
                    </a:p>
                  </a:txBody>
                  <a:tcPr marL="54864" marR="54864" marT="18288" marB="18288" anchor="ctr">
                    <a:solidFill>
                      <a:srgbClr val="C8102E"/>
                    </a:solidFill>
                  </a:tcPr>
                </a:tc>
              </a:tr>
              <a:tr h="256032">
                <a:tc>
                  <a:txBody>
                    <a:bodyPr/>
                    <a:lstStyle/>
                    <a:p>
                      <a:pPr algn="l">
                        <a:defRPr sz="720" b="0">
                          <a:solidFill>
                            <a:srgbClr val="4A4D55"/>
                          </a:solidFill>
                          <a:latin typeface="Open Sans"/>
                        </a:defRPr>
                      </a:pPr>
                      <a:r>
                        <a:t>Calm (2018-2019)</a:t>
                      </a:r>
                    </a:p>
                  </a:txBody>
                  <a:tcPr marL="54864" marR="54864" marT="13716" marB="13716" anchor="ctr">
                    <a:solidFill>
                      <a:srgbClr val="FFFFFF"/>
                    </a:solidFill>
                  </a:tcPr>
                </a:tc>
                <a:tc>
                  <a:txBody>
                    <a:bodyPr/>
                    <a:lstStyle/>
                    <a:p>
                      <a:pPr algn="r">
                        <a:defRPr sz="720" b="0">
                          <a:solidFill>
                            <a:srgbClr val="4A4D55"/>
                          </a:solidFill>
                          <a:latin typeface="Open Sans"/>
                        </a:defRPr>
                      </a:pPr>
                      <a:r>
                        <a:t>24</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+1.1%</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79%</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+4.3%</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71%</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COVID Shock (2020)</a:t>
                      </a:r>
                    </a:p>
                  </a:txBody>
                  <a:tcPr marL="54864" marR="54864" marT="13716" marB="13716" anchor="ctr">
                    <a:solidFill>
                      <a:srgbClr val="FFFFFF"/>
                    </a:solidFill>
                  </a:tcPr>
                </a:tc>
                <a:tc>
                  <a:txBody>
                    <a:bodyPr/>
                    <a:lstStyle/>
                    <a:p>
                      <a:pPr algn="r">
                        <a:defRPr sz="720" b="0">
                          <a:solidFill>
                            <a:srgbClr val="4A4D55"/>
                          </a:solidFill>
                          <a:latin typeface="Open Sans"/>
                        </a:defRPr>
                      </a:pPr>
                      <a:r>
                        <a:t>12</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+8.8%</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50%</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+13.9%</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42%</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Spike/Rally (2021-2022 H1)</a:t>
                      </a:r>
                    </a:p>
                  </a:txBody>
                  <a:tcPr marL="54864" marR="54864" marT="13716" marB="13716" anchor="ctr">
                    <a:solidFill>
                      <a:srgbClr val="FFFFFF"/>
                    </a:solidFill>
                  </a:tcPr>
                </a:tc>
                <a:tc>
                  <a:txBody>
                    <a:bodyPr/>
                    <a:lstStyle/>
                    <a:p>
                      <a:pPr algn="r">
                        <a:defRPr sz="720" b="0">
                          <a:solidFill>
                            <a:srgbClr val="4A4D55"/>
                          </a:solidFill>
                          <a:latin typeface="Open Sans"/>
                        </a:defRPr>
                      </a:pPr>
                      <a:r>
                        <a:t>18</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+5.8%</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56%</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+12.5%</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67%</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Slide/Normalization (2022 H2-2024)</a:t>
                      </a:r>
                    </a:p>
                  </a:txBody>
                  <a:tcPr marL="54864" marR="54864" marT="13716" marB="13716" anchor="ctr">
                    <a:solidFill>
                      <a:srgbClr val="FFFFFF"/>
                    </a:solidFill>
                  </a:tcPr>
                </a:tc>
                <a:tc>
                  <a:txBody>
                    <a:bodyPr/>
                    <a:lstStyle/>
                    <a:p>
                      <a:pPr algn="r">
                        <a:defRPr sz="720" b="0">
                          <a:solidFill>
                            <a:srgbClr val="4A4D55"/>
                          </a:solidFill>
                          <a:latin typeface="Open Sans"/>
                        </a:defRPr>
                      </a:pPr>
                      <a:r>
                        <a:t>27/30</a:t>
                      </a:r>
                    </a:p>
                  </a:txBody>
                  <a:tcPr marL="54864" marR="54864" marT="13716" marB="13716" anchor="ctr">
                    <a:solidFill>
                      <a:srgbClr val="FFFFFF"/>
                    </a:solidFill>
                  </a:tcPr>
                </a:tc>
                <a:tc>
                  <a:txBody>
                    <a:bodyPr/>
                    <a:lstStyle/>
                    <a:p>
                      <a:pPr algn="r">
                        <a:defRPr sz="720" b="0">
                          <a:solidFill>
                            <a:srgbClr val="C8102E"/>
                          </a:solidFill>
                          <a:latin typeface="Open Sans"/>
                        </a:defRPr>
                      </a:pPr>
                      <a:r>
                        <a:rPr sz="720" b="0">
                          <a:solidFill>
                            <a:srgbClr val="C8102E"/>
                          </a:solidFill>
                          <a:latin typeface="Open Sans"/>
                        </a:rPr>
                        <a:t>−1.6%</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89%</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+1.0%</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93%</a:t>
                      </a:r>
                    </a:p>
                  </a:txBody>
                  <a:tcPr marL="54864" marR="54864" marT="13716" marB="13716" anchor="ctr">
                    <a:solidFill>
                      <a:srgbClr val="FFFFFF"/>
                    </a:solidFill>
                  </a:tcPr>
                </a:tc>
              </a:tr>
            </a:tbl>
          </a:graphicData>
        </a:graphic>
      </p:graphicFrame>
      <p:sp>
        <p:nvSpPr>
          <p:cNvPr id="38" name="TextBox 37"/>
          <p:cNvSpPr txBox="1"/>
          <p:nvPr/>
        </p:nvSpPr>
        <p:spPr>
          <a:xfrm>
            <a:off x="6812280" y="6035040"/>
            <a:ext cx="489204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Band coverage still drops in shocks (42–67%), so the regime kill switch stays.</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Training rows embargoed: outcome published before the origin. Selection, tuning and early stopping happen inside each fold. [1] Tashman (2000), IJF 16(4). [2] Diebold &amp; Mariano (1995), JBES 13(3), with Harvey–Leybourne–Newbold correction and Newey–West variance at lag h−1.</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5 /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A1 Value chain</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A2 Data &amp; leakage</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rPr sz="950" b="1" i="0">
                <a:solidFill>
                  <a:srgbClr val="FFFFFF"/>
                </a:solidFill>
                <a:latin typeface="Open Sans"/>
              </a:rPr>
              <a:t>A3 Bands</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rPr sz="950" b="1" i="0">
                <a:solidFill>
                  <a:srgbClr val="4A4D55"/>
                </a:solidFill>
                <a:latin typeface="Open Sans"/>
              </a:rPr>
              <a:t xml:space="preserve"> </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A 3  ·  A P P E N D I X  ·  U N C E R T A I N T Y   B A N D S</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The bands are the product: calibration now exists and lifts coverage to 66–78%,</a:t>
            </a:r>
          </a:p>
          <a:p>
            <a:pPr algn="l">
              <a:lnSpc>
                <a:spcPct val="112000"/>
              </a:lnSpc>
              <a:defRPr sz="1700" b="1" i="0">
                <a:solidFill>
                  <a:srgbClr val="16181D"/>
                </a:solidFill>
                <a:latin typeface="Open Sans"/>
              </a:defRPr>
            </a:pPr>
            <a:r>
              <a:t>still short of the gate at longer horizons and in shocks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 — 80% band coverage against the 75–85% gate</a:t>
            </a:r>
          </a:p>
        </p:txBody>
      </p:sp>
      <p:pic>
        <p:nvPicPr>
          <p:cNvPr id="15" name="Picture 14" descr="aluminium_bands.png"/>
          <p:cNvPicPr>
            <a:picLocks noChangeAspect="1"/>
          </p:cNvPicPr>
          <p:nvPr/>
        </p:nvPicPr>
        <p:blipFill>
          <a:blip r:embed="rId2"/>
          <a:stretch>
            <a:fillRect/>
          </a:stretch>
        </p:blipFill>
        <p:spPr>
          <a:xfrm>
            <a:off x="502920" y="2029968"/>
            <a:ext cx="5029200" cy="2011680"/>
          </a:xfrm>
          <a:prstGeom prst="rect">
            <a:avLst/>
          </a:prstGeom>
        </p:spPr>
      </p:pic>
      <p:sp>
        <p:nvSpPr>
          <p:cNvPr id="16" name="TextBox 15"/>
          <p:cNvSpPr txBox="1"/>
          <p:nvPr/>
        </p:nvSpPr>
        <p:spPr>
          <a:xfrm>
            <a:off x="502920" y="416052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a:t>
            </a:r>
          </a:p>
        </p:txBody>
      </p:sp>
      <p:pic>
        <p:nvPicPr>
          <p:cNvPr id="17" name="Picture 16" descr="pvc_bands.png"/>
          <p:cNvPicPr>
            <a:picLocks noChangeAspect="1"/>
          </p:cNvPicPr>
          <p:nvPr/>
        </p:nvPicPr>
        <p:blipFill>
          <a:blip r:embed="rId3"/>
          <a:stretch>
            <a:fillRect/>
          </a:stretch>
        </p:blipFill>
        <p:spPr>
          <a:xfrm>
            <a:off x="502920" y="4407408"/>
            <a:ext cx="5029200" cy="1874519"/>
          </a:xfrm>
          <a:prstGeom prst="rect">
            <a:avLst/>
          </a:prstGeom>
        </p:spPr>
      </p:pic>
      <p:sp>
        <p:nvSpPr>
          <p:cNvPr id="18" name="TextBox 17"/>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numbers say</a:t>
            </a:r>
          </a:p>
        </p:txBody>
      </p:sp>
      <p:graphicFrame>
        <p:nvGraphicFramePr>
          <p:cNvPr id="19" name="Table 18"/>
          <p:cNvGraphicFramePr>
            <a:graphicFrameLocks noGrp="1"/>
          </p:cNvGraphicFramePr>
          <p:nvPr/>
        </p:nvGraphicFramePr>
        <p:xfrm>
          <a:off x="6263640" y="2066543"/>
          <a:ext cx="5440677" cy="1773936"/>
        </p:xfrm>
        <a:graphic>
          <a:graphicData uri="http://schemas.openxmlformats.org/drawingml/2006/table">
            <a:tbl>
              <a:tblPr>
                <a:tableStyleId>{5C22544A-7EE6-4342-B048-85BDC9FD1C3A}</a:tableStyleId>
              </a:tblPr>
              <a:tblGrid>
                <a:gridCol w="1005840"/>
                <a:gridCol w="1188719"/>
                <a:gridCol w="1234440"/>
                <a:gridCol w="1188719"/>
                <a:gridCol w="822959"/>
              </a:tblGrid>
              <a:tr h="237744">
                <a:tc>
                  <a:txBody>
                    <a:bodyPr/>
                    <a:lstStyle/>
                    <a:p>
                      <a:pPr algn="l">
                        <a:defRPr sz="700" b="1">
                          <a:solidFill>
                            <a:srgbClr val="FFFFFF"/>
                          </a:solidFill>
                          <a:latin typeface="Open Sans"/>
                        </a:defRPr>
                      </a:pPr>
                      <a:r>
                        <a:t>Horizon</a:t>
                      </a:r>
                    </a:p>
                  </a:txBody>
                  <a:tcPr marL="54864" marR="54864" marT="18288" marB="18288" anchor="ctr">
                    <a:solidFill>
                      <a:srgbClr val="C8102E"/>
                    </a:solidFill>
                  </a:tcPr>
                </a:tc>
                <a:tc>
                  <a:txBody>
                    <a:bodyPr/>
                    <a:lstStyle/>
                    <a:p>
                      <a:pPr algn="r">
                        <a:defRPr sz="700" b="1">
                          <a:solidFill>
                            <a:srgbClr val="FFFFFF"/>
                          </a:solidFill>
                          <a:latin typeface="Open Sans"/>
                        </a:defRPr>
                      </a:pPr>
                      <a:r>
                        <a:t>Al calibrated</a:t>
                      </a:r>
                    </a:p>
                  </a:txBody>
                  <a:tcPr marL="54864" marR="54864" marT="18288" marB="18288" anchor="ctr">
                    <a:solidFill>
                      <a:srgbClr val="C8102E"/>
                    </a:solidFill>
                  </a:tcPr>
                </a:tc>
                <a:tc>
                  <a:txBody>
                    <a:bodyPr/>
                    <a:lstStyle/>
                    <a:p>
                      <a:pPr algn="r">
                        <a:defRPr sz="700" b="1">
                          <a:solidFill>
                            <a:srgbClr val="FFFFFF"/>
                          </a:solidFill>
                          <a:latin typeface="Open Sans"/>
                        </a:defRPr>
                      </a:pPr>
                      <a:r>
                        <a:t>PVC calibrated</a:t>
                      </a:r>
                    </a:p>
                  </a:txBody>
                  <a:tcPr marL="54864" marR="54864" marT="18288" marB="18288" anchor="ctr">
                    <a:solidFill>
                      <a:srgbClr val="C8102E"/>
                    </a:solidFill>
                  </a:tcPr>
                </a:tc>
                <a:tc>
                  <a:txBody>
                    <a:bodyPr/>
                    <a:lstStyle/>
                    <a:p>
                      <a:pPr algn="r">
                        <a:defRPr sz="700" b="1">
                          <a:solidFill>
                            <a:srgbClr val="FFFFFF"/>
                          </a:solidFill>
                          <a:latin typeface="Open Sans"/>
                        </a:defRPr>
                      </a:pPr>
                      <a:r>
                        <a:t>PVC holdout</a:t>
                      </a:r>
                    </a:p>
                  </a:txBody>
                  <a:tcPr marL="54864" marR="54864" marT="18288" marB="18288" anchor="ctr">
                    <a:solidFill>
                      <a:srgbClr val="C8102E"/>
                    </a:solidFill>
                  </a:tcPr>
                </a:tc>
                <a:tc>
                  <a:txBody>
                    <a:bodyPr/>
                    <a:lstStyle/>
                    <a:p>
                      <a:pPr algn="r">
                        <a:defRPr sz="700" b="1">
                          <a:solidFill>
                            <a:srgbClr val="FFFFFF"/>
                          </a:solidFill>
                          <a:latin typeface="Open Sans"/>
                        </a:defRPr>
                      </a:pPr>
                      <a:r>
                        <a:t>Gate  Al / PVC</a:t>
                      </a:r>
                    </a:p>
                  </a:txBody>
                  <a:tcPr marL="54864" marR="54864" marT="18288" marB="18288" anchor="ctr">
                    <a:solidFill>
                      <a:srgbClr val="C8102E"/>
                    </a:solidFill>
                  </a:tcPr>
                </a:tc>
              </a:tr>
              <a:tr h="256032">
                <a:tc>
                  <a:txBody>
                    <a:bodyPr/>
                    <a:lstStyle/>
                    <a:p>
                      <a:pPr algn="l">
                        <a:defRPr sz="760" b="0">
                          <a:solidFill>
                            <a:srgbClr val="4A4D55"/>
                          </a:solidFill>
                          <a:latin typeface="Open Sans"/>
                        </a:defRPr>
                      </a:pPr>
                      <a:r>
                        <a:t>1 mo</a:t>
                      </a:r>
                    </a:p>
                  </a:txBody>
                  <a:tcPr marL="54864" marR="54864" marT="13716" marB="13716" anchor="ctr">
                    <a:solidFill>
                      <a:srgbClr val="FFFFFF"/>
                    </a:solidFill>
                  </a:tcPr>
                </a:tc>
                <a:tc>
                  <a:txBody>
                    <a:bodyPr/>
                    <a:lstStyle/>
                    <a:p>
                      <a:pPr algn="r">
                        <a:defRPr sz="760" b="0">
                          <a:solidFill>
                            <a:srgbClr val="4A4D55"/>
                          </a:solidFill>
                          <a:latin typeface="Open Sans"/>
                        </a:defRPr>
                      </a:pPr>
                      <a:r>
                        <a:t>78.2%</a:t>
                      </a:r>
                    </a:p>
                  </a:txBody>
                  <a:tcPr marL="54864" marR="54864" marT="13716" marB="13716" anchor="ctr">
                    <a:solidFill>
                      <a:srgbClr val="FFFFFF"/>
                    </a:solidFill>
                  </a:tcPr>
                </a:tc>
                <a:tc>
                  <a:txBody>
                    <a:bodyPr/>
                    <a:lstStyle/>
                    <a:p>
                      <a:pPr algn="r">
                        <a:defRPr sz="760" b="0">
                          <a:solidFill>
                            <a:srgbClr val="4A4D55"/>
                          </a:solidFill>
                          <a:latin typeface="Open Sans"/>
                        </a:defRPr>
                      </a:pPr>
                      <a:r>
                        <a:t>76.9%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78.9%</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pass / pass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2 mo</a:t>
                      </a:r>
                    </a:p>
                  </a:txBody>
                  <a:tcPr marL="54864" marR="54864" marT="13716" marB="13716" anchor="ctr">
                    <a:solidFill>
                      <a:srgbClr val="FFFFFF"/>
                    </a:solidFill>
                  </a:tcPr>
                </a:tc>
                <a:tc>
                  <a:txBody>
                    <a:bodyPr/>
                    <a:lstStyle/>
                    <a:p>
                      <a:pPr algn="r">
                        <a:defRPr sz="760" b="0">
                          <a:solidFill>
                            <a:srgbClr val="4A4D55"/>
                          </a:solidFill>
                          <a:latin typeface="Open Sans"/>
                        </a:defRPr>
                      </a:pPr>
                      <a:r>
                        <a:t>73.1%</a:t>
                      </a:r>
                    </a:p>
                  </a:txBody>
                  <a:tcPr marL="54864" marR="54864" marT="13716" marB="13716" anchor="ctr">
                    <a:solidFill>
                      <a:srgbClr val="FFFFFF"/>
                    </a:solidFill>
                  </a:tcPr>
                </a:tc>
                <a:tc>
                  <a:txBody>
                    <a:bodyPr/>
                    <a:lstStyle/>
                    <a:p>
                      <a:pPr algn="r">
                        <a:defRPr sz="760" b="0">
                          <a:solidFill>
                            <a:srgbClr val="4A4D55"/>
                          </a:solidFill>
                          <a:latin typeface="Open Sans"/>
                        </a:defRPr>
                      </a:pPr>
                      <a:r>
                        <a:t>74.4%</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77.8%</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3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76.5%</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4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67.9%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81.2%</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5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66.7%</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73.3%</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6 mo</a:t>
                      </a:r>
                    </a:p>
                  </a:txBody>
                  <a:tcPr marL="54864" marR="54864" marT="13716" marB="13716" anchor="ctr">
                    <a:solidFill>
                      <a:srgbClr val="FFFFFF"/>
                    </a:solidFill>
                  </a:tcPr>
                </a:tc>
                <a:tc>
                  <a:txBody>
                    <a:bodyPr/>
                    <a:lstStyle/>
                    <a:p>
                      <a:pPr algn="r">
                        <a:defRPr sz="760" b="0">
                          <a:solidFill>
                            <a:srgbClr val="4A4D55"/>
                          </a:solidFill>
                          <a:latin typeface="Open Sans"/>
                        </a:defRPr>
                      </a:pPr>
                      <a:r>
                        <a:t>70.5%</a:t>
                      </a:r>
                    </a:p>
                  </a:txBody>
                  <a:tcPr marL="54864" marR="54864" marT="13716" marB="13716" anchor="ctr">
                    <a:solidFill>
                      <a:srgbClr val="FFFFFF"/>
                    </a:solidFill>
                  </a:tcPr>
                </a:tc>
                <a:tc>
                  <a:txBody>
                    <a:bodyPr/>
                    <a:lstStyle/>
                    <a:p>
                      <a:pPr algn="r">
                        <a:defRPr sz="760" b="0">
                          <a:solidFill>
                            <a:srgbClr val="4A4D55"/>
                          </a:solidFill>
                          <a:latin typeface="Open Sans"/>
                        </a:defRPr>
                      </a:pPr>
                      <a:r>
                        <a:t>67.9%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78.6%</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bl>
          </a:graphicData>
        </a:graphic>
      </p:graphicFrame>
      <p:sp>
        <p:nvSpPr>
          <p:cNvPr id="20" name="TextBox 19"/>
          <p:cNvSpPr txBox="1"/>
          <p:nvPr/>
        </p:nvSpPr>
        <p:spPr>
          <a:xfrm>
            <a:off x="6263640" y="39319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diagnosis</a:t>
            </a:r>
          </a:p>
        </p:txBody>
      </p:sp>
      <p:sp>
        <p:nvSpPr>
          <p:cNvPr id="21" name="TextBox 20"/>
          <p:cNvSpPr txBox="1"/>
          <p:nvPr/>
        </p:nvSpPr>
        <p:spPr>
          <a:xfrm>
            <a:off x="6263640" y="422452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2" name="TextBox 21"/>
          <p:cNvSpPr txBox="1"/>
          <p:nvPr/>
        </p:nvSpPr>
        <p:spPr>
          <a:xfrm>
            <a:off x="6382512" y="4224528"/>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Normalised split-conformal around the forecast, scaled by a GARCH(1,1) volatility forecast, using only realised past errors.</a:t>
            </a:r>
          </a:p>
        </p:txBody>
      </p:sp>
      <p:sp>
        <p:nvSpPr>
          <p:cNvPr id="23" name="TextBox 22"/>
          <p:cNvSpPr txBox="1"/>
          <p:nvPr/>
        </p:nvSpPr>
        <p:spPr>
          <a:xfrm>
            <a:off x="6263640" y="462686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4" name="TextBox 23"/>
          <p:cNvSpPr txBox="1"/>
          <p:nvPr/>
        </p:nvSpPr>
        <p:spPr>
          <a:xfrm>
            <a:off x="6382512" y="4626864"/>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It lifts coverage by up to 13 points over the uncalibrated band (aluminium h=6: 57.7% → 70.5%).</a:t>
            </a:r>
          </a:p>
        </p:txBody>
      </p:sp>
      <p:sp>
        <p:nvSpPr>
          <p:cNvPr id="25" name="TextBox 24"/>
          <p:cNvSpPr txBox="1"/>
          <p:nvPr/>
        </p:nvSpPr>
        <p:spPr>
          <a:xfrm>
            <a:off x="6263640" y="5029200"/>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6" name="TextBox 25"/>
          <p:cNvSpPr txBox="1"/>
          <p:nvPr/>
        </p:nvSpPr>
        <p:spPr>
          <a:xfrm>
            <a:off x="6382512" y="5029200"/>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Round 2 claimed this step, but the code never had it: its 55–65% was raw, uncalibrated coverage.</a:t>
            </a:r>
          </a:p>
        </p:txBody>
      </p:sp>
      <p:sp>
        <p:nvSpPr>
          <p:cNvPr id="27" name="TextBox 26"/>
          <p:cNvSpPr txBox="1"/>
          <p:nvPr/>
        </p:nvSpPr>
        <p:spPr>
          <a:xfrm>
            <a:off x="6263640" y="543153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8" name="TextBox 27"/>
          <p:cNvSpPr txBox="1"/>
          <p:nvPr/>
        </p:nvSpPr>
        <p:spPr>
          <a:xfrm>
            <a:off x="6382512" y="5431536"/>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Coverage still drops in shocks (42–67% at h=3). The PVC holdout lands at 73–81%.</a:t>
            </a:r>
          </a:p>
        </p:txBody>
      </p:sp>
      <p:sp>
        <p:nvSpPr>
          <p:cNvPr id="29" name="TextBox 28"/>
          <p:cNvSpPr txBox="1"/>
          <p:nvPr/>
        </p:nvSpPr>
        <p:spPr>
          <a:xfrm>
            <a:off x="6263640" y="5943600"/>
            <a:ext cx="544068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Consequence for the decision rule. The 60% confidence gate and the regime kill switch stay, because the band still understates tail risk in shocks.</a:t>
            </a:r>
          </a:p>
        </p:txBody>
      </p:sp>
      <p:sp>
        <p:nvSpPr>
          <p:cNvPr id="30" name="TextBox 29"/>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Score = |error| / GARCH σ on realised past forecasts; band = forecast ± conformal 80% quantile × current σ. Coverage is measured, not assumed. [1] Vovk, Gammerman &amp; Shafer (2005). [2] Bollerslev (1986).</a:t>
            </a:r>
          </a:p>
        </p:txBody>
      </p:sp>
      <p:sp>
        <p:nvSpPr>
          <p:cNvPr id="31" name="TextBox 30"/>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A3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majorFont>
      <a:min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