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4910328"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566928"/>
            <a:ext cx="3840480" cy="182880"/>
          </a:xfrm>
          <a:prstGeom prst="rect">
            <a:avLst/>
          </a:prstGeom>
          <a:noFill/>
        </p:spPr>
        <p:txBody>
          <a:bodyPr wrap="square" lIns="0" rIns="0" tIns="0" bIns="0">
            <a:spAutoFit/>
          </a:bodyPr>
          <a:lstStyle/>
          <a:p>
            <a:pPr algn="l">
              <a:lnSpc>
                <a:spcPct val="115000"/>
              </a:lnSpc>
              <a:defRPr sz="850" b="1" i="0">
                <a:solidFill>
                  <a:srgbClr val="FFFFFF"/>
                </a:solidFill>
                <a:latin typeface="Poppins"/>
              </a:defRPr>
            </a:pPr>
            <a:r>
              <a:t>A C G  ·  F I L M S   &amp;   F O I L S</a:t>
            </a:r>
          </a:p>
        </p:txBody>
      </p:sp>
      <p:sp>
        <p:nvSpPr>
          <p:cNvPr id="5" name="TextBox 4"/>
          <p:cNvSpPr txBox="1"/>
          <p:nvPr/>
        </p:nvSpPr>
        <p:spPr>
          <a:xfrm>
            <a:off x="566928" y="777240"/>
            <a:ext cx="3840480" cy="201168"/>
          </a:xfrm>
          <a:prstGeom prst="rect">
            <a:avLst/>
          </a:prstGeom>
          <a:noFill/>
        </p:spPr>
        <p:txBody>
          <a:bodyPr wrap="square" lIns="0" rIns="0" tIns="0" bIns="0">
            <a:spAutoFit/>
          </a:bodyPr>
          <a:lstStyle/>
          <a:p>
            <a:pPr algn="l">
              <a:lnSpc>
                <a:spcPct val="115000"/>
              </a:lnSpc>
              <a:defRPr sz="950" b="0" i="0">
                <a:solidFill>
                  <a:srgbClr val="F5C8D0"/>
                </a:solidFill>
                <a:latin typeface="Poppins"/>
              </a:defRPr>
            </a:pPr>
            <a:r>
              <a:t>Digital &amp; AI | Procurement | Strategic Sourcing</a:t>
            </a:r>
          </a:p>
        </p:txBody>
      </p:sp>
      <p:sp>
        <p:nvSpPr>
          <p:cNvPr id="6" name="TextBox 5"/>
          <p:cNvSpPr txBox="1"/>
          <p:nvPr/>
        </p:nvSpPr>
        <p:spPr>
          <a:xfrm>
            <a:off x="530352" y="1874519"/>
            <a:ext cx="4206240" cy="914400"/>
          </a:xfrm>
          <a:prstGeom prst="rect">
            <a:avLst/>
          </a:prstGeom>
          <a:noFill/>
        </p:spPr>
        <p:txBody>
          <a:bodyPr wrap="square" lIns="0" rIns="0" tIns="0" bIns="0">
            <a:spAutoFit/>
          </a:bodyPr>
          <a:lstStyle/>
          <a:p>
            <a:pPr algn="l">
              <a:lnSpc>
                <a:spcPct val="115000"/>
              </a:lnSpc>
              <a:defRPr sz="4200" b="1" i="0">
                <a:solidFill>
                  <a:srgbClr val="FFFFFF"/>
                </a:solidFill>
                <a:latin typeface="Poppins"/>
              </a:defRPr>
            </a:pPr>
            <a:r>
              <a:t>Smart Buy</a:t>
            </a:r>
          </a:p>
        </p:txBody>
      </p:sp>
      <p:sp>
        <p:nvSpPr>
          <p:cNvPr id="7" name="TextBox 6"/>
          <p:cNvSpPr txBox="1"/>
          <p:nvPr/>
        </p:nvSpPr>
        <p:spPr>
          <a:xfrm>
            <a:off x="566928" y="2834640"/>
            <a:ext cx="3931920" cy="822960"/>
          </a:xfrm>
          <a:prstGeom prst="rect">
            <a:avLst/>
          </a:prstGeom>
          <a:noFill/>
        </p:spPr>
        <p:txBody>
          <a:bodyPr wrap="square" lIns="0" rIns="0" tIns="0" bIns="0">
            <a:spAutoFit/>
          </a:bodyPr>
          <a:lstStyle/>
          <a:p>
            <a:pPr algn="l">
              <a:lnSpc>
                <a:spcPct val="130000"/>
              </a:lnSpc>
              <a:defRPr sz="1350" b="0" i="0">
                <a:solidFill>
                  <a:srgbClr val="FBDDE2"/>
                </a:solidFill>
                <a:latin typeface="Poppins"/>
              </a:defRPr>
            </a:pPr>
            <a:r>
              <a:t>AI-based raw material price prediction</a:t>
            </a:r>
          </a:p>
          <a:p>
            <a:pPr algn="l">
              <a:lnSpc>
                <a:spcPct val="130000"/>
              </a:lnSpc>
              <a:defRPr sz="1350" b="0" i="0">
                <a:solidFill>
                  <a:srgbClr val="FBDDE2"/>
                </a:solidFill>
                <a:latin typeface="Poppins"/>
              </a:defRPr>
            </a:pPr>
            <a:r>
              <a:t>for aluminium and PVC resin</a:t>
            </a:r>
          </a:p>
        </p:txBody>
      </p:sp>
      <p:sp>
        <p:nvSpPr>
          <p:cNvPr id="8" name="TextBox 7"/>
          <p:cNvSpPr txBox="1"/>
          <p:nvPr/>
        </p:nvSpPr>
        <p:spPr>
          <a:xfrm>
            <a:off x="566928" y="3931920"/>
            <a:ext cx="3931920" cy="594360"/>
          </a:xfrm>
          <a:prstGeom prst="rect">
            <a:avLst/>
          </a:prstGeom>
          <a:noFill/>
        </p:spPr>
        <p:txBody>
          <a:bodyPr wrap="square" lIns="0" rIns="0" tIns="0" bIns="0">
            <a:spAutoFit/>
          </a:bodyPr>
          <a:lstStyle/>
          <a:p>
            <a:pPr algn="l">
              <a:lnSpc>
                <a:spcPct val="130000"/>
              </a:lnSpc>
              <a:defRPr sz="1050" b="1" i="0">
                <a:solidFill>
                  <a:srgbClr val="FFFFFF"/>
                </a:solidFill>
                <a:latin typeface="Poppins"/>
              </a:defRPr>
            </a:pPr>
            <a:r>
              <a:t>A 6-month forward pricing and decision system</a:t>
            </a:r>
          </a:p>
          <a:p>
            <a:pPr algn="l">
              <a:lnSpc>
                <a:spcPct val="130000"/>
              </a:lnSpc>
              <a:defRPr sz="1050" b="1" i="0">
                <a:solidFill>
                  <a:srgbClr val="FFFFFF"/>
                </a:solidFill>
                <a:latin typeface="Poppins"/>
              </a:defRPr>
            </a:pPr>
            <a:r>
              <a:t>that tells buyers when to buy ahead, buy normal,</a:t>
            </a:r>
          </a:p>
          <a:p>
            <a:pPr algn="l">
              <a:lnSpc>
                <a:spcPct val="130000"/>
              </a:lnSpc>
              <a:defRPr sz="1050" b="1" i="0">
                <a:solidFill>
                  <a:srgbClr val="FFFFFF"/>
                </a:solidFill>
                <a:latin typeface="Poppins"/>
              </a:defRPr>
            </a:pPr>
            <a:r>
              <a:t>or defer — net of carrying cost.</a:t>
            </a:r>
          </a:p>
        </p:txBody>
      </p:sp>
      <p:sp>
        <p:nvSpPr>
          <p:cNvPr id="9" name="TextBox 8"/>
          <p:cNvSpPr txBox="1"/>
          <p:nvPr/>
        </p:nvSpPr>
        <p:spPr>
          <a:xfrm>
            <a:off x="566928" y="5760720"/>
            <a:ext cx="3931920" cy="219456"/>
          </a:xfrm>
          <a:prstGeom prst="rect">
            <a:avLst/>
          </a:prstGeom>
          <a:noFill/>
        </p:spPr>
        <p:txBody>
          <a:bodyPr wrap="square" lIns="0" rIns="0" tIns="0" bIns="0">
            <a:spAutoFit/>
          </a:bodyPr>
          <a:lstStyle/>
          <a:p>
            <a:pPr algn="l">
              <a:lnSpc>
                <a:spcPct val="115000"/>
              </a:lnSpc>
              <a:defRPr sz="950" b="1" i="0">
                <a:solidFill>
                  <a:srgbClr val="FFFFFF"/>
                </a:solidFill>
                <a:latin typeface="Poppins"/>
              </a:defRPr>
            </a:pPr>
            <a:r>
              <a:t>Round 2  ·  Technology Category</a:t>
            </a:r>
          </a:p>
        </p:txBody>
      </p:sp>
      <p:sp>
        <p:nvSpPr>
          <p:cNvPr id="10" name="TextBox 9"/>
          <p:cNvSpPr txBox="1"/>
          <p:nvPr/>
        </p:nvSpPr>
        <p:spPr>
          <a:xfrm>
            <a:off x="566928" y="5998464"/>
            <a:ext cx="3931920" cy="219456"/>
          </a:xfrm>
          <a:prstGeom prst="rect">
            <a:avLst/>
          </a:prstGeom>
          <a:noFill/>
        </p:spPr>
        <p:txBody>
          <a:bodyPr wrap="square" lIns="0" rIns="0" tIns="0" bIns="0">
            <a:spAutoFit/>
          </a:bodyPr>
          <a:lstStyle/>
          <a:p>
            <a:pPr algn="l">
              <a:lnSpc>
                <a:spcPct val="115000"/>
              </a:lnSpc>
              <a:defRPr sz="900" b="0" i="0">
                <a:solidFill>
                  <a:srgbClr val="F5C8D0"/>
                </a:solidFill>
                <a:latin typeface="Poppins"/>
              </a:defRPr>
            </a:pPr>
            <a:r>
              <a:t>Audited prototype  ·  October 2026</a:t>
            </a:r>
          </a:p>
        </p:txBody>
      </p:sp>
      <p:sp>
        <p:nvSpPr>
          <p:cNvPr id="11" name="TextBox 10"/>
          <p:cNvSpPr txBox="1"/>
          <p:nvPr/>
        </p:nvSpPr>
        <p:spPr>
          <a:xfrm>
            <a:off x="5440680" y="566928"/>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T H E   B U S I N E S S   I M P A C T</a:t>
            </a:r>
          </a:p>
        </p:txBody>
      </p:sp>
      <p:sp>
        <p:nvSpPr>
          <p:cNvPr id="12" name="TextBox 11"/>
          <p:cNvSpPr txBox="1"/>
          <p:nvPr/>
        </p:nvSpPr>
        <p:spPr>
          <a:xfrm>
            <a:off x="5440680" y="804672"/>
            <a:ext cx="6263640" cy="914400"/>
          </a:xfrm>
          <a:prstGeom prst="rect">
            <a:avLst/>
          </a:prstGeom>
          <a:noFill/>
        </p:spPr>
        <p:txBody>
          <a:bodyPr wrap="square" lIns="0" rIns="0" tIns="0" bIns="0">
            <a:spAutoFit/>
          </a:bodyPr>
          <a:lstStyle/>
          <a:p>
            <a:pPr algn="l">
              <a:lnSpc>
                <a:spcPct val="135000"/>
              </a:lnSpc>
              <a:defRPr sz="1050" b="0" i="0">
                <a:solidFill>
                  <a:srgbClr val="4A4D55"/>
                </a:solidFill>
                <a:latin typeface="Poppins"/>
              </a:defRPr>
            </a:pPr>
            <a:r>
              <a:t>Aluminium and PVC resin are roughly 70% of manufacturing cost for pharmaceutical blister packs. A 1% move in RM price is ~0.7% of total manufacturing cost. Today, both are bought on judgement with no forward view of price.</a:t>
            </a:r>
          </a:p>
        </p:txBody>
      </p:sp>
      <p:cxnSp>
        <p:nvCxnSpPr>
          <p:cNvPr id="13" name="Connector 12"/>
          <p:cNvCxnSpPr/>
          <p:nvPr/>
        </p:nvCxnSpPr>
        <p:spPr>
          <a:xfrm>
            <a:off x="544068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4068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Poppins"/>
              </a:defRPr>
            </a:pPr>
            <a:r>
              <a:t>+20.7%</a:t>
            </a:r>
          </a:p>
        </p:txBody>
      </p:sp>
      <p:sp>
        <p:nvSpPr>
          <p:cNvPr id="15" name="TextBox 14"/>
          <p:cNvSpPr txBox="1"/>
          <p:nvPr/>
        </p:nvSpPr>
        <p:spPr>
          <a:xfrm>
            <a:off x="544068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PVC forecast skill over naïve at one</a:t>
            </a:r>
          </a:p>
          <a:p>
            <a:pPr algn="l">
              <a:lnSpc>
                <a:spcPct val="122000"/>
              </a:lnSpc>
              <a:defRPr sz="760" b="0" i="0">
                <a:solidFill>
                  <a:srgbClr val="7C8089"/>
                </a:solidFill>
                <a:latin typeface="Poppins"/>
              </a:defRPr>
            </a:pPr>
            <a:r>
              <a:t>month, significant (DM p = 0.0004)</a:t>
            </a:r>
          </a:p>
        </p:txBody>
      </p:sp>
      <p:cxnSp>
        <p:nvCxnSpPr>
          <p:cNvPr id="16" name="Connector 15"/>
          <p:cNvCxnSpPr/>
          <p:nvPr/>
        </p:nvCxnSpPr>
        <p:spPr>
          <a:xfrm>
            <a:off x="763524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3524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Poppins"/>
              </a:defRPr>
            </a:pPr>
            <a:r>
              <a:t>p = 0.002</a:t>
            </a:r>
          </a:p>
        </p:txBody>
      </p:sp>
      <p:sp>
        <p:nvSpPr>
          <p:cNvPr id="18" name="TextBox 17"/>
          <p:cNvSpPr txBox="1"/>
          <p:nvPr/>
        </p:nvSpPr>
        <p:spPr>
          <a:xfrm>
            <a:off x="763524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PVC buy/defer timing beats random;</a:t>
            </a:r>
          </a:p>
          <a:p>
            <a:pPr algn="l">
              <a:lnSpc>
                <a:spcPct val="122000"/>
              </a:lnSpc>
              <a:defRPr sz="760" b="0" i="0">
                <a:solidFill>
                  <a:srgbClr val="7C8089"/>
                </a:solidFill>
                <a:latin typeface="Poppins"/>
              </a:defRPr>
            </a:pPr>
            <a:r>
              <a:t>+0.45% net, ₹0.45 Cr per ₹100 Cr</a:t>
            </a:r>
          </a:p>
        </p:txBody>
      </p:sp>
      <p:cxnSp>
        <p:nvCxnSpPr>
          <p:cNvPr id="19" name="Connector 18"/>
          <p:cNvCxnSpPr/>
          <p:nvPr/>
        </p:nvCxnSpPr>
        <p:spPr>
          <a:xfrm>
            <a:off x="9829800" y="1965960"/>
            <a:ext cx="18745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829800" y="2048255"/>
            <a:ext cx="1874519" cy="347472"/>
          </a:xfrm>
          <a:prstGeom prst="rect">
            <a:avLst/>
          </a:prstGeom>
          <a:noFill/>
        </p:spPr>
        <p:txBody>
          <a:bodyPr wrap="square" lIns="0" rIns="0" tIns="0" bIns="0">
            <a:spAutoFit/>
          </a:bodyPr>
          <a:lstStyle/>
          <a:p>
            <a:pPr algn="l">
              <a:lnSpc>
                <a:spcPct val="115000"/>
              </a:lnSpc>
              <a:defRPr sz="2000" b="1" i="0">
                <a:solidFill>
                  <a:srgbClr val="C8102E"/>
                </a:solidFill>
                <a:latin typeface="Poppins"/>
              </a:defRPr>
            </a:pPr>
            <a:r>
              <a:t>64–78%</a:t>
            </a:r>
          </a:p>
        </p:txBody>
      </p:sp>
      <p:sp>
        <p:nvSpPr>
          <p:cNvPr id="21" name="TextBox 20"/>
          <p:cNvSpPr txBox="1"/>
          <p:nvPr/>
        </p:nvSpPr>
        <p:spPr>
          <a:xfrm>
            <a:off x="9829800" y="2520695"/>
            <a:ext cx="1874519"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band coverage after calibration,</a:t>
            </a:r>
          </a:p>
          <a:p>
            <a:pPr algn="l">
              <a:lnSpc>
                <a:spcPct val="122000"/>
              </a:lnSpc>
              <a:defRPr sz="760" b="0" i="0">
                <a:solidFill>
                  <a:srgbClr val="7C8089"/>
                </a:solidFill>
                <a:latin typeface="Poppins"/>
              </a:defRPr>
            </a:pPr>
            <a:r>
              <a:t>up from 55–65%; gate is 75–85%</a:t>
            </a:r>
          </a:p>
        </p:txBody>
      </p:sp>
      <p:cxnSp>
        <p:nvCxnSpPr>
          <p:cNvPr id="22" name="Connector 21"/>
          <p:cNvCxnSpPr/>
          <p:nvPr/>
        </p:nvCxnSpPr>
        <p:spPr>
          <a:xfrm>
            <a:off x="5440680" y="32918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40680" y="34290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W H A T   R O U N D   2   P R O V E S</a:t>
            </a:r>
          </a:p>
        </p:txBody>
      </p:sp>
      <p:sp>
        <p:nvSpPr>
          <p:cNvPr id="24" name="TextBox 23"/>
          <p:cNvSpPr txBox="1"/>
          <p:nvPr/>
        </p:nvSpPr>
        <p:spPr>
          <a:xfrm>
            <a:off x="5440680" y="3657600"/>
            <a:ext cx="6263640" cy="1097280"/>
          </a:xfrm>
          <a:prstGeom prst="rect">
            <a:avLst/>
          </a:prstGeom>
          <a:noFill/>
        </p:spPr>
        <p:txBody>
          <a:bodyPr wrap="square" lIns="0" rIns="0" tIns="0" bIns="0">
            <a:spAutoFit/>
          </a:bodyPr>
          <a:lstStyle/>
          <a:p>
            <a:pPr algn="l">
              <a:lnSpc>
                <a:spcPct val="135000"/>
              </a:lnSpc>
              <a:defRPr sz="950" b="0" i="0">
                <a:solidFill>
                  <a:srgbClr val="4A4D55"/>
                </a:solidFill>
                <a:latin typeface="Poppins"/>
              </a:defRPr>
            </a:pPr>
            <a:r>
              <a:t>We audited our own pipeline before this round and found three flaws: a simulated PVC price, drivers derived from the target, and a look-ahead leak in training. All three are fixed, and a test now proves the leak is gone. Under honest validation aluminium is near-efficient, while PVC shows significant 1–2 month skill. Every pre-set gate is reported unchanged, including the misses.</a:t>
            </a:r>
          </a:p>
        </p:txBody>
      </p:sp>
      <p:cxnSp>
        <p:nvCxnSpPr>
          <p:cNvPr id="25" name="Connector 24"/>
          <p:cNvCxnSpPr/>
          <p:nvPr/>
        </p:nvCxnSpPr>
        <p:spPr>
          <a:xfrm>
            <a:off x="5440680" y="48920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40680" y="50292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T E A M</a:t>
            </a:r>
          </a:p>
        </p:txBody>
      </p:sp>
      <p:graphicFrame>
        <p:nvGraphicFramePr>
          <p:cNvPr id="27" name="Table 26"/>
          <p:cNvGraphicFramePr>
            <a:graphicFrameLocks noGrp="1"/>
          </p:cNvGraphicFramePr>
          <p:nvPr/>
        </p:nvGraphicFramePr>
        <p:xfrm>
          <a:off x="5440680" y="5257800"/>
          <a:ext cx="6263640" cy="1261872"/>
        </p:xfrm>
        <a:graphic>
          <a:graphicData uri="http://schemas.openxmlformats.org/drawingml/2006/table">
            <a:tbl>
              <a:tblPr>
                <a:tableStyleId>{5C22544A-7EE6-4342-B048-85BDC9FD1C3A}</a:tableStyleId>
              </a:tblPr>
              <a:tblGrid>
                <a:gridCol w="1463040"/>
                <a:gridCol w="4800600"/>
              </a:tblGrid>
              <a:tr h="237744">
                <a:tc>
                  <a:txBody>
                    <a:bodyPr/>
                    <a:lstStyle/>
                    <a:p>
                      <a:pPr algn="l">
                        <a:defRPr sz="760" b="1">
                          <a:solidFill>
                            <a:srgbClr val="FFFFFF"/>
                          </a:solidFill>
                          <a:latin typeface="Poppins"/>
                        </a:defRPr>
                      </a:pPr>
                      <a:r>
                        <a:t>Team</a:t>
                      </a:r>
                    </a:p>
                  </a:txBody>
                  <a:tcPr marL="54864" marR="54864" marT="18288" marB="18288" anchor="ctr">
                    <a:solidFill>
                      <a:srgbClr val="C8102E"/>
                    </a:solidFill>
                  </a:tcPr>
                </a:tc>
                <a:tc>
                  <a:txBody>
                    <a:bodyPr/>
                    <a:lstStyle/>
                    <a:p>
                      <a:pPr algn="l">
                        <a:defRPr sz="760" b="1">
                          <a:solidFill>
                            <a:srgbClr val="FFFFFF"/>
                          </a:solidFill>
                          <a:latin typeface="Poppins"/>
                        </a:defRPr>
                      </a:pPr>
                      <a:r>
                        <a:t>Case Scouts</a:t>
                      </a:r>
                    </a:p>
                  </a:txBody>
                  <a:tcPr marL="54864" marR="54864" marT="18288" marB="18288" anchor="ctr">
                    <a:solidFill>
                      <a:srgbClr val="C8102E"/>
                    </a:solidFill>
                  </a:tcPr>
                </a:tc>
              </a:tr>
              <a:tr h="256032">
                <a:tc>
                  <a:txBody>
                    <a:bodyPr/>
                    <a:lstStyle/>
                    <a:p>
                      <a:pPr algn="l">
                        <a:defRPr sz="800" b="0">
                          <a:solidFill>
                            <a:srgbClr val="4A4D55"/>
                          </a:solidFill>
                          <a:latin typeface="Poppins"/>
                        </a:defRPr>
                      </a:pPr>
                      <a:r>
                        <a:t>Members</a:t>
                      </a:r>
                    </a:p>
                  </a:txBody>
                  <a:tcPr marL="54864" marR="54864" marT="13716" marB="13716" anchor="ctr">
                    <a:solidFill>
                      <a:srgbClr val="FFFFFF"/>
                    </a:solidFill>
                  </a:tcPr>
                </a:tc>
                <a:tc>
                  <a:txBody>
                    <a:bodyPr/>
                    <a:lstStyle/>
                    <a:p>
                      <a:pPr algn="l">
                        <a:defRPr sz="800" b="0">
                          <a:solidFill>
                            <a:srgbClr val="4A4D55"/>
                          </a:solidFill>
                          <a:latin typeface="Poppins"/>
                        </a:defRPr>
                      </a:pPr>
                      <a:r>
                        <a:t>Himanshu Mahale, Rudransh Verma, Sonali Kumari</a:t>
                      </a:r>
                    </a:p>
                  </a:txBody>
                  <a:tcPr marL="54864" marR="54864" marT="13716" marB="13716" anchor="ctr">
                    <a:solidFill>
                      <a:srgbClr val="FFFFFF"/>
                    </a:solidFill>
                  </a:tcPr>
                </a:tc>
              </a:tr>
              <a:tr h="256032">
                <a:tc>
                  <a:txBody>
                    <a:bodyPr/>
                    <a:lstStyle/>
                    <a:p>
                      <a:pPr algn="l">
                        <a:defRPr sz="800" b="0">
                          <a:solidFill>
                            <a:srgbClr val="4A4D55"/>
                          </a:solidFill>
                          <a:latin typeface="Poppins"/>
                        </a:defRPr>
                      </a:pPr>
                      <a:r>
                        <a:t>Institute</a:t>
                      </a:r>
                    </a:p>
                  </a:txBody>
                  <a:tcPr marL="54864" marR="54864" marT="13716" marB="13716" anchor="ctr">
                    <a:solidFill>
                      <a:srgbClr val="FFFFFF"/>
                    </a:solidFill>
                  </a:tcPr>
                </a:tc>
                <a:tc>
                  <a:txBody>
                    <a:bodyPr/>
                    <a:lstStyle/>
                    <a:p>
                      <a:pPr algn="l">
                        <a:defRPr sz="800" b="0">
                          <a:solidFill>
                            <a:srgbClr val="4A4D55"/>
                          </a:solidFill>
                          <a:latin typeface="Poppins"/>
                        </a:defRPr>
                      </a:pPr>
                      <a:r>
                        <a:t>Indian Institute of Technology Kanpur, 2026</a:t>
                      </a:r>
                    </a:p>
                  </a:txBody>
                  <a:tcPr marL="54864" marR="54864" marT="13716" marB="13716" anchor="ctr">
                    <a:solidFill>
                      <a:srgbClr val="FFFFFF"/>
                    </a:solidFill>
                  </a:tcPr>
                </a:tc>
              </a:tr>
              <a:tr h="256032">
                <a:tc>
                  <a:txBody>
                    <a:bodyPr/>
                    <a:lstStyle/>
                    <a:p>
                      <a:pPr algn="l">
                        <a:defRPr sz="800" b="0">
                          <a:solidFill>
                            <a:srgbClr val="4A4D55"/>
                          </a:solidFill>
                          <a:latin typeface="Poppins"/>
                        </a:defRPr>
                      </a:pPr>
                      <a:r>
                        <a:t>Contact</a:t>
                      </a:r>
                    </a:p>
                  </a:txBody>
                  <a:tcPr marL="54864" marR="54864" marT="13716" marB="13716" anchor="ctr">
                    <a:solidFill>
                      <a:srgbClr val="FFFFFF"/>
                    </a:solidFill>
                  </a:tcPr>
                </a:tc>
                <a:tc>
                  <a:txBody>
                    <a:bodyPr/>
                    <a:lstStyle/>
                    <a:p>
                      <a:pPr algn="l">
                        <a:defRPr sz="800" b="0">
                          <a:solidFill>
                            <a:srgbClr val="4A4D55"/>
                          </a:solidFill>
                          <a:latin typeface="Poppins"/>
                        </a:defRPr>
                      </a:pPr>
                      <a:r>
                        <a:t>sonali23@iitk.ac.in,  +91 87899 84718</a:t>
                      </a:r>
                    </a:p>
                  </a:txBody>
                  <a:tcPr marL="54864" marR="54864" marT="13716" marB="13716" anchor="ctr">
                    <a:solidFill>
                      <a:srgbClr val="FFFFFF"/>
                    </a:solidFill>
                  </a:tcPr>
                </a:tc>
              </a:tr>
              <a:tr h="256032">
                <a:tc>
                  <a:txBody>
                    <a:bodyPr/>
                    <a:lstStyle/>
                    <a:p>
                      <a:pPr algn="l">
                        <a:defRPr sz="800" b="0">
                          <a:solidFill>
                            <a:srgbClr val="4A4D55"/>
                          </a:solidFill>
                          <a:latin typeface="Poppins"/>
                        </a:defRPr>
                      </a:pPr>
                      <a:r>
                        <a:t>Prototype</a:t>
                      </a:r>
                    </a:p>
                  </a:txBody>
                  <a:tcPr marL="54864" marR="54864" marT="13716" marB="13716" anchor="ctr">
                    <a:solidFill>
                      <a:srgbClr val="FFFFFF"/>
                    </a:solidFill>
                  </a:tcPr>
                </a:tc>
                <a:tc>
                  <a:txBody>
                    <a:bodyPr/>
                    <a:lstStyle/>
                    <a:p>
                      <a:pPr algn="l">
                        <a:defRPr sz="800" b="0">
                          <a:solidFill>
                            <a:srgbClr val="4A4D55"/>
                          </a:solidFill>
                          <a:latin typeface="Poppins"/>
                        </a:defRPr>
                      </a:pPr>
                      <a:r>
                        <a:t>Live dashboard, 15-slide deck, reproducible pipeline with leakage tests</a:t>
                      </a:r>
                    </a:p>
                  </a:txBody>
                  <a:tcPr marL="54864" marR="54864" marT="13716" marB="13716" anchor="ctr">
                    <a:solidFill>
                      <a:srgbClr val="FFFFFF"/>
                    </a:solidFill>
                  </a:tcPr>
                </a:tc>
              </a:tr>
            </a:tbl>
          </a:graphicData>
        </a:graphic>
      </p:graphicFrame>
      <p:sp>
        <p:nvSpPr>
          <p:cNvPr id="28" name="TextBox 27"/>
          <p:cNvSpPr txBox="1"/>
          <p:nvPr/>
        </p:nvSpPr>
        <p:spPr>
          <a:xfrm>
            <a:off x="5440680" y="6565392"/>
            <a:ext cx="6263640" cy="274320"/>
          </a:xfrm>
          <a:prstGeom prst="rect">
            <a:avLst/>
          </a:prstGeom>
          <a:noFill/>
        </p:spPr>
        <p:txBody>
          <a:bodyPr wrap="square" lIns="0" rIns="0" tIns="0" bIns="0">
            <a:spAutoFit/>
          </a:bodyPr>
          <a:lstStyle/>
          <a:p>
            <a:pPr algn="l">
              <a:lnSpc>
                <a:spcPct val="115000"/>
              </a:lnSpc>
              <a:defRPr sz="600" b="0" i="0">
                <a:solidFill>
                  <a:srgbClr val="7C8089"/>
                </a:solidFill>
                <a:latin typeface="Poppins"/>
              </a:defRPr>
            </a:pPr>
            <a:r>
              <a:t>Problem statement: "Smart Buy – AI based Raw Material Price Prediction", ACG Films &amp; Foils, Digital &amp; AI | Procurement | Strategic Sourcing.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30352"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Problem</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2  ·  P R O B L E M</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Aluminium and PVC resin are about 70% of manufacturing cost, and today both are bought</a:t>
            </a:r>
          </a:p>
          <a:p>
            <a:pPr algn="l">
              <a:lnSpc>
                <a:spcPct val="112000"/>
              </a:lnSpc>
              <a:defRPr sz="1700" b="1" i="0">
                <a:solidFill>
                  <a:srgbClr val="16181D"/>
                </a:solidFill>
                <a:latin typeface="Poppins"/>
              </a:defRPr>
            </a:pPr>
            <a:r>
              <a:t>on judgement with no view of where prices are going</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How buying works today, and where it breaks</a:t>
            </a:r>
          </a:p>
        </p:txBody>
      </p:sp>
      <p:sp>
        <p:nvSpPr>
          <p:cNvPr id="15" name="Rectangle 14"/>
          <p:cNvSpPr/>
          <p:nvPr/>
        </p:nvSpPr>
        <p:spPr>
          <a:xfrm>
            <a:off x="502920"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94360"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1</a:t>
            </a:r>
          </a:p>
        </p:txBody>
      </p:sp>
      <p:sp>
        <p:nvSpPr>
          <p:cNvPr id="17" name="TextBox 16"/>
          <p:cNvSpPr txBox="1"/>
          <p:nvPr/>
        </p:nvSpPr>
        <p:spPr>
          <a:xfrm>
            <a:off x="813816"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Demand forecast</a:t>
            </a:r>
          </a:p>
        </p:txBody>
      </p:sp>
      <p:sp>
        <p:nvSpPr>
          <p:cNvPr id="18" name="TextBox 17"/>
          <p:cNvSpPr txBox="1"/>
          <p:nvPr/>
        </p:nvSpPr>
        <p:spPr>
          <a:xfrm>
            <a:off x="594360"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Sales forecast, agreed with Operations</a:t>
            </a:r>
          </a:p>
        </p:txBody>
      </p:sp>
      <p:sp>
        <p:nvSpPr>
          <p:cNvPr id="19" name="TextBox 18"/>
          <p:cNvSpPr txBox="1"/>
          <p:nvPr/>
        </p:nvSpPr>
        <p:spPr>
          <a:xfrm>
            <a:off x="594360"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Poppins"/>
              </a:defRPr>
            </a:pPr>
            <a:r>
              <a:t>⚠  Manual, macro-level, built from past sales.</a:t>
            </a:r>
          </a:p>
        </p:txBody>
      </p:sp>
      <p:sp>
        <p:nvSpPr>
          <p:cNvPr id="20" name="Rectangle 19"/>
          <p:cNvSpPr/>
          <p:nvPr/>
        </p:nvSpPr>
        <p:spPr>
          <a:xfrm>
            <a:off x="2002536"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093976"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2</a:t>
            </a:r>
          </a:p>
        </p:txBody>
      </p:sp>
      <p:sp>
        <p:nvSpPr>
          <p:cNvPr id="22" name="TextBox 21"/>
          <p:cNvSpPr txBox="1"/>
          <p:nvPr/>
        </p:nvSpPr>
        <p:spPr>
          <a:xfrm>
            <a:off x="2313432"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RM requirement</a:t>
            </a:r>
          </a:p>
        </p:txBody>
      </p:sp>
      <p:sp>
        <p:nvSpPr>
          <p:cNvPr id="23" name="TextBox 22"/>
          <p:cNvSpPr txBox="1"/>
          <p:nvPr/>
        </p:nvSpPr>
        <p:spPr>
          <a:xfrm>
            <a:off x="2093976"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Worked out from the Bill of Materials</a:t>
            </a:r>
          </a:p>
        </p:txBody>
      </p:sp>
      <p:sp>
        <p:nvSpPr>
          <p:cNvPr id="24" name="Rectangle 23"/>
          <p:cNvSpPr/>
          <p:nvPr/>
        </p:nvSpPr>
        <p:spPr>
          <a:xfrm>
            <a:off x="3502152"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593592"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3</a:t>
            </a:r>
          </a:p>
        </p:txBody>
      </p:sp>
      <p:sp>
        <p:nvSpPr>
          <p:cNvPr id="26" name="TextBox 25"/>
          <p:cNvSpPr txBox="1"/>
          <p:nvPr/>
        </p:nvSpPr>
        <p:spPr>
          <a:xfrm>
            <a:off x="3813048"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Inventory check</a:t>
            </a:r>
          </a:p>
        </p:txBody>
      </p:sp>
      <p:sp>
        <p:nvSpPr>
          <p:cNvPr id="27" name="TextBox 26"/>
          <p:cNvSpPr txBox="1"/>
          <p:nvPr/>
        </p:nvSpPr>
        <p:spPr>
          <a:xfrm>
            <a:off x="3593592"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On-hand plus in-transit raw material</a:t>
            </a:r>
          </a:p>
        </p:txBody>
      </p:sp>
      <p:sp>
        <p:nvSpPr>
          <p:cNvPr id="28" name="TextBox 27"/>
          <p:cNvSpPr txBox="1"/>
          <p:nvPr/>
        </p:nvSpPr>
        <p:spPr>
          <a:xfrm>
            <a:off x="3593592"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Poppins"/>
              </a:defRPr>
            </a:pPr>
            <a:r>
              <a:t>⚠  No forecast exists for either material.</a:t>
            </a:r>
          </a:p>
        </p:txBody>
      </p:sp>
      <p:sp>
        <p:nvSpPr>
          <p:cNvPr id="29" name="Rectangle 28"/>
          <p:cNvSpPr/>
          <p:nvPr/>
        </p:nvSpPr>
        <p:spPr>
          <a:xfrm>
            <a:off x="5001768"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93207"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4</a:t>
            </a:r>
          </a:p>
        </p:txBody>
      </p:sp>
      <p:sp>
        <p:nvSpPr>
          <p:cNvPr id="31" name="TextBox 30"/>
          <p:cNvSpPr txBox="1"/>
          <p:nvPr/>
        </p:nvSpPr>
        <p:spPr>
          <a:xfrm>
            <a:off x="5312664"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Buying decision</a:t>
            </a:r>
          </a:p>
        </p:txBody>
      </p:sp>
      <p:sp>
        <p:nvSpPr>
          <p:cNvPr id="32" name="TextBox 31"/>
          <p:cNvSpPr txBox="1"/>
          <p:nvPr/>
        </p:nvSpPr>
        <p:spPr>
          <a:xfrm>
            <a:off x="5093207"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When, how much, at what price. PO placed.</a:t>
            </a:r>
          </a:p>
        </p:txBody>
      </p:sp>
      <p:sp>
        <p:nvSpPr>
          <p:cNvPr id="33" name="TextBox 32"/>
          <p:cNvSpPr txBox="1"/>
          <p:nvPr/>
        </p:nvSpPr>
        <p:spPr>
          <a:xfrm>
            <a:off x="5093207"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Poppins"/>
              </a:defRPr>
            </a:pPr>
            <a:r>
              <a:t>⚠  A personal call each month. Not repeatable.</a:t>
            </a:r>
          </a:p>
        </p:txBody>
      </p:sp>
      <p:cxnSp>
        <p:nvCxnSpPr>
          <p:cNvPr id="34" name="Connector 33"/>
          <p:cNvCxnSpPr/>
          <p:nvPr/>
        </p:nvCxnSpPr>
        <p:spPr>
          <a:xfrm>
            <a:off x="502920" y="3611880"/>
            <a:ext cx="57607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2920" y="3749039"/>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Prices move a lot, and fast</a:t>
            </a:r>
          </a:p>
        </p:txBody>
      </p:sp>
      <p:sp>
        <p:nvSpPr>
          <p:cNvPr id="36" name="TextBox 35"/>
          <p:cNvSpPr txBox="1"/>
          <p:nvPr/>
        </p:nvSpPr>
        <p:spPr>
          <a:xfrm>
            <a:off x="502920" y="4023360"/>
            <a:ext cx="5760720" cy="914400"/>
          </a:xfrm>
          <a:prstGeom prst="rect">
            <a:avLst/>
          </a:prstGeom>
          <a:noFill/>
        </p:spPr>
        <p:txBody>
          <a:bodyPr wrap="square" lIns="0" rIns="0" tIns="0" bIns="0">
            <a:spAutoFit/>
          </a:bodyPr>
          <a:lstStyle/>
          <a:p>
            <a:pPr algn="l">
              <a:lnSpc>
                <a:spcPct val="130000"/>
              </a:lnSpc>
              <a:defRPr sz="860" b="0" i="0">
                <a:solidFill>
                  <a:srgbClr val="4A4D55"/>
                </a:solidFill>
                <a:latin typeface="Poppins"/>
              </a:defRPr>
            </a:pPr>
            <a:r>
              <a:t>Aluminium went from about $1,450/t (April 2020) to $3,985/t (March 2022) and back to about $2,250/t in 2023: a 2.7× swing in under two years. US resin prices rose 62% from May 2020 to August 2021 on force majeures and freight, then gave back about 40% of that rise by 2023.</a:t>
            </a:r>
          </a:p>
        </p:txBody>
      </p:sp>
      <p:sp>
        <p:nvSpPr>
          <p:cNvPr id="37" name="TextBox 36"/>
          <p:cNvSpPr txBox="1"/>
          <p:nvPr/>
        </p:nvSpPr>
        <p:spPr>
          <a:xfrm>
            <a:off x="502920" y="4846320"/>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actually moves the price</a:t>
            </a:r>
          </a:p>
        </p:txBody>
      </p:sp>
      <p:sp>
        <p:nvSpPr>
          <p:cNvPr id="38" name="TextBox 37"/>
          <p:cNvSpPr txBox="1"/>
          <p:nvPr/>
        </p:nvSpPr>
        <p:spPr>
          <a:xfrm>
            <a:off x="502920" y="513892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39" name="TextBox 38"/>
          <p:cNvSpPr txBox="1"/>
          <p:nvPr/>
        </p:nvSpPr>
        <p:spPr>
          <a:xfrm>
            <a:off x="621792" y="513892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Exchange rate. Imported material is priced in US$; USD/INR moves landed cost directly.</a:t>
            </a:r>
          </a:p>
        </p:txBody>
      </p:sp>
      <p:sp>
        <p:nvSpPr>
          <p:cNvPr id="40" name="TextBox 39"/>
          <p:cNvSpPr txBox="1"/>
          <p:nvPr/>
        </p:nvSpPr>
        <p:spPr>
          <a:xfrm>
            <a:off x="502920" y="534466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41" name="TextBox 40"/>
          <p:cNvSpPr txBox="1"/>
          <p:nvPr/>
        </p:nvSpPr>
        <p:spPr>
          <a:xfrm>
            <a:off x="621792" y="534466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Crude and energy. Crude, naphtha and ethylene for PVC; coal, gas and power for smelting.</a:t>
            </a:r>
          </a:p>
        </p:txBody>
      </p:sp>
      <p:sp>
        <p:nvSpPr>
          <p:cNvPr id="42" name="TextBox 41"/>
          <p:cNvSpPr txBox="1"/>
          <p:nvPr/>
        </p:nvSpPr>
        <p:spPr>
          <a:xfrm>
            <a:off x="502920" y="555040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43" name="TextBox 42"/>
          <p:cNvSpPr txBox="1"/>
          <p:nvPr/>
        </p:nvSpPr>
        <p:spPr>
          <a:xfrm>
            <a:off x="621792" y="555040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Geopolitics and trade policy. Sanctions, tariffs, anti-dumping duties, export controls.</a:t>
            </a:r>
          </a:p>
        </p:txBody>
      </p:sp>
      <p:sp>
        <p:nvSpPr>
          <p:cNvPr id="44" name="TextBox 43"/>
          <p:cNvSpPr txBox="1"/>
          <p:nvPr/>
        </p:nvSpPr>
        <p:spPr>
          <a:xfrm>
            <a:off x="502920" y="575614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45" name="TextBox 44"/>
          <p:cNvSpPr txBox="1"/>
          <p:nvPr/>
        </p:nvSpPr>
        <p:spPr>
          <a:xfrm>
            <a:off x="621792" y="575614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Freight and import duties. Container and bulk rates; CBIC tariff and DGTR notifications.</a:t>
            </a:r>
          </a:p>
        </p:txBody>
      </p:sp>
      <p:sp>
        <p:nvSpPr>
          <p:cNvPr id="46" name="TextBox 45"/>
          <p:cNvSpPr txBox="1"/>
          <p:nvPr/>
        </p:nvSpPr>
        <p:spPr>
          <a:xfrm>
            <a:off x="502920" y="5961888"/>
            <a:ext cx="576072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None of this shows up in a forecast built from past sales.</a:t>
            </a:r>
          </a:p>
        </p:txBody>
      </p:sp>
      <p:sp>
        <p:nvSpPr>
          <p:cNvPr id="47" name="TextBox 46"/>
          <p:cNvSpPr txBox="1"/>
          <p:nvPr/>
        </p:nvSpPr>
        <p:spPr>
          <a:xfrm>
            <a:off x="6675120" y="1783080"/>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it costs the business</a:t>
            </a:r>
          </a:p>
        </p:txBody>
      </p:sp>
      <p:sp>
        <p:nvSpPr>
          <p:cNvPr id="48" name="TextBox 47"/>
          <p:cNvSpPr txBox="1"/>
          <p:nvPr/>
        </p:nvSpPr>
        <p:spPr>
          <a:xfrm>
            <a:off x="6675120" y="2084831"/>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Higher raw material spend</a:t>
            </a:r>
          </a:p>
        </p:txBody>
      </p:sp>
      <p:sp>
        <p:nvSpPr>
          <p:cNvPr id="49" name="TextBox 48"/>
          <p:cNvSpPr txBox="1"/>
          <p:nvPr/>
        </p:nvSpPr>
        <p:spPr>
          <a:xfrm>
            <a:off x="6675120" y="2267712"/>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buying into rising markets with no timing advantage</a:t>
            </a:r>
          </a:p>
        </p:txBody>
      </p:sp>
      <p:sp>
        <p:nvSpPr>
          <p:cNvPr id="50" name="TextBox 49"/>
          <p:cNvSpPr txBox="1"/>
          <p:nvPr/>
        </p:nvSpPr>
        <p:spPr>
          <a:xfrm>
            <a:off x="6675120" y="2560320"/>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More inventory days</a:t>
            </a:r>
          </a:p>
        </p:txBody>
      </p:sp>
      <p:sp>
        <p:nvSpPr>
          <p:cNvPr id="51" name="TextBox 50"/>
          <p:cNvSpPr txBox="1"/>
          <p:nvPr/>
        </p:nvSpPr>
        <p:spPr>
          <a:xfrm>
            <a:off x="6675120" y="2743200"/>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over-buying as insurance against price surprises</a:t>
            </a:r>
          </a:p>
        </p:txBody>
      </p:sp>
      <p:sp>
        <p:nvSpPr>
          <p:cNvPr id="52" name="TextBox 51"/>
          <p:cNvSpPr txBox="1"/>
          <p:nvPr/>
        </p:nvSpPr>
        <p:spPr>
          <a:xfrm>
            <a:off x="6675120" y="3035808"/>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More working capital</a:t>
            </a:r>
          </a:p>
        </p:txBody>
      </p:sp>
      <p:sp>
        <p:nvSpPr>
          <p:cNvPr id="53" name="TextBox 52"/>
          <p:cNvSpPr txBox="1"/>
          <p:nvPr/>
        </p:nvSpPr>
        <p:spPr>
          <a:xfrm>
            <a:off x="6675120" y="3218688"/>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cash tied up in stock, premiums and in-transit material</a:t>
            </a:r>
          </a:p>
        </p:txBody>
      </p:sp>
      <p:sp>
        <p:nvSpPr>
          <p:cNvPr id="54" name="TextBox 53"/>
          <p:cNvSpPr txBox="1"/>
          <p:nvPr/>
        </p:nvSpPr>
        <p:spPr>
          <a:xfrm>
            <a:off x="6675120" y="3584448"/>
            <a:ext cx="498348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With a 70% share, a 1% move in raw material price is roughly 0.7% of total</a:t>
            </a:r>
          </a:p>
          <a:p>
            <a:pPr algn="l">
              <a:lnSpc>
                <a:spcPct val="125000"/>
              </a:lnSpc>
              <a:defRPr sz="740" b="1" i="0">
                <a:solidFill>
                  <a:srgbClr val="C8102E"/>
                </a:solidFill>
                <a:latin typeface="Poppins"/>
              </a:defRPr>
            </a:pPr>
            <a:r>
              <a:t>manufacturing cost.</a:t>
            </a:r>
          </a:p>
        </p:txBody>
      </p:sp>
      <p:cxnSp>
        <p:nvCxnSpPr>
          <p:cNvPr id="55" name="Connector 54"/>
          <p:cNvCxnSpPr/>
          <p:nvPr/>
        </p:nvCxnSpPr>
        <p:spPr>
          <a:xfrm>
            <a:off x="6675120" y="4041648"/>
            <a:ext cx="49834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675120" y="4187952"/>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Smart Buy now demonstrates</a:t>
            </a:r>
          </a:p>
        </p:txBody>
      </p:sp>
      <p:graphicFrame>
        <p:nvGraphicFramePr>
          <p:cNvPr id="57" name="Table 56"/>
          <p:cNvGraphicFramePr>
            <a:graphicFrameLocks noGrp="1"/>
          </p:cNvGraphicFramePr>
          <p:nvPr/>
        </p:nvGraphicFramePr>
        <p:xfrm>
          <a:off x="6675120" y="4462272"/>
          <a:ext cx="4983480" cy="1389888"/>
        </p:xfrm>
        <a:graphic>
          <a:graphicData uri="http://schemas.openxmlformats.org/drawingml/2006/table">
            <a:tbl>
              <a:tblPr>
                <a:tableStyleId>{5C22544A-7EE6-4342-B048-85BDC9FD1C3A}</a:tableStyleId>
              </a:tblPr>
              <a:tblGrid>
                <a:gridCol w="2103120"/>
                <a:gridCol w="2880360"/>
              </a:tblGrid>
              <a:tr h="237744">
                <a:tc>
                  <a:txBody>
                    <a:bodyPr/>
                    <a:lstStyle/>
                    <a:p>
                      <a:pPr algn="l">
                        <a:defRPr sz="680" b="1">
                          <a:solidFill>
                            <a:srgbClr val="FFFFFF"/>
                          </a:solidFill>
                          <a:latin typeface="Poppins"/>
                        </a:defRPr>
                      </a:pPr>
                      <a:r>
                        <a:t>Round 1 gap</a:t>
                      </a:r>
                    </a:p>
                  </a:txBody>
                  <a:tcPr marL="54864" marR="54864" marT="18288" marB="18288" anchor="ctr">
                    <a:solidFill>
                      <a:srgbClr val="C8102E"/>
                    </a:solidFill>
                  </a:tcPr>
                </a:tc>
                <a:tc>
                  <a:txBody>
                    <a:bodyPr/>
                    <a:lstStyle/>
                    <a:p>
                      <a:pPr algn="r">
                        <a:defRPr sz="680" b="1">
                          <a:solidFill>
                            <a:srgbClr val="FFFFFF"/>
                          </a:solidFill>
                          <a:latin typeface="Poppins"/>
                        </a:defRPr>
                      </a:pPr>
                      <a:r>
                        <a:t>Round 2 evidence</a:t>
                      </a:r>
                    </a:p>
                  </a:txBody>
                  <a:tcPr marL="54864" marR="54864" marT="18288" marB="18288" anchor="ctr">
                    <a:solidFill>
                      <a:srgbClr val="C8102E"/>
                    </a:solidFill>
                  </a:tcPr>
                </a:tc>
              </a:tr>
              <a:tr h="384048">
                <a:tc>
                  <a:txBody>
                    <a:bodyPr/>
                    <a:lstStyle/>
                    <a:p>
                      <a:pPr algn="l">
                        <a:defRPr sz="740" b="0">
                          <a:solidFill>
                            <a:srgbClr val="4A4D55"/>
                          </a:solidFill>
                          <a:latin typeface="Poppins"/>
                        </a:defRPr>
                      </a:pPr>
                      <a:r>
                        <a:t>Backward-looking, subjective timing</a:t>
                      </a:r>
                    </a:p>
                  </a:txBody>
                  <a:tcPr marL="54864" marR="54864" marT="13716" marB="13716" anchor="ctr">
                    <a:solidFill>
                      <a:srgbClr val="FFFFFF"/>
                    </a:solidFill>
                  </a:tcPr>
                </a:tc>
                <a:tc>
                  <a:txBody>
                    <a:bodyPr/>
                    <a:lstStyle/>
                    <a:p>
                      <a:pPr algn="r">
                        <a:defRPr sz="740" b="1">
                          <a:solidFill>
                            <a:srgbClr val="4A4D55"/>
                          </a:solidFill>
                          <a:latin typeface="Poppins"/>
                        </a:defRPr>
                      </a:pPr>
                      <a:r>
                        <a:t>Six-month forecast; PVC +20.7% / +15.9% skill at 1–2 months (significant)</a:t>
                      </a:r>
                    </a:p>
                  </a:txBody>
                  <a:tcPr marL="54864" marR="54864" marT="13716" marB="13716" anchor="ctr">
                    <a:solidFill>
                      <a:srgbClr val="FFFFFF"/>
                    </a:solidFill>
                  </a:tcPr>
                </a:tc>
              </a:tr>
              <a:tr h="384048">
                <a:tc>
                  <a:txBody>
                    <a:bodyPr/>
                    <a:lstStyle/>
                    <a:p>
                      <a:pPr algn="l">
                        <a:defRPr sz="740" b="0">
                          <a:solidFill>
                            <a:srgbClr val="4A4D55"/>
                          </a:solidFill>
                          <a:latin typeface="Poppins"/>
                        </a:defRPr>
                      </a:pPr>
                      <a:r>
                        <a:t>No accuracy tracking</a:t>
                      </a:r>
                    </a:p>
                  </a:txBody>
                  <a:tcPr marL="54864" marR="54864" marT="13716" marB="13716" anchor="ctr">
                    <a:solidFill>
                      <a:srgbClr val="FFFFFF"/>
                    </a:solidFill>
                  </a:tcPr>
                </a:tc>
                <a:tc>
                  <a:txBody>
                    <a:bodyPr/>
                    <a:lstStyle/>
                    <a:p>
                      <a:pPr algn="r">
                        <a:defRPr sz="740" b="1">
                          <a:solidFill>
                            <a:srgbClr val="4A4D55"/>
                          </a:solidFill>
                          <a:latin typeface="Poppins"/>
                        </a:defRPr>
                      </a:pPr>
                      <a:r>
                        <a:t>Every forecast scored vs naïve; aluminium ≈ naïve (+3.7%, n.s.), reported as is</a:t>
                      </a:r>
                    </a:p>
                  </a:txBody>
                  <a:tcPr marL="54864" marR="54864" marT="13716" marB="13716" anchor="ctr">
                    <a:solidFill>
                      <a:srgbClr val="FFFFFF"/>
                    </a:solidFill>
                  </a:tcPr>
                </a:tc>
              </a:tr>
              <a:tr h="384048">
                <a:tc>
                  <a:txBody>
                    <a:bodyPr/>
                    <a:lstStyle/>
                    <a:p>
                      <a:pPr algn="l">
                        <a:defRPr sz="740" b="0">
                          <a:solidFill>
                            <a:srgbClr val="4A4D55"/>
                          </a:solidFill>
                          <a:latin typeface="Poppins"/>
                        </a:defRPr>
                      </a:pPr>
                      <a:r>
                        <a:t>"When, how much, what price" by judgement</a:t>
                      </a:r>
                    </a:p>
                  </a:txBody>
                  <a:tcPr marL="54864" marR="54864" marT="13716" marB="13716" anchor="ctr">
                    <a:solidFill>
                      <a:srgbClr val="FFFFFF"/>
                    </a:solidFill>
                  </a:tcPr>
                </a:tc>
                <a:tc>
                  <a:txBody>
                    <a:bodyPr/>
                    <a:lstStyle/>
                    <a:p>
                      <a:pPr algn="r">
                        <a:defRPr sz="740" b="1">
                          <a:solidFill>
                            <a:srgbClr val="4A4D55"/>
                          </a:solidFill>
                          <a:latin typeface="Poppins"/>
                        </a:defRPr>
                      </a:pPr>
                      <a:r>
                        <a:t>Rule replayed over 78 months: PVC +0.45% net, beats random timing (p = 0.002)</a:t>
                      </a:r>
                    </a:p>
                  </a:txBody>
                  <a:tcPr marL="54864" marR="54864" marT="13716" marB="13716" anchor="ctr">
                    <a:solidFill>
                      <a:srgbClr val="FFFFFF"/>
                    </a:solidFill>
                  </a:tcPr>
                </a:tc>
              </a:tr>
            </a:tbl>
          </a:graphicData>
        </a:graphic>
      </p:graphicFrame>
      <p:sp>
        <p:nvSpPr>
          <p:cNvPr id="58" name="TextBox 57"/>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ACG, "Smart Buy – AI based Raw Material Price Prediction", problem statement. [2] World Bank, Commodity Price Data (Pink Sheet); BLS PPI WPU066 via FRED. [3] Skill and replay figures are embargoed walk-forward results from this submission's pipeline, not illustrations.</a:t>
            </a:r>
          </a:p>
        </p:txBody>
      </p:sp>
      <p:sp>
        <p:nvSpPr>
          <p:cNvPr id="59" name="TextBox 58"/>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3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Both prices sit at the end of a physical chain, and every link in that chain</a:t>
            </a:r>
          </a:p>
          <a:p>
            <a:pPr algn="l">
              <a:lnSpc>
                <a:spcPct val="112000"/>
              </a:lnSpc>
              <a:defRPr sz="1700" b="1" i="0">
                <a:solidFill>
                  <a:srgbClr val="16181D"/>
                </a:solidFill>
                <a:latin typeface="Poppins"/>
              </a:defRPr>
            </a:pPr>
            <a:r>
              <a:t>is tracked from public data</a:t>
            </a:r>
          </a:p>
        </p:txBody>
      </p:sp>
      <p:sp>
        <p:nvSpPr>
          <p:cNvPr id="14" name="TextBox 13"/>
          <p:cNvSpPr txBox="1"/>
          <p:nvPr/>
        </p:nvSpPr>
        <p:spPr>
          <a:xfrm>
            <a:off x="502920" y="178308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a:t>
            </a:r>
          </a:p>
        </p:txBody>
      </p:sp>
      <p:sp>
        <p:nvSpPr>
          <p:cNvPr id="15" name="Rectangle 14"/>
          <p:cNvSpPr/>
          <p:nvPr/>
        </p:nvSpPr>
        <p:spPr>
          <a:xfrm>
            <a:off x="50292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Bauxite</a:t>
            </a:r>
          </a:p>
        </p:txBody>
      </p:sp>
      <p:sp>
        <p:nvSpPr>
          <p:cNvPr id="17" name="TextBox 16"/>
          <p:cNvSpPr txBox="1"/>
          <p:nvPr/>
        </p:nvSpPr>
        <p:spPr>
          <a:xfrm>
            <a:off x="53949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Guinea and Australia</a:t>
            </a:r>
          </a:p>
          <a:p>
            <a:pPr algn="ctr">
              <a:lnSpc>
                <a:spcPct val="120000"/>
              </a:lnSpc>
              <a:defRPr sz="660" b="0" i="0">
                <a:solidFill>
                  <a:srgbClr val="7C8089"/>
                </a:solidFill>
                <a:latin typeface="Poppins"/>
              </a:defRPr>
            </a:pPr>
            <a:r>
              <a:t>supply, export policy</a:t>
            </a:r>
          </a:p>
        </p:txBody>
      </p:sp>
      <p:sp>
        <p:nvSpPr>
          <p:cNvPr id="18" name="TextBox 17"/>
          <p:cNvSpPr txBox="1"/>
          <p:nvPr/>
        </p:nvSpPr>
        <p:spPr>
          <a:xfrm>
            <a:off x="1965960"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19" name="Rectangle 18"/>
          <p:cNvSpPr/>
          <p:nvPr/>
        </p:nvSpPr>
        <p:spPr>
          <a:xfrm>
            <a:off x="2130552"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212848"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Alumina</a:t>
            </a:r>
          </a:p>
        </p:txBody>
      </p:sp>
      <p:sp>
        <p:nvSpPr>
          <p:cNvPr id="21" name="TextBox 20"/>
          <p:cNvSpPr txBox="1"/>
          <p:nvPr/>
        </p:nvSpPr>
        <p:spPr>
          <a:xfrm>
            <a:off x="2167128"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4 t bauxite →</a:t>
            </a:r>
          </a:p>
          <a:p>
            <a:pPr algn="ctr">
              <a:lnSpc>
                <a:spcPct val="120000"/>
              </a:lnSpc>
              <a:defRPr sz="660" b="0" i="0">
                <a:solidFill>
                  <a:srgbClr val="7C8089"/>
                </a:solidFill>
                <a:latin typeface="Poppins"/>
              </a:defRPr>
            </a:pPr>
            <a:r>
              <a:t>2 t alumina → 1 t metal</a:t>
            </a:r>
          </a:p>
        </p:txBody>
      </p:sp>
      <p:sp>
        <p:nvSpPr>
          <p:cNvPr id="22" name="TextBox 21"/>
          <p:cNvSpPr txBox="1"/>
          <p:nvPr/>
        </p:nvSpPr>
        <p:spPr>
          <a:xfrm>
            <a:off x="3593592"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23" name="Rectangle 22"/>
          <p:cNvSpPr/>
          <p:nvPr/>
        </p:nvSpPr>
        <p:spPr>
          <a:xfrm>
            <a:off x="3758184"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40480"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Smelter energy</a:t>
            </a:r>
          </a:p>
        </p:txBody>
      </p:sp>
      <p:sp>
        <p:nvSpPr>
          <p:cNvPr id="25" name="TextBox 24"/>
          <p:cNvSpPr txBox="1"/>
          <p:nvPr/>
        </p:nvSpPr>
        <p:spPr>
          <a:xfrm>
            <a:off x="3794760"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coal, gas and power:</a:t>
            </a:r>
          </a:p>
          <a:p>
            <a:pPr algn="ctr">
              <a:lnSpc>
                <a:spcPct val="120000"/>
              </a:lnSpc>
              <a:defRPr sz="660" b="0" i="0">
                <a:solidFill>
                  <a:srgbClr val="7C8089"/>
                </a:solidFill>
                <a:latin typeface="Poppins"/>
              </a:defRPr>
            </a:pPr>
            <a:r>
              <a:t>the largest cash cost</a:t>
            </a:r>
          </a:p>
        </p:txBody>
      </p:sp>
      <p:sp>
        <p:nvSpPr>
          <p:cNvPr id="26" name="TextBox 25"/>
          <p:cNvSpPr txBox="1"/>
          <p:nvPr/>
        </p:nvSpPr>
        <p:spPr>
          <a:xfrm>
            <a:off x="5221224"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27" name="Rectangle 26"/>
          <p:cNvSpPr/>
          <p:nvPr/>
        </p:nvSpPr>
        <p:spPr>
          <a:xfrm>
            <a:off x="5385816" y="2075688"/>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68112" y="216712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Poppins"/>
              </a:defRPr>
            </a:pPr>
            <a:r>
              <a:t>LME price</a:t>
            </a:r>
          </a:p>
          <a:p>
            <a:pPr algn="ctr">
              <a:lnSpc>
                <a:spcPct val="115000"/>
              </a:lnSpc>
              <a:defRPr sz="819" b="1" i="0">
                <a:solidFill>
                  <a:srgbClr val="FFFFFF"/>
                </a:solidFill>
                <a:latin typeface="Poppins"/>
              </a:defRPr>
            </a:pPr>
            <a:r>
              <a:t>and stocks</a:t>
            </a:r>
          </a:p>
        </p:txBody>
      </p:sp>
      <p:sp>
        <p:nvSpPr>
          <p:cNvPr id="29" name="TextBox 28"/>
          <p:cNvSpPr txBox="1"/>
          <p:nvPr/>
        </p:nvSpPr>
        <p:spPr>
          <a:xfrm>
            <a:off x="5422392"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financialised; stocks</a:t>
            </a:r>
          </a:p>
          <a:p>
            <a:pPr algn="ctr">
              <a:lnSpc>
                <a:spcPct val="120000"/>
              </a:lnSpc>
              <a:defRPr sz="660" b="0" i="0">
                <a:solidFill>
                  <a:srgbClr val="7C8089"/>
                </a:solidFill>
                <a:latin typeface="Poppins"/>
              </a:defRPr>
            </a:pPr>
            <a:r>
              <a:t>signal tightness</a:t>
            </a:r>
          </a:p>
        </p:txBody>
      </p:sp>
      <p:sp>
        <p:nvSpPr>
          <p:cNvPr id="30" name="TextBox 29"/>
          <p:cNvSpPr txBox="1"/>
          <p:nvPr/>
        </p:nvSpPr>
        <p:spPr>
          <a:xfrm>
            <a:off x="6848856"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31" name="Rectangle 30"/>
          <p:cNvSpPr/>
          <p:nvPr/>
        </p:nvSpPr>
        <p:spPr>
          <a:xfrm>
            <a:off x="7013448"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95744"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Premium, FX,</a:t>
            </a:r>
          </a:p>
          <a:p>
            <a:pPr algn="ctr">
              <a:lnSpc>
                <a:spcPct val="115000"/>
              </a:lnSpc>
              <a:defRPr sz="819" b="1" i="0">
                <a:solidFill>
                  <a:srgbClr val="16181D"/>
                </a:solidFill>
                <a:latin typeface="Poppins"/>
              </a:defRPr>
            </a:pPr>
            <a:r>
              <a:t>duty, freight</a:t>
            </a:r>
          </a:p>
        </p:txBody>
      </p:sp>
      <p:sp>
        <p:nvSpPr>
          <p:cNvPr id="33" name="TextBox 32"/>
          <p:cNvSpPr txBox="1"/>
          <p:nvPr/>
        </p:nvSpPr>
        <p:spPr>
          <a:xfrm>
            <a:off x="7050024"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USD/INR, CBIC tariff,</a:t>
            </a:r>
          </a:p>
          <a:p>
            <a:pPr algn="ctr">
              <a:lnSpc>
                <a:spcPct val="120000"/>
              </a:lnSpc>
              <a:defRPr sz="660" b="0" i="0">
                <a:solidFill>
                  <a:srgbClr val="7C8089"/>
                </a:solidFill>
                <a:latin typeface="Poppins"/>
              </a:defRPr>
            </a:pPr>
            <a:r>
              <a:t>logistics</a:t>
            </a:r>
          </a:p>
        </p:txBody>
      </p:sp>
      <p:sp>
        <p:nvSpPr>
          <p:cNvPr id="34" name="TextBox 33"/>
          <p:cNvSpPr txBox="1"/>
          <p:nvPr/>
        </p:nvSpPr>
        <p:spPr>
          <a:xfrm>
            <a:off x="8476488"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35" name="Rectangle 34"/>
          <p:cNvSpPr/>
          <p:nvPr/>
        </p:nvSpPr>
        <p:spPr>
          <a:xfrm>
            <a:off x="864108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72337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Landed India</a:t>
            </a:r>
          </a:p>
          <a:p>
            <a:pPr algn="ctr">
              <a:lnSpc>
                <a:spcPct val="115000"/>
              </a:lnSpc>
              <a:defRPr sz="819" b="1" i="0">
                <a:solidFill>
                  <a:srgbClr val="16181D"/>
                </a:solidFill>
                <a:latin typeface="Poppins"/>
              </a:defRPr>
            </a:pPr>
            <a:r>
              <a:t>price</a:t>
            </a:r>
          </a:p>
        </p:txBody>
      </p:sp>
      <p:sp>
        <p:nvSpPr>
          <p:cNvPr id="37" name="TextBox 36"/>
          <p:cNvSpPr txBox="1"/>
          <p:nvPr/>
        </p:nvSpPr>
        <p:spPr>
          <a:xfrm>
            <a:off x="867765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what ACG</a:t>
            </a:r>
          </a:p>
          <a:p>
            <a:pPr algn="ctr">
              <a:lnSpc>
                <a:spcPct val="120000"/>
              </a:lnSpc>
              <a:defRPr sz="660" b="0" i="0">
                <a:solidFill>
                  <a:srgbClr val="7C8089"/>
                </a:solidFill>
                <a:latin typeface="Poppins"/>
              </a:defRPr>
            </a:pPr>
            <a:r>
              <a:t>actually pays</a:t>
            </a:r>
          </a:p>
        </p:txBody>
      </p:sp>
      <p:sp>
        <p:nvSpPr>
          <p:cNvPr id="38" name="TextBox 37"/>
          <p:cNvSpPr txBox="1"/>
          <p:nvPr/>
        </p:nvSpPr>
        <p:spPr>
          <a:xfrm>
            <a:off x="502920" y="324612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a:t>
            </a:r>
          </a:p>
        </p:txBody>
      </p:sp>
      <p:sp>
        <p:nvSpPr>
          <p:cNvPr id="39" name="Rectangle 38"/>
          <p:cNvSpPr/>
          <p:nvPr/>
        </p:nvSpPr>
        <p:spPr>
          <a:xfrm>
            <a:off x="50292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521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Crude (Brent)</a:t>
            </a:r>
          </a:p>
        </p:txBody>
      </p:sp>
      <p:sp>
        <p:nvSpPr>
          <p:cNvPr id="41" name="TextBox 40"/>
          <p:cNvSpPr txBox="1"/>
          <p:nvPr/>
        </p:nvSpPr>
        <p:spPr>
          <a:xfrm>
            <a:off x="53949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sets the whole</a:t>
            </a:r>
          </a:p>
          <a:p>
            <a:pPr algn="ctr">
              <a:lnSpc>
                <a:spcPct val="120000"/>
              </a:lnSpc>
              <a:defRPr sz="660" b="0" i="0">
                <a:solidFill>
                  <a:srgbClr val="7C8089"/>
                </a:solidFill>
                <a:latin typeface="Poppins"/>
              </a:defRPr>
            </a:pPr>
            <a:r>
              <a:t>feedstock chain</a:t>
            </a:r>
          </a:p>
        </p:txBody>
      </p:sp>
      <p:sp>
        <p:nvSpPr>
          <p:cNvPr id="42" name="TextBox 41"/>
          <p:cNvSpPr txBox="1"/>
          <p:nvPr/>
        </p:nvSpPr>
        <p:spPr>
          <a:xfrm>
            <a:off x="1965960"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43" name="Rectangle 42"/>
          <p:cNvSpPr/>
          <p:nvPr/>
        </p:nvSpPr>
        <p:spPr>
          <a:xfrm>
            <a:off x="2130552"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212848"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Naphtha</a:t>
            </a:r>
          </a:p>
        </p:txBody>
      </p:sp>
      <p:sp>
        <p:nvSpPr>
          <p:cNvPr id="45" name="TextBox 44"/>
          <p:cNvSpPr txBox="1"/>
          <p:nvPr/>
        </p:nvSpPr>
        <p:spPr>
          <a:xfrm>
            <a:off x="2167128"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Asian cracker</a:t>
            </a:r>
          </a:p>
          <a:p>
            <a:pPr algn="ctr">
              <a:lnSpc>
                <a:spcPct val="120000"/>
              </a:lnSpc>
              <a:defRPr sz="660" b="0" i="0">
                <a:solidFill>
                  <a:srgbClr val="7C8089"/>
                </a:solidFill>
                <a:latin typeface="Poppins"/>
              </a:defRPr>
            </a:pPr>
            <a:r>
              <a:t>feedstock</a:t>
            </a:r>
          </a:p>
        </p:txBody>
      </p:sp>
      <p:sp>
        <p:nvSpPr>
          <p:cNvPr id="46" name="TextBox 45"/>
          <p:cNvSpPr txBox="1"/>
          <p:nvPr/>
        </p:nvSpPr>
        <p:spPr>
          <a:xfrm>
            <a:off x="3593592"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47" name="Rectangle 46"/>
          <p:cNvSpPr/>
          <p:nvPr/>
        </p:nvSpPr>
        <p:spPr>
          <a:xfrm>
            <a:off x="3758184"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840480"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Ethylene</a:t>
            </a:r>
          </a:p>
        </p:txBody>
      </p:sp>
      <p:sp>
        <p:nvSpPr>
          <p:cNvPr id="49" name="TextBox 48"/>
          <p:cNvSpPr txBox="1"/>
          <p:nvPr/>
        </p:nvSpPr>
        <p:spPr>
          <a:xfrm>
            <a:off x="3794760"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plus chlorine</a:t>
            </a:r>
          </a:p>
          <a:p>
            <a:pPr algn="ctr">
              <a:lnSpc>
                <a:spcPct val="120000"/>
              </a:lnSpc>
              <a:defRPr sz="660" b="0" i="0">
                <a:solidFill>
                  <a:srgbClr val="7C8089"/>
                </a:solidFill>
                <a:latin typeface="Poppins"/>
              </a:defRPr>
            </a:pPr>
            <a:r>
              <a:t>gives EDC</a:t>
            </a:r>
          </a:p>
        </p:txBody>
      </p:sp>
      <p:sp>
        <p:nvSpPr>
          <p:cNvPr id="50" name="TextBox 49"/>
          <p:cNvSpPr txBox="1"/>
          <p:nvPr/>
        </p:nvSpPr>
        <p:spPr>
          <a:xfrm>
            <a:off x="5221224"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51" name="Rectangle 50"/>
          <p:cNvSpPr/>
          <p:nvPr/>
        </p:nvSpPr>
        <p:spPr>
          <a:xfrm>
            <a:off x="5385816"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5468112"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VCM / EDC</a:t>
            </a:r>
          </a:p>
        </p:txBody>
      </p:sp>
      <p:sp>
        <p:nvSpPr>
          <p:cNvPr id="53" name="TextBox 52"/>
          <p:cNvSpPr txBox="1"/>
          <p:nvPr/>
        </p:nvSpPr>
        <p:spPr>
          <a:xfrm>
            <a:off x="5422392"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the direct</a:t>
            </a:r>
          </a:p>
          <a:p>
            <a:pPr algn="ctr">
              <a:lnSpc>
                <a:spcPct val="120000"/>
              </a:lnSpc>
              <a:defRPr sz="660" b="0" i="0">
                <a:solidFill>
                  <a:srgbClr val="7C8089"/>
                </a:solidFill>
                <a:latin typeface="Poppins"/>
              </a:defRPr>
            </a:pPr>
            <a:r>
              <a:t>monomer input</a:t>
            </a:r>
          </a:p>
        </p:txBody>
      </p:sp>
      <p:sp>
        <p:nvSpPr>
          <p:cNvPr id="54" name="TextBox 53"/>
          <p:cNvSpPr txBox="1"/>
          <p:nvPr/>
        </p:nvSpPr>
        <p:spPr>
          <a:xfrm>
            <a:off x="6848856"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55" name="Rectangle 54"/>
          <p:cNvSpPr/>
          <p:nvPr/>
        </p:nvSpPr>
        <p:spPr>
          <a:xfrm>
            <a:off x="7013448" y="3538727"/>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095744" y="363016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Poppins"/>
              </a:defRPr>
            </a:pPr>
            <a:r>
              <a:t>Resin price</a:t>
            </a:r>
          </a:p>
          <a:p>
            <a:pPr algn="ctr">
              <a:lnSpc>
                <a:spcPct val="115000"/>
              </a:lnSpc>
              <a:defRPr sz="819" b="1" i="0">
                <a:solidFill>
                  <a:srgbClr val="FFFFFF"/>
                </a:solidFill>
                <a:latin typeface="Poppins"/>
              </a:defRPr>
            </a:pPr>
            <a:r>
              <a:t>(US PPI proxy)</a:t>
            </a:r>
          </a:p>
        </p:txBody>
      </p:sp>
      <p:sp>
        <p:nvSpPr>
          <p:cNvPr id="57" name="TextBox 56"/>
          <p:cNvSpPr txBox="1"/>
          <p:nvPr/>
        </p:nvSpPr>
        <p:spPr>
          <a:xfrm>
            <a:off x="7050024"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no free Asian spot history;</a:t>
            </a:r>
          </a:p>
          <a:p>
            <a:pPr algn="ctr">
              <a:lnSpc>
                <a:spcPct val="120000"/>
              </a:lnSpc>
              <a:defRPr sz="660" b="0" i="0">
                <a:solidFill>
                  <a:srgbClr val="7C8089"/>
                </a:solidFill>
                <a:latin typeface="Poppins"/>
              </a:defRPr>
            </a:pPr>
            <a:r>
              <a:t>US index modelled</a:t>
            </a:r>
          </a:p>
        </p:txBody>
      </p:sp>
      <p:sp>
        <p:nvSpPr>
          <p:cNvPr id="58" name="TextBox 57"/>
          <p:cNvSpPr txBox="1"/>
          <p:nvPr/>
        </p:nvSpPr>
        <p:spPr>
          <a:xfrm>
            <a:off x="8476488"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59" name="Rectangle 58"/>
          <p:cNvSpPr/>
          <p:nvPr/>
        </p:nvSpPr>
        <p:spPr>
          <a:xfrm>
            <a:off x="864108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72337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Landed India</a:t>
            </a:r>
          </a:p>
          <a:p>
            <a:pPr algn="ctr">
              <a:lnSpc>
                <a:spcPct val="115000"/>
              </a:lnSpc>
              <a:defRPr sz="819" b="1" i="0">
                <a:solidFill>
                  <a:srgbClr val="16181D"/>
                </a:solidFill>
                <a:latin typeface="Poppins"/>
              </a:defRPr>
            </a:pPr>
            <a:r>
              <a:t>price</a:t>
            </a:r>
          </a:p>
        </p:txBody>
      </p:sp>
      <p:sp>
        <p:nvSpPr>
          <p:cNvPr id="61" name="TextBox 60"/>
          <p:cNvSpPr txBox="1"/>
          <p:nvPr/>
        </p:nvSpPr>
        <p:spPr>
          <a:xfrm>
            <a:off x="867765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freight, FX,</a:t>
            </a:r>
          </a:p>
          <a:p>
            <a:pPr algn="ctr">
              <a:lnSpc>
                <a:spcPct val="120000"/>
              </a:lnSpc>
              <a:defRPr sz="660" b="0" i="0">
                <a:solidFill>
                  <a:srgbClr val="7C8089"/>
                </a:solidFill>
                <a:latin typeface="Poppins"/>
              </a:defRPr>
            </a:pPr>
            <a:r>
              <a:t>anti-dumping duty</a:t>
            </a:r>
          </a:p>
        </p:txBody>
      </p:sp>
      <p:cxnSp>
        <p:nvCxnSpPr>
          <p:cNvPr id="62" name="Connector 61"/>
          <p:cNvCxnSpPr/>
          <p:nvPr/>
        </p:nvCxnSpPr>
        <p:spPr>
          <a:xfrm>
            <a:off x="502920" y="4754880"/>
            <a:ext cx="111556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2920" y="4892040"/>
            <a:ext cx="53035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How we decided which indicators to keep</a:t>
            </a:r>
          </a:p>
        </p:txBody>
      </p:sp>
      <p:sp>
        <p:nvSpPr>
          <p:cNvPr id="64" name="TextBox 63"/>
          <p:cNvSpPr txBox="1"/>
          <p:nvPr/>
        </p:nvSpPr>
        <p:spPr>
          <a:xfrm>
            <a:off x="502920" y="51937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65" name="TextBox 64"/>
          <p:cNvSpPr txBox="1"/>
          <p:nvPr/>
        </p:nvSpPr>
        <p:spPr>
          <a:xfrm>
            <a:off x="621792" y="519379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Cross-correlation of log-returns at leads 0–6 months on real series; best lead recorded.</a:t>
            </a:r>
          </a:p>
        </p:txBody>
      </p:sp>
      <p:sp>
        <p:nvSpPr>
          <p:cNvPr id="66" name="TextBox 65"/>
          <p:cNvSpPr txBox="1"/>
          <p:nvPr/>
        </p:nvSpPr>
        <p:spPr>
          <a:xfrm>
            <a:off x="502920" y="5399531"/>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67" name="TextBox 66"/>
          <p:cNvSpPr txBox="1"/>
          <p:nvPr/>
        </p:nvSpPr>
        <p:spPr>
          <a:xfrm>
            <a:off x="621792" y="5399531"/>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ADF stationarity, then Granger at a fixed 3-month lag, FDR-corrected across 24 tests.</a:t>
            </a:r>
          </a:p>
        </p:txBody>
      </p:sp>
      <p:sp>
        <p:nvSpPr>
          <p:cNvPr id="68" name="TextBox 67"/>
          <p:cNvSpPr txBox="1"/>
          <p:nvPr/>
        </p:nvSpPr>
        <p:spPr>
          <a:xfrm>
            <a:off x="502920" y="560527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69" name="TextBox 68"/>
          <p:cNvSpPr txBox="1"/>
          <p:nvPr/>
        </p:nvSpPr>
        <p:spPr>
          <a:xfrm>
            <a:off x="621792" y="560527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Every real driver is offered to the models; ElasticNet keeps 15 inside each fold, and the naïve gate decides what earns weight.</a:t>
            </a:r>
          </a:p>
        </p:txBody>
      </p:sp>
      <p:sp>
        <p:nvSpPr>
          <p:cNvPr id="70" name="TextBox 69"/>
          <p:cNvSpPr txBox="1"/>
          <p:nvPr/>
        </p:nvSpPr>
        <p:spPr>
          <a:xfrm>
            <a:off x="6263640" y="48920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changed against the indicative list</a:t>
            </a:r>
          </a:p>
        </p:txBody>
      </p:sp>
      <p:graphicFrame>
        <p:nvGraphicFramePr>
          <p:cNvPr id="71" name="Table 70"/>
          <p:cNvGraphicFramePr>
            <a:graphicFrameLocks noGrp="1"/>
          </p:cNvGraphicFramePr>
          <p:nvPr/>
        </p:nvGraphicFramePr>
        <p:xfrm>
          <a:off x="6263640" y="5175504"/>
          <a:ext cx="5394960" cy="1097280"/>
        </p:xfrm>
        <a:graphic>
          <a:graphicData uri="http://schemas.openxmlformats.org/drawingml/2006/table">
            <a:tbl>
              <a:tblPr>
                <a:tableStyleId>{5C22544A-7EE6-4342-B048-85BDC9FD1C3A}</a:tableStyleId>
              </a:tblPr>
              <a:tblGrid>
                <a:gridCol w="914400"/>
                <a:gridCol w="4480560"/>
              </a:tblGrid>
              <a:tr h="274320">
                <a:tc>
                  <a:txBody>
                    <a:bodyPr/>
                    <a:lstStyle/>
                    <a:p>
                      <a:pPr algn="l">
                        <a:defRPr sz="680" b="1">
                          <a:solidFill>
                            <a:srgbClr val="FFFFFF"/>
                          </a:solidFill>
                          <a:latin typeface="Poppins"/>
                        </a:defRPr>
                      </a:pPr>
                      <a:r>
                        <a:t>Change</a:t>
                      </a:r>
                    </a:p>
                  </a:txBody>
                  <a:tcPr marL="54864" marR="54864" marT="18288" marB="18288" anchor="ctr">
                    <a:solidFill>
                      <a:srgbClr val="C8102E"/>
                    </a:solidFill>
                  </a:tcPr>
                </a:tc>
                <a:tc>
                  <a:txBody>
                    <a:bodyPr/>
                    <a:lstStyle/>
                    <a:p>
                      <a:pPr algn="r">
                        <a:defRPr sz="680" b="1">
                          <a:solidFill>
                            <a:srgbClr val="FFFFFF"/>
                          </a:solidFill>
                          <a:latin typeface="Poppins"/>
                        </a:defRPr>
                      </a:pPr>
                      <a:r>
                        <a:t>Detail</a:t>
                      </a:r>
                    </a:p>
                  </a:txBody>
                  <a:tcPr marL="54864" marR="54864" marT="18288" marB="18288" anchor="ctr">
                    <a:solidFill>
                      <a:srgbClr val="C8102E"/>
                    </a:solidFill>
                  </a:tcPr>
                </a:tc>
              </a:tr>
              <a:tr h="274320">
                <a:tc>
                  <a:txBody>
                    <a:bodyPr/>
                    <a:lstStyle/>
                    <a:p>
                      <a:pPr algn="l">
                        <a:defRPr sz="720" b="0">
                          <a:solidFill>
                            <a:srgbClr val="4A4D55"/>
                          </a:solidFill>
                          <a:latin typeface="Poppins"/>
                        </a:defRPr>
                      </a:pPr>
                      <a:r>
                        <a:t>Added</a:t>
                      </a:r>
                    </a:p>
                  </a:txBody>
                  <a:tcPr marL="54864" marR="54864" marT="13716" marB="13716" anchor="ctr">
                    <a:solidFill>
                      <a:srgbClr val="FFFFFF"/>
                    </a:solidFill>
                  </a:tcPr>
                </a:tc>
                <a:tc>
                  <a:txBody>
                    <a:bodyPr/>
                    <a:lstStyle/>
                    <a:p>
                      <a:pPr algn="r">
                        <a:defRPr sz="720" b="0">
                          <a:solidFill>
                            <a:srgbClr val="4A4D55"/>
                          </a:solidFill>
                          <a:latin typeface="Poppins"/>
                        </a:defRPr>
                      </a:pPr>
                      <a:r>
                        <a:t>GPR, EPU, China CLI, copper/zinc, US PPIs and output, shock indicators</a:t>
                      </a:r>
                    </a:p>
                  </a:txBody>
                  <a:tcPr marL="54864" marR="54864" marT="13716" marB="13716" anchor="ctr">
                    <a:solidFill>
                      <a:srgbClr val="FFFFFF"/>
                    </a:solidFill>
                  </a:tcPr>
                </a:tc>
              </a:tr>
              <a:tr h="274320">
                <a:tc>
                  <a:txBody>
                    <a:bodyPr/>
                    <a:lstStyle/>
                    <a:p>
                      <a:pPr algn="l">
                        <a:defRPr sz="720" b="0">
                          <a:solidFill>
                            <a:srgbClr val="4A4D55"/>
                          </a:solidFill>
                          <a:latin typeface="Poppins"/>
                        </a:defRPr>
                      </a:pPr>
                      <a:r>
                        <a:t>Replaced</a:t>
                      </a:r>
                    </a:p>
                  </a:txBody>
                  <a:tcPr marL="54864" marR="54864" marT="13716" marB="13716" anchor="ctr">
                    <a:solidFill>
                      <a:srgbClr val="FFFFFF"/>
                    </a:solidFill>
                  </a:tcPr>
                </a:tc>
                <a:tc>
                  <a:txBody>
                    <a:bodyPr/>
                    <a:lstStyle/>
                    <a:p>
                      <a:pPr algn="r">
                        <a:defRPr sz="720" b="0">
                          <a:solidFill>
                            <a:srgbClr val="4A4D55"/>
                          </a:solidFill>
                          <a:latin typeface="Poppins"/>
                        </a:defRPr>
                      </a:pPr>
                      <a:r>
                        <a:t>Simulated PVC price, formula drivers → real BLS PPI WPU066 and published data</a:t>
                      </a:r>
                    </a:p>
                  </a:txBody>
                  <a:tcPr marL="54864" marR="54864" marT="13716" marB="13716" anchor="ctr">
                    <a:solidFill>
                      <a:srgbClr val="FFFFFF"/>
                    </a:solidFill>
                  </a:tcPr>
                </a:tc>
              </a:tr>
              <a:tr h="274320">
                <a:tc>
                  <a:txBody>
                    <a:bodyPr/>
                    <a:lstStyle/>
                    <a:p>
                      <a:pPr algn="l">
                        <a:defRPr sz="720" b="0">
                          <a:solidFill>
                            <a:srgbClr val="4A4D55"/>
                          </a:solidFill>
                          <a:latin typeface="Poppins"/>
                        </a:defRPr>
                      </a:pPr>
                      <a:r>
                        <a:t>Not testable</a:t>
                      </a:r>
                    </a:p>
                  </a:txBody>
                  <a:tcPr marL="54864" marR="54864" marT="13716" marB="13716" anchor="ctr">
                    <a:solidFill>
                      <a:srgbClr val="FFFFFF"/>
                    </a:solidFill>
                  </a:tcPr>
                </a:tc>
                <a:tc>
                  <a:txBody>
                    <a:bodyPr/>
                    <a:lstStyle/>
                    <a:p>
                      <a:pPr algn="r">
                        <a:defRPr sz="720" b="0">
                          <a:solidFill>
                            <a:srgbClr val="4A4D55"/>
                          </a:solidFill>
                          <a:latin typeface="Poppins"/>
                        </a:defRPr>
                      </a:pPr>
                      <a:r>
                        <a:t>LME stocks, China export offers, ethylene/VCM: no free history</a:t>
                      </a:r>
                    </a:p>
                  </a:txBody>
                  <a:tcPr marL="54864" marR="54864" marT="13716" marB="13716" anchor="ctr">
                    <a:solidFill>
                      <a:srgbClr val="FFFFFF"/>
                    </a:solidFill>
                  </a:tcPr>
                </a:tc>
              </a:tr>
            </a:tbl>
          </a:graphicData>
        </a:graphic>
      </p:graphicFrame>
      <p:sp>
        <p:nvSpPr>
          <p:cNvPr id="72" name="TextBox 71"/>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World Bank Pink Sheet. [2] BLS and Federal Reserve via FRED. [3] ECB. [4] Caldara &amp; Iacoviello (2022), AER 112(4). [5] Baker, Bloom &amp; Davis (2016), QJE 131(4). [6] OECD leading indicators. Public sources only.</a:t>
            </a:r>
          </a:p>
        </p:txBody>
      </p:sp>
      <p:sp>
        <p:nvSpPr>
          <p:cNvPr id="73" name="TextBox 72"/>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4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Every feature carries the publication lag it really had, so the backtest sees only</a:t>
            </a:r>
          </a:p>
          <a:p>
            <a:pPr algn="l">
              <a:lnSpc>
                <a:spcPct val="112000"/>
              </a:lnSpc>
              <a:defRPr sz="1700" b="1" i="0">
                <a:solidFill>
                  <a:srgbClr val="16181D"/>
                </a:solidFill>
                <a:latin typeface="Poppins"/>
              </a:defRPr>
            </a:pPr>
            <a:r>
              <a:t>what was public at the time</a:t>
            </a:r>
          </a:p>
        </p:txBody>
      </p:sp>
      <p:sp>
        <p:nvSpPr>
          <p:cNvPr id="14" name="TextBox 13"/>
          <p:cNvSpPr txBox="1"/>
          <p:nvPr/>
        </p:nvSpPr>
        <p:spPr>
          <a:xfrm>
            <a:off x="502920" y="178308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as-of lag table, enforced in code</a:t>
            </a:r>
          </a:p>
        </p:txBody>
      </p:sp>
      <p:graphicFrame>
        <p:nvGraphicFramePr>
          <p:cNvPr id="15" name="Table 14"/>
          <p:cNvGraphicFramePr>
            <a:graphicFrameLocks noGrp="1"/>
          </p:cNvGraphicFramePr>
          <p:nvPr/>
        </p:nvGraphicFramePr>
        <p:xfrm>
          <a:off x="502920" y="2066543"/>
          <a:ext cx="6675117" cy="1883664"/>
        </p:xfrm>
        <a:graphic>
          <a:graphicData uri="http://schemas.openxmlformats.org/drawingml/2006/table">
            <a:tbl>
              <a:tblPr>
                <a:tableStyleId>{5C22544A-7EE6-4342-B048-85BDC9FD1C3A}</a:tableStyleId>
              </a:tblPr>
              <a:tblGrid>
                <a:gridCol w="2468879"/>
                <a:gridCol w="2926079"/>
                <a:gridCol w="1280159"/>
              </a:tblGrid>
              <a:tr h="237744">
                <a:tc>
                  <a:txBody>
                    <a:bodyPr/>
                    <a:lstStyle/>
                    <a:p>
                      <a:pPr algn="l">
                        <a:defRPr sz="700" b="1">
                          <a:solidFill>
                            <a:srgbClr val="FFFFFF"/>
                          </a:solidFill>
                          <a:latin typeface="Poppins"/>
                        </a:defRPr>
                      </a:pPr>
                      <a:r>
                        <a:t>Source</a:t>
                      </a:r>
                    </a:p>
                  </a:txBody>
                  <a:tcPr marL="54864" marR="54864" marT="18288" marB="18288" anchor="ctr">
                    <a:solidFill>
                      <a:srgbClr val="C8102E"/>
                    </a:solidFill>
                  </a:tcPr>
                </a:tc>
                <a:tc>
                  <a:txBody>
                    <a:bodyPr/>
                    <a:lstStyle/>
                    <a:p>
                      <a:pPr algn="r">
                        <a:defRPr sz="700" b="1">
                          <a:solidFill>
                            <a:srgbClr val="FFFFFF"/>
                          </a:solidFill>
                          <a:latin typeface="Poppins"/>
                        </a:defRPr>
                      </a:pPr>
                      <a:r>
                        <a:t>Series</a:t>
                      </a:r>
                    </a:p>
                  </a:txBody>
                  <a:tcPr marL="54864" marR="54864" marT="18288" marB="18288" anchor="ctr">
                    <a:solidFill>
                      <a:srgbClr val="C8102E"/>
                    </a:solidFill>
                  </a:tcPr>
                </a:tc>
                <a:tc>
                  <a:txBody>
                    <a:bodyPr/>
                    <a:lstStyle/>
                    <a:p>
                      <a:pPr algn="r">
                        <a:defRPr sz="700" b="1">
                          <a:solidFill>
                            <a:srgbClr val="FFFFFF"/>
                          </a:solidFill>
                          <a:latin typeface="Poppins"/>
                        </a:defRPr>
                      </a:pPr>
                      <a:r>
                        <a:t>Lag applied</a:t>
                      </a:r>
                    </a:p>
                  </a:txBody>
                  <a:tcPr marL="54864" marR="54864" marT="18288" marB="18288" anchor="ctr">
                    <a:solidFill>
                      <a:srgbClr val="C8102E"/>
                    </a:solidFill>
                  </a:tcPr>
                </a:tc>
              </a:tr>
              <a:tr h="274320">
                <a:tc>
                  <a:txBody>
                    <a:bodyPr/>
                    <a:lstStyle/>
                    <a:p>
                      <a:pPr algn="l">
                        <a:defRPr sz="760" b="0">
                          <a:solidFill>
                            <a:srgbClr val="4A4D55"/>
                          </a:solidFill>
                          <a:latin typeface="Poppins"/>
                        </a:defRPr>
                      </a:pPr>
                      <a:r>
                        <a:t>World Bank Pink Sheet prices</a:t>
                      </a:r>
                    </a:p>
                  </a:txBody>
                  <a:tcPr marL="54864" marR="54864" marT="13716" marB="13716" anchor="ctr">
                    <a:solidFill>
                      <a:srgbClr val="FFFFFF"/>
                    </a:solidFill>
                  </a:tcPr>
                </a:tc>
                <a:tc>
                  <a:txBody>
                    <a:bodyPr/>
                    <a:lstStyle/>
                    <a:p>
                      <a:pPr algn="r">
                        <a:defRPr sz="760" b="0">
                          <a:solidFill>
                            <a:srgbClr val="4A4D55"/>
                          </a:solidFill>
                          <a:latin typeface="Poppins"/>
                        </a:defRPr>
                      </a:pPr>
                      <a:r>
                        <a:t>aluminium, Brent, coal, gas, base metals</a:t>
                      </a:r>
                    </a:p>
                  </a:txBody>
                  <a:tcPr marL="54864" marR="54864" marT="13716" marB="13716" anchor="ctr">
                    <a:solidFill>
                      <a:srgbClr val="FFFFFF"/>
                    </a:solidFill>
                  </a:tcPr>
                </a:tc>
                <a:tc>
                  <a:txBody>
                    <a:bodyPr/>
                    <a:lstStyle/>
                    <a:p>
                      <a:pPr algn="r">
                        <a:defRPr sz="760" b="0">
                          <a:solidFill>
                            <a:srgbClr val="4A4D55"/>
                          </a:solidFill>
                          <a:latin typeface="Poppi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BLS producer price indices</a:t>
                      </a:r>
                    </a:p>
                  </a:txBody>
                  <a:tcPr marL="54864" marR="54864" marT="13716" marB="13716" anchor="ctr">
                    <a:solidFill>
                      <a:srgbClr val="FFFFFF"/>
                    </a:solidFill>
                  </a:tcPr>
                </a:tc>
                <a:tc>
                  <a:txBody>
                    <a:bodyPr/>
                    <a:lstStyle/>
                    <a:p>
                      <a:pPr algn="r">
                        <a:defRPr sz="760" b="0">
                          <a:solidFill>
                            <a:srgbClr val="4A4D55"/>
                          </a:solidFill>
                          <a:latin typeface="Poppins"/>
                        </a:defRPr>
                      </a:pPr>
                      <a:r>
                        <a:t>PVC target (WPU066), monomers, primary Al</a:t>
                      </a:r>
                    </a:p>
                  </a:txBody>
                  <a:tcPr marL="54864" marR="54864" marT="13716" marB="13716" anchor="ctr">
                    <a:solidFill>
                      <a:srgbClr val="FFFFFF"/>
                    </a:solidFill>
                  </a:tcPr>
                </a:tc>
                <a:tc>
                  <a:txBody>
                    <a:bodyPr/>
                    <a:lstStyle/>
                    <a:p>
                      <a:pPr algn="r">
                        <a:defRPr sz="760" b="0">
                          <a:solidFill>
                            <a:srgbClr val="4A4D55"/>
                          </a:solidFill>
                          <a:latin typeface="Poppi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Fed industrial production</a:t>
                      </a:r>
                    </a:p>
                  </a:txBody>
                  <a:tcPr marL="54864" marR="54864" marT="13716" marB="13716" anchor="ctr">
                    <a:solidFill>
                      <a:srgbClr val="FFFFFF"/>
                    </a:solidFill>
                  </a:tcPr>
                </a:tc>
                <a:tc>
                  <a:txBody>
                    <a:bodyPr/>
                    <a:lstStyle/>
                    <a:p>
                      <a:pPr algn="r">
                        <a:defRPr sz="760" b="0">
                          <a:solidFill>
                            <a:srgbClr val="4A4D55"/>
                          </a:solidFill>
                          <a:latin typeface="Poppins"/>
                        </a:defRPr>
                      </a:pPr>
                      <a:r>
                        <a:t>resins, aluminium, total industry</a:t>
                      </a:r>
                    </a:p>
                  </a:txBody>
                  <a:tcPr marL="54864" marR="54864" marT="13716" marB="13716" anchor="ctr">
                    <a:solidFill>
                      <a:srgbClr val="FFFFFF"/>
                    </a:solidFill>
                  </a:tcPr>
                </a:tc>
                <a:tc>
                  <a:txBody>
                    <a:bodyPr/>
                    <a:lstStyle/>
                    <a:p>
                      <a:pPr algn="r">
                        <a:defRPr sz="760" b="0">
                          <a:solidFill>
                            <a:srgbClr val="4A4D55"/>
                          </a:solidFill>
                          <a:latin typeface="Poppins"/>
                        </a:defRPr>
                      </a:pPr>
                      <a:r>
                        <a:t>1 month</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ECB reference rates</a:t>
                      </a:r>
                    </a:p>
                  </a:txBody>
                  <a:tcPr marL="54864" marR="54864" marT="13716" marB="13716" anchor="ctr">
                    <a:solidFill>
                      <a:srgbClr val="FFFFFF"/>
                    </a:solidFill>
                  </a:tcPr>
                </a:tc>
                <a:tc>
                  <a:txBody>
                    <a:bodyPr/>
                    <a:lstStyle/>
                    <a:p>
                      <a:pPr algn="r">
                        <a:defRPr sz="760" b="0">
                          <a:solidFill>
                            <a:srgbClr val="4A4D55"/>
                          </a:solidFill>
                          <a:latin typeface="Poppins"/>
                        </a:defRPr>
                      </a:pPr>
                      <a:r>
                        <a:t>USD/INR</a:t>
                      </a:r>
                    </a:p>
                  </a:txBody>
                  <a:tcPr marL="54864" marR="54864" marT="13716" marB="13716" anchor="ctr">
                    <a:solidFill>
                      <a:srgbClr val="FFFFFF"/>
                    </a:solidFill>
                  </a:tcPr>
                </a:tc>
                <a:tc>
                  <a:txBody>
                    <a:bodyPr/>
                    <a:lstStyle/>
                    <a:p>
                      <a:pPr algn="r">
                        <a:defRPr sz="760" b="0">
                          <a:solidFill>
                            <a:srgbClr val="4A4D55"/>
                          </a:solidFill>
                          <a:latin typeface="Poppi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GPR, EPU, OECD China CLI</a:t>
                      </a:r>
                    </a:p>
                  </a:txBody>
                  <a:tcPr marL="54864" marR="54864" marT="13716" marB="13716" anchor="ctr">
                    <a:solidFill>
                      <a:srgbClr val="FFFFFF"/>
                    </a:solidFill>
                  </a:tcPr>
                </a:tc>
                <a:tc>
                  <a:txBody>
                    <a:bodyPr/>
                    <a:lstStyle/>
                    <a:p>
                      <a:pPr algn="r">
                        <a:defRPr sz="760" b="0">
                          <a:solidFill>
                            <a:srgbClr val="4A4D55"/>
                          </a:solidFill>
                          <a:latin typeface="Poppins"/>
                        </a:defRPr>
                      </a:pPr>
                      <a:r>
                        <a:t>risk, uncertainty, China demand</a:t>
                      </a:r>
                    </a:p>
                  </a:txBody>
                  <a:tcPr marL="54864" marR="54864" marT="13716" marB="13716" anchor="ctr">
                    <a:solidFill>
                      <a:srgbClr val="FFFFFF"/>
                    </a:solidFill>
                  </a:tcPr>
                </a:tc>
                <a:tc>
                  <a:txBody>
                    <a:bodyPr/>
                    <a:lstStyle/>
                    <a:p>
                      <a:pPr algn="r">
                        <a:defRPr sz="760" b="0">
                          <a:solidFill>
                            <a:srgbClr val="4A4D55"/>
                          </a:solidFill>
                          <a:latin typeface="Poppins"/>
                        </a:defRPr>
                      </a:pPr>
                      <a:r>
                        <a:t>0 PVC · 1 Al</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BTS freight index</a:t>
                      </a:r>
                    </a:p>
                  </a:txBody>
                  <a:tcPr marL="54864" marR="54864" marT="13716" marB="13716" anchor="ctr">
                    <a:solidFill>
                      <a:srgbClr val="FFFFFF"/>
                    </a:solidFill>
                  </a:tcPr>
                </a:tc>
                <a:tc>
                  <a:txBody>
                    <a:bodyPr/>
                    <a:lstStyle/>
                    <a:p>
                      <a:pPr algn="r">
                        <a:defRPr sz="760" b="0">
                          <a:solidFill>
                            <a:srgbClr val="4A4D55"/>
                          </a:solidFill>
                          <a:latin typeface="Poppins"/>
                        </a:defRPr>
                      </a:pPr>
                      <a:r>
                        <a:t>US freight transportation services</a:t>
                      </a:r>
                    </a:p>
                  </a:txBody>
                  <a:tcPr marL="54864" marR="54864" marT="13716" marB="13716" anchor="ctr">
                    <a:solidFill>
                      <a:srgbClr val="FFFFFF"/>
                    </a:solidFill>
                  </a:tcPr>
                </a:tc>
                <a:tc>
                  <a:txBody>
                    <a:bodyPr/>
                    <a:lstStyle/>
                    <a:p>
                      <a:pPr algn="r">
                        <a:defRPr sz="760" b="0">
                          <a:solidFill>
                            <a:srgbClr val="4A4D55"/>
                          </a:solidFill>
                          <a:latin typeface="Poppins"/>
                        </a:defRPr>
                      </a:pPr>
                      <a:r>
                        <a:t>2 months</a:t>
                      </a:r>
                    </a:p>
                  </a:txBody>
                  <a:tcPr marL="54864" marR="54864" marT="13716" marB="13716" anchor="ctr">
                    <a:solidFill>
                      <a:srgbClr val="FFFFFF"/>
                    </a:solidFill>
                  </a:tcPr>
                </a:tc>
              </a:tr>
            </a:tbl>
          </a:graphicData>
        </a:graphic>
      </p:graphicFrame>
      <p:sp>
        <p:nvSpPr>
          <p:cNvPr id="16" name="TextBox 15"/>
          <p:cNvSpPr txBox="1"/>
          <p:nvPr/>
        </p:nvSpPr>
        <p:spPr>
          <a:xfrm>
            <a:off x="502920" y="4041648"/>
            <a:ext cx="667512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One function, visible_panel(material), applies every lag. Training rows are embargoed:</a:t>
            </a:r>
          </a:p>
          <a:p>
            <a:pPr algn="l">
              <a:lnSpc>
                <a:spcPct val="125000"/>
              </a:lnSpc>
              <a:defRPr sz="740" b="1" i="0">
                <a:solidFill>
                  <a:srgbClr val="C8102E"/>
                </a:solidFill>
                <a:latin typeface="Poppins"/>
              </a:defRPr>
            </a:pPr>
            <a:r>
              <a:t>a row is used only if its h-month outcome was published before the forecast day.</a:t>
            </a:r>
          </a:p>
        </p:txBody>
      </p:sp>
      <p:cxnSp>
        <p:nvCxnSpPr>
          <p:cNvPr id="17" name="Connector 16"/>
          <p:cNvCxnSpPr/>
          <p:nvPr/>
        </p:nvCxnSpPr>
        <p:spPr>
          <a:xfrm>
            <a:off x="502920" y="4572000"/>
            <a:ext cx="66751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470916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Leakage guardrails, enforced and tested</a:t>
            </a:r>
          </a:p>
        </p:txBody>
      </p:sp>
      <p:sp>
        <p:nvSpPr>
          <p:cNvPr id="19" name="TextBox 18"/>
          <p:cNvSpPr txBox="1"/>
          <p:nvPr/>
        </p:nvSpPr>
        <p:spPr>
          <a:xfrm>
            <a:off x="502920" y="501091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0" name="TextBox 19"/>
          <p:cNvSpPr txBox="1"/>
          <p:nvPr/>
        </p:nvSpPr>
        <p:spPr>
          <a:xfrm>
            <a:off x="621792" y="501091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Embargo on every training row, asserted in the backtest itself.</a:t>
            </a:r>
          </a:p>
        </p:txBody>
      </p:sp>
      <p:sp>
        <p:nvSpPr>
          <p:cNvPr id="21" name="TextBox 20"/>
          <p:cNvSpPr txBox="1"/>
          <p:nvPr/>
        </p:nvSpPr>
        <p:spPr>
          <a:xfrm>
            <a:off x="502920" y="521665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2" name="TextBox 21"/>
          <p:cNvSpPr txBox="1"/>
          <p:nvPr/>
        </p:nvSpPr>
        <p:spPr>
          <a:xfrm>
            <a:off x="621792" y="521665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Future-perturbation test: scramble all post-origin data; no forecast may change.</a:t>
            </a:r>
          </a:p>
        </p:txBody>
      </p:sp>
      <p:sp>
        <p:nvSpPr>
          <p:cNvPr id="23" name="TextBox 22"/>
          <p:cNvSpPr txBox="1"/>
          <p:nvPr/>
        </p:nvSpPr>
        <p:spPr>
          <a:xfrm>
            <a:off x="502920" y="54223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4" name="TextBox 23"/>
          <p:cNvSpPr txBox="1"/>
          <p:nvPr/>
        </p:nvSpPr>
        <p:spPr>
          <a:xfrm>
            <a:off x="621792" y="542239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The Round 2 draft logic fails that test; version 2 passes it.</a:t>
            </a:r>
          </a:p>
        </p:txBody>
      </p:sp>
      <p:sp>
        <p:nvSpPr>
          <p:cNvPr id="25" name="TextBox 24"/>
          <p:cNvSpPr txBox="1"/>
          <p:nvPr/>
        </p:nvSpPr>
        <p:spPr>
          <a:xfrm>
            <a:off x="502920" y="562813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6" name="TextBox 25"/>
          <p:cNvSpPr txBox="1"/>
          <p:nvPr/>
        </p:nvSpPr>
        <p:spPr>
          <a:xfrm>
            <a:off x="621792" y="562813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Trailing windows only, no back-fill; selection and tuning inside every fold.</a:t>
            </a:r>
          </a:p>
        </p:txBody>
      </p:sp>
      <p:sp>
        <p:nvSpPr>
          <p:cNvPr id="27" name="TextBox 26"/>
          <p:cNvSpPr txBox="1"/>
          <p:nvPr/>
        </p:nvSpPr>
        <p:spPr>
          <a:xfrm>
            <a:off x="7452360" y="178308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Coverage of the assembled panel</a:t>
            </a:r>
          </a:p>
        </p:txBody>
      </p:sp>
      <p:cxnSp>
        <p:nvCxnSpPr>
          <p:cNvPr id="28" name="Connector 27"/>
          <p:cNvCxnSpPr/>
          <p:nvPr/>
        </p:nvCxnSpPr>
        <p:spPr>
          <a:xfrm>
            <a:off x="745236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5236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Poppins"/>
              </a:defRPr>
            </a:pPr>
            <a:r>
              <a:t>74</a:t>
            </a:r>
          </a:p>
        </p:txBody>
      </p:sp>
      <p:sp>
        <p:nvSpPr>
          <p:cNvPr id="30" name="TextBox 29"/>
          <p:cNvSpPr txBox="1"/>
          <p:nvPr/>
        </p:nvSpPr>
        <p:spPr>
          <a:xfrm>
            <a:off x="745236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commodity series in the</a:t>
            </a:r>
          </a:p>
          <a:p>
            <a:pPr algn="l">
              <a:lnSpc>
                <a:spcPct val="122000"/>
              </a:lnSpc>
              <a:defRPr sz="760" b="0" i="0">
                <a:solidFill>
                  <a:srgbClr val="7C8089"/>
                </a:solidFill>
                <a:latin typeface="Poppins"/>
              </a:defRPr>
            </a:pPr>
            <a:r>
              <a:t>global training panel</a:t>
            </a:r>
          </a:p>
        </p:txBody>
      </p:sp>
      <p:cxnSp>
        <p:nvCxnSpPr>
          <p:cNvPr id="31" name="Connector 30"/>
          <p:cNvCxnSpPr/>
          <p:nvPr/>
        </p:nvCxnSpPr>
        <p:spPr>
          <a:xfrm>
            <a:off x="891540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91540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Poppins"/>
              </a:defRPr>
            </a:pPr>
            <a:r>
              <a:t>41 / 36</a:t>
            </a:r>
          </a:p>
        </p:txBody>
      </p:sp>
      <p:sp>
        <p:nvSpPr>
          <p:cNvPr id="33" name="TextBox 32"/>
          <p:cNvSpPr txBox="1"/>
          <p:nvPr/>
        </p:nvSpPr>
        <p:spPr>
          <a:xfrm>
            <a:off x="891540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features for aluminium and</a:t>
            </a:r>
          </a:p>
          <a:p>
            <a:pPr algn="l">
              <a:lnSpc>
                <a:spcPct val="122000"/>
              </a:lnSpc>
              <a:defRPr sz="760" b="0" i="0">
                <a:solidFill>
                  <a:srgbClr val="7C8089"/>
                </a:solidFill>
                <a:latin typeface="Poppins"/>
              </a:defRPr>
            </a:pPr>
            <a:r>
              <a:t>PVC, all from real data</a:t>
            </a:r>
          </a:p>
        </p:txBody>
      </p:sp>
      <p:cxnSp>
        <p:nvCxnSpPr>
          <p:cNvPr id="34" name="Connector 33"/>
          <p:cNvCxnSpPr/>
          <p:nvPr/>
        </p:nvCxnSpPr>
        <p:spPr>
          <a:xfrm>
            <a:off x="1037844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44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Poppins"/>
              </a:defRPr>
            </a:pPr>
            <a:r>
              <a:t>78</a:t>
            </a:r>
          </a:p>
        </p:txBody>
      </p:sp>
      <p:sp>
        <p:nvSpPr>
          <p:cNvPr id="36" name="TextBox 35"/>
          <p:cNvSpPr txBox="1"/>
          <p:nvPr/>
        </p:nvSpPr>
        <p:spPr>
          <a:xfrm>
            <a:off x="1037844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scored origins 2018–24,</a:t>
            </a:r>
          </a:p>
          <a:p>
            <a:pPr algn="l">
              <a:lnSpc>
                <a:spcPct val="122000"/>
              </a:lnSpc>
              <a:defRPr sz="760" b="0" i="0">
                <a:solidFill>
                  <a:srgbClr val="7C8089"/>
                </a:solidFill>
                <a:latin typeface="Poppins"/>
              </a:defRPr>
            </a:pPr>
            <a:r>
              <a:t>plus a 2025–26 holdout</a:t>
            </a:r>
          </a:p>
        </p:txBody>
      </p:sp>
      <p:sp>
        <p:nvSpPr>
          <p:cNvPr id="37" name="TextBox 36"/>
          <p:cNvSpPr txBox="1"/>
          <p:nvPr/>
        </p:nvSpPr>
        <p:spPr>
          <a:xfrm>
            <a:off x="7452360" y="329184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Feature families</a:t>
            </a:r>
          </a:p>
        </p:txBody>
      </p:sp>
      <p:sp>
        <p:nvSpPr>
          <p:cNvPr id="38" name="TextBox 37"/>
          <p:cNvSpPr txBox="1"/>
          <p:nvPr/>
        </p:nvSpPr>
        <p:spPr>
          <a:xfrm>
            <a:off x="7452360" y="3584448"/>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39" name="TextBox 38"/>
          <p:cNvSpPr txBox="1"/>
          <p:nvPr/>
        </p:nvSpPr>
        <p:spPr>
          <a:xfrm>
            <a:off x="7571232" y="3584448"/>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Price dynamics — momentum, trailing volatility, z-scores</a:t>
            </a:r>
          </a:p>
        </p:txBody>
      </p:sp>
      <p:sp>
        <p:nvSpPr>
          <p:cNvPr id="40" name="TextBox 39"/>
          <p:cNvSpPr txBox="1"/>
          <p:nvPr/>
        </p:nvSpPr>
        <p:spPr>
          <a:xfrm>
            <a:off x="7452360" y="38084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1" name="TextBox 40"/>
          <p:cNvSpPr txBox="1"/>
          <p:nvPr/>
        </p:nvSpPr>
        <p:spPr>
          <a:xfrm>
            <a:off x="7571232" y="3808476"/>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Cost-push — coal, gas, Brent, monomer PPI, resin/feedstock spreads</a:t>
            </a:r>
          </a:p>
        </p:txBody>
      </p:sp>
      <p:sp>
        <p:nvSpPr>
          <p:cNvPr id="42" name="TextBox 41"/>
          <p:cNvSpPr txBox="1"/>
          <p:nvPr/>
        </p:nvSpPr>
        <p:spPr>
          <a:xfrm>
            <a:off x="7452360" y="4032504"/>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3" name="TextBox 42"/>
          <p:cNvSpPr txBox="1"/>
          <p:nvPr/>
        </p:nvSpPr>
        <p:spPr>
          <a:xfrm>
            <a:off x="7571232" y="4032504"/>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Demand — OECD China CLI, US industrial production, base metals</a:t>
            </a:r>
          </a:p>
        </p:txBody>
      </p:sp>
      <p:sp>
        <p:nvSpPr>
          <p:cNvPr id="44" name="TextBox 43"/>
          <p:cNvSpPr txBox="1"/>
          <p:nvPr/>
        </p:nvSpPr>
        <p:spPr>
          <a:xfrm>
            <a:off x="7452360" y="4256532"/>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5" name="TextBox 44"/>
          <p:cNvSpPr txBox="1"/>
          <p:nvPr/>
        </p:nvSpPr>
        <p:spPr>
          <a:xfrm>
            <a:off x="7571232" y="4256532"/>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Currency — USD/INR, also used in the landed-cost overlay</a:t>
            </a:r>
          </a:p>
        </p:txBody>
      </p:sp>
      <p:sp>
        <p:nvSpPr>
          <p:cNvPr id="46" name="TextBox 45"/>
          <p:cNvSpPr txBox="1"/>
          <p:nvPr/>
        </p:nvSpPr>
        <p:spPr>
          <a:xfrm>
            <a:off x="7452360" y="4480560"/>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7" name="TextBox 46"/>
          <p:cNvSpPr txBox="1"/>
          <p:nvPr/>
        </p:nvSpPr>
        <p:spPr>
          <a:xfrm>
            <a:off x="7571232" y="4480560"/>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Risk and shocks — GPR, EPU, data-driven shock indicators</a:t>
            </a:r>
          </a:p>
        </p:txBody>
      </p:sp>
      <p:sp>
        <p:nvSpPr>
          <p:cNvPr id="48" name="TextBox 47"/>
          <p:cNvSpPr txBox="1"/>
          <p:nvPr/>
        </p:nvSpPr>
        <p:spPr>
          <a:xfrm>
            <a:off x="7452360" y="4956048"/>
            <a:ext cx="425196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rPr sz="780" b="1" i="0">
                <a:solidFill>
                  <a:srgbClr val="4A4D55"/>
                </a:solidFill>
                <a:latin typeface="Poppins"/>
              </a:rPr>
              <a:t xml:space="preserve">Known limitation. </a:t>
            </a:r>
            <a:r>
              <a:rPr sz="780" b="0" i="0">
                <a:solidFill>
                  <a:srgbClr val="4A4D55"/>
                </a:solidFill>
                <a:latin typeface="Poppins"/>
              </a:rPr>
              <a:t>No free long-history Asian PVC spot price exists. We use the real</a:t>
            </a:r>
          </a:p>
          <a:p>
            <a:pPr algn="l">
              <a:lnSpc>
                <a:spcPct val="125000"/>
              </a:lnSpc>
              <a:defRPr sz="780" b="0" i="0">
                <a:solidFill>
                  <a:srgbClr val="4A4D55"/>
                </a:solidFill>
                <a:latin typeface="Poppins"/>
              </a:defRPr>
            </a:pPr>
            <a:r>
              <a:t>BLS producer price index for plastic resins (WPU066) as the proxy: a US index,</a:t>
            </a:r>
          </a:p>
          <a:p>
            <a:pPr algn="l">
              <a:lnSpc>
                <a:spcPct val="125000"/>
              </a:lnSpc>
              <a:defRPr sz="780" b="0" i="0">
                <a:solidFill>
                  <a:srgbClr val="4A4D55"/>
                </a:solidFill>
                <a:latin typeface="Poppins"/>
              </a:defRPr>
            </a:pPr>
            <a:r>
              <a:t>not Asian spot. The India landed price is a separate overlay, calibrated on ACG POs.</a:t>
            </a:r>
          </a:p>
        </p:txBody>
      </p:sp>
      <p:sp>
        <p:nvSpPr>
          <p:cNvPr id="49" name="TextBox 4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Publication lags set per material from each provider's release calendar (config/pipeline.yaml) and applied in one place. Aluminium is forecast on the 1st of the month; PVC on BLS PPI release day.</a:t>
            </a:r>
          </a:p>
        </p:txBody>
      </p:sp>
      <p:sp>
        <p:nvSpPr>
          <p:cNvPr id="50" name="TextBox 4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5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Econometric driver study: lead–lag cross-correlations and formal hypothesis verdicts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Lead–lag study: peak cross-correlations</a:t>
            </a:r>
          </a:p>
        </p:txBody>
      </p:sp>
      <p:pic>
        <p:nvPicPr>
          <p:cNvPr id="15" name="Picture 14" descr="aluminium_drivers.png"/>
          <p:cNvPicPr>
            <a:picLocks noChangeAspect="1"/>
          </p:cNvPicPr>
          <p:nvPr/>
        </p:nvPicPr>
        <p:blipFill>
          <a:blip r:embed="rId2"/>
          <a:stretch>
            <a:fillRect/>
          </a:stretch>
        </p:blipFill>
        <p:spPr>
          <a:xfrm>
            <a:off x="502920" y="2029968"/>
            <a:ext cx="5394960" cy="2202024"/>
          </a:xfrm>
          <a:prstGeom prst="rect">
            <a:avLst/>
          </a:prstGeom>
        </p:spPr>
      </p:pic>
      <p:sp>
        <p:nvSpPr>
          <p:cNvPr id="16" name="TextBox 15"/>
          <p:cNvSpPr txBox="1"/>
          <p:nvPr/>
        </p:nvSpPr>
        <p:spPr>
          <a:xfrm>
            <a:off x="502920" y="4279392"/>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the real data shows</a:t>
            </a:r>
          </a:p>
        </p:txBody>
      </p:sp>
      <p:sp>
        <p:nvSpPr>
          <p:cNvPr id="17" name="TextBox 16"/>
          <p:cNvSpPr txBox="1"/>
          <p:nvPr/>
        </p:nvSpPr>
        <p:spPr>
          <a:xfrm>
            <a:off x="502920" y="4535424"/>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Poppins"/>
              </a:defRPr>
            </a:pPr>
            <a:r>
              <a:t>•</a:t>
            </a:r>
          </a:p>
        </p:txBody>
      </p:sp>
      <p:sp>
        <p:nvSpPr>
          <p:cNvPr id="18" name="TextBox 17"/>
          <p:cNvSpPr txBox="1"/>
          <p:nvPr/>
        </p:nvSpPr>
        <p:spPr>
          <a:xfrm>
            <a:off x="630936" y="4535424"/>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Poppins"/>
              </a:defRPr>
            </a:pPr>
            <a:r>
              <a:rPr sz="750" b="1" i="0">
                <a:solidFill>
                  <a:srgbClr val="4A4D55"/>
                </a:solidFill>
                <a:latin typeface="Poppins"/>
              </a:rPr>
              <a:t xml:space="preserve">Aluminium moves with its peers, in the same month: </a:t>
            </a:r>
            <a:r>
              <a:rPr sz="750" b="0" i="0">
                <a:solidFill>
                  <a:srgbClr val="4A4D55"/>
                </a:solidFill>
                <a:latin typeface="Poppins"/>
              </a:rPr>
              <a:t>copper ρ = +0.68, zinc +0.63, energy +0.46 at lag 0. These explain moves; they cannot forecast them.</a:t>
            </a:r>
          </a:p>
        </p:txBody>
      </p:sp>
      <p:sp>
        <p:nvSpPr>
          <p:cNvPr id="19" name="TextBox 18"/>
          <p:cNvSpPr txBox="1"/>
          <p:nvPr/>
        </p:nvSpPr>
        <p:spPr>
          <a:xfrm>
            <a:off x="502920" y="4937760"/>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Poppins"/>
              </a:defRPr>
            </a:pPr>
            <a:r>
              <a:t>•</a:t>
            </a:r>
          </a:p>
        </p:txBody>
      </p:sp>
      <p:sp>
        <p:nvSpPr>
          <p:cNvPr id="20" name="TextBox 19"/>
          <p:cNvSpPr txBox="1"/>
          <p:nvPr/>
        </p:nvSpPr>
        <p:spPr>
          <a:xfrm>
            <a:off x="630936" y="4937760"/>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Poppins"/>
              </a:defRPr>
            </a:pPr>
            <a:r>
              <a:rPr sz="750" b="1" i="0">
                <a:solidFill>
                  <a:srgbClr val="4A4D55"/>
                </a:solidFill>
                <a:latin typeface="Poppins"/>
              </a:rPr>
              <a:t xml:space="preserve">China leading indicator leads both by ~2 months: </a:t>
            </a:r>
            <a:r>
              <a:rPr sz="750" b="0" i="0">
                <a:solidFill>
                  <a:srgbClr val="4A4D55"/>
                </a:solidFill>
                <a:latin typeface="Poppins"/>
              </a:rPr>
              <a:t>ρ = +0.20 (Al) and +0.18 (PVC), Granger-significant after FDR (q = 0.02 / 0.004).</a:t>
            </a:r>
          </a:p>
        </p:txBody>
      </p:sp>
      <p:sp>
        <p:nvSpPr>
          <p:cNvPr id="21" name="TextBox 20"/>
          <p:cNvSpPr txBox="1"/>
          <p:nvPr/>
        </p:nvSpPr>
        <p:spPr>
          <a:xfrm>
            <a:off x="502920" y="5340096"/>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Poppins"/>
              </a:defRPr>
            </a:pPr>
            <a:r>
              <a:t>•</a:t>
            </a:r>
          </a:p>
        </p:txBody>
      </p:sp>
      <p:sp>
        <p:nvSpPr>
          <p:cNvPr id="22" name="TextBox 21"/>
          <p:cNvSpPr txBox="1"/>
          <p:nvPr/>
        </p:nvSpPr>
        <p:spPr>
          <a:xfrm>
            <a:off x="630936" y="5340096"/>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Poppins"/>
              </a:defRPr>
            </a:pPr>
            <a:r>
              <a:rPr sz="750" b="1" i="0">
                <a:solidFill>
                  <a:srgbClr val="4A4D55"/>
                </a:solidFill>
                <a:latin typeface="Poppins"/>
              </a:rPr>
              <a:t xml:space="preserve">Brent crude leads the PVC proxy by 1 month: </a:t>
            </a:r>
            <a:r>
              <a:rPr sz="750" b="0" i="0">
                <a:solidFill>
                  <a:srgbClr val="4A4D55"/>
                </a:solidFill>
                <a:latin typeface="Poppins"/>
              </a:rPr>
              <a:t>ρ = +0.41, Granger q &lt; 0.001. The energy index (+0.44) and US gas also lead it.</a:t>
            </a:r>
          </a:p>
        </p:txBody>
      </p:sp>
      <p:sp>
        <p:nvSpPr>
          <p:cNvPr id="23" name="TextBox 22"/>
          <p:cNvSpPr txBox="1"/>
          <p:nvPr/>
        </p:nvSpPr>
        <p:spPr>
          <a:xfrm>
            <a:off x="502920" y="5742432"/>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Poppins"/>
              </a:defRPr>
            </a:pPr>
            <a:r>
              <a:t>•</a:t>
            </a:r>
          </a:p>
        </p:txBody>
      </p:sp>
      <p:sp>
        <p:nvSpPr>
          <p:cNvPr id="24" name="TextBox 23"/>
          <p:cNvSpPr txBox="1"/>
          <p:nvPr/>
        </p:nvSpPr>
        <p:spPr>
          <a:xfrm>
            <a:off x="630936" y="5742432"/>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Poppins"/>
              </a:defRPr>
            </a:pPr>
            <a:r>
              <a:rPr sz="750" b="1" i="0">
                <a:solidFill>
                  <a:srgbClr val="4A4D55"/>
                </a:solidFill>
                <a:latin typeface="Poppins"/>
              </a:rPr>
              <a:t xml:space="preserve">Not testable with free data: </a:t>
            </a:r>
            <a:r>
              <a:rPr sz="750" b="0" i="0">
                <a:solidFill>
                  <a:srgbClr val="4A4D55"/>
                </a:solidFill>
                <a:latin typeface="Poppins"/>
              </a:rPr>
              <a:t>LME stocks and China PVC export offers. We say so rather than simulate them.</a:t>
            </a:r>
          </a:p>
        </p:txBody>
      </p:sp>
      <p:sp>
        <p:nvSpPr>
          <p:cNvPr id="25" name="TextBox 24"/>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Four core hypotheses: formal verdicts</a:t>
            </a:r>
          </a:p>
        </p:txBody>
      </p:sp>
      <p:sp>
        <p:nvSpPr>
          <p:cNvPr id="26" name="Rectangle 25"/>
          <p:cNvSpPr/>
          <p:nvPr/>
        </p:nvSpPr>
        <p:spPr>
          <a:xfrm>
            <a:off x="6263640" y="2029968"/>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2029968"/>
            <a:ext cx="41148" cy="9144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0" y="2121408"/>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Poppins"/>
              </a:defRPr>
            </a:pPr>
            <a:r>
              <a:t>H1</a:t>
            </a:r>
          </a:p>
        </p:txBody>
      </p:sp>
      <p:sp>
        <p:nvSpPr>
          <p:cNvPr id="29" name="TextBox 28"/>
          <p:cNvSpPr txBox="1"/>
          <p:nvPr/>
        </p:nvSpPr>
        <p:spPr>
          <a:xfrm>
            <a:off x="6858000" y="2121408"/>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Poppins"/>
              </a:defRPr>
            </a:pPr>
            <a:r>
              <a:t>China coal and LME stocks lead aluminium by 1 to 3 months.</a:t>
            </a:r>
          </a:p>
        </p:txBody>
      </p:sp>
      <p:sp>
        <p:nvSpPr>
          <p:cNvPr id="30" name="TextBox 29"/>
          <p:cNvSpPr txBox="1"/>
          <p:nvPr/>
        </p:nvSpPr>
        <p:spPr>
          <a:xfrm>
            <a:off x="10469880" y="2121408"/>
            <a:ext cx="1143000" cy="201168"/>
          </a:xfrm>
          <a:prstGeom prst="rect">
            <a:avLst/>
          </a:prstGeom>
          <a:noFill/>
        </p:spPr>
        <p:txBody>
          <a:bodyPr wrap="square" lIns="0" rIns="0" tIns="0" bIns="0">
            <a:spAutoFit/>
          </a:bodyPr>
          <a:lstStyle/>
          <a:p>
            <a:pPr algn="r">
              <a:lnSpc>
                <a:spcPct val="115000"/>
              </a:lnSpc>
              <a:defRPr sz="740" b="1" i="0">
                <a:solidFill>
                  <a:srgbClr val="C8102E"/>
                </a:solidFill>
                <a:latin typeface="Poppins"/>
              </a:defRPr>
            </a:pPr>
            <a:r>
              <a:rPr sz="740" b="1" i="0">
                <a:solidFill>
                  <a:srgbClr val="C8102E"/>
                </a:solidFill>
                <a:latin typeface="Poppins"/>
              </a:rPr>
              <a:t>NOT SUPPORTED</a:t>
            </a:r>
          </a:p>
        </p:txBody>
      </p:sp>
      <p:sp>
        <p:nvSpPr>
          <p:cNvPr id="31" name="TextBox 30"/>
          <p:cNvSpPr txBox="1"/>
          <p:nvPr/>
        </p:nvSpPr>
        <p:spPr>
          <a:xfrm>
            <a:off x="6858000" y="2340864"/>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Poppins"/>
              </a:defRPr>
            </a:pPr>
            <a:r>
              <a:t>Coal: best lead 0m, ρ = +0.36, Granger q = 0.83  ·  LME stocks: no free history, not testable</a:t>
            </a:r>
          </a:p>
        </p:txBody>
      </p:sp>
      <p:sp>
        <p:nvSpPr>
          <p:cNvPr id="32" name="TextBox 31"/>
          <p:cNvSpPr txBox="1"/>
          <p:nvPr/>
        </p:nvSpPr>
        <p:spPr>
          <a:xfrm>
            <a:off x="6858000" y="2596896"/>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Poppins"/>
              </a:defRPr>
            </a:pPr>
            <a:r>
              <a:t>Coal moves with aluminium in the same month but does not lead it. Round 2's stocks result came from a series computed from the price itself.</a:t>
            </a:r>
          </a:p>
        </p:txBody>
      </p:sp>
      <p:sp>
        <p:nvSpPr>
          <p:cNvPr id="33" name="Rectangle 32"/>
          <p:cNvSpPr/>
          <p:nvPr/>
        </p:nvSpPr>
        <p:spPr>
          <a:xfrm>
            <a:off x="6263640" y="2999232"/>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263640" y="2999232"/>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0" y="3090672"/>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Poppins"/>
              </a:defRPr>
            </a:pPr>
            <a:r>
              <a:t>H2</a:t>
            </a:r>
          </a:p>
        </p:txBody>
      </p:sp>
      <p:sp>
        <p:nvSpPr>
          <p:cNvPr id="36" name="TextBox 35"/>
          <p:cNvSpPr txBox="1"/>
          <p:nvPr/>
        </p:nvSpPr>
        <p:spPr>
          <a:xfrm>
            <a:off x="6858000" y="3090672"/>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Poppins"/>
              </a:defRPr>
            </a:pPr>
            <a:r>
              <a:t>Feedstock and China export offers lead PVC by 1 to 2 months.</a:t>
            </a:r>
          </a:p>
        </p:txBody>
      </p:sp>
      <p:sp>
        <p:nvSpPr>
          <p:cNvPr id="37" name="TextBox 36"/>
          <p:cNvSpPr txBox="1"/>
          <p:nvPr/>
        </p:nvSpPr>
        <p:spPr>
          <a:xfrm>
            <a:off x="10469880" y="3090672"/>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Poppins"/>
              </a:defRPr>
            </a:pPr>
            <a:r>
              <a:rPr sz="740" b="1" i="0">
                <a:solidFill>
                  <a:srgbClr val="8A5A00"/>
                </a:solidFill>
                <a:latin typeface="Poppins"/>
              </a:rPr>
              <a:t>PARTIAL</a:t>
            </a:r>
          </a:p>
        </p:txBody>
      </p:sp>
      <p:sp>
        <p:nvSpPr>
          <p:cNvPr id="38" name="TextBox 37"/>
          <p:cNvSpPr txBox="1"/>
          <p:nvPr/>
        </p:nvSpPr>
        <p:spPr>
          <a:xfrm>
            <a:off x="6858000" y="3310128"/>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Poppins"/>
              </a:defRPr>
            </a:pPr>
            <a:r>
              <a:t>Brent: lead 1m, ρ = +0.41, q &lt; 0.001  ·  Monomer PPI: lead 6m, ρ = −0.23, q = 0.63</a:t>
            </a:r>
          </a:p>
        </p:txBody>
      </p:sp>
      <p:sp>
        <p:nvSpPr>
          <p:cNvPr id="39" name="TextBox 38"/>
          <p:cNvSpPr txBox="1"/>
          <p:nvPr/>
        </p:nvSpPr>
        <p:spPr>
          <a:xfrm>
            <a:off x="6858000" y="3566160"/>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Poppins"/>
              </a:defRPr>
            </a:pPr>
            <a:r>
              <a:t>Crude feeds through to resin prices within a month. The monomer proxy does not lead; export offers cannot be tested.</a:t>
            </a:r>
          </a:p>
        </p:txBody>
      </p:sp>
      <p:sp>
        <p:nvSpPr>
          <p:cNvPr id="40" name="Rectangle 39"/>
          <p:cNvSpPr/>
          <p:nvPr/>
        </p:nvSpPr>
        <p:spPr>
          <a:xfrm>
            <a:off x="6263640" y="3968496"/>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63640" y="3968496"/>
            <a:ext cx="41148" cy="914400"/>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0" y="4059935"/>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Poppins"/>
              </a:defRPr>
            </a:pPr>
            <a:r>
              <a:t>H3</a:t>
            </a:r>
          </a:p>
        </p:txBody>
      </p:sp>
      <p:sp>
        <p:nvSpPr>
          <p:cNvPr id="43" name="TextBox 42"/>
          <p:cNvSpPr txBox="1"/>
          <p:nvPr/>
        </p:nvSpPr>
        <p:spPr>
          <a:xfrm>
            <a:off x="6858000" y="4059935"/>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Poppins"/>
              </a:defRPr>
            </a:pPr>
            <a:r>
              <a:t>Manufacturing activity leads both materials by 0 to 2 months.</a:t>
            </a:r>
          </a:p>
        </p:txBody>
      </p:sp>
      <p:sp>
        <p:nvSpPr>
          <p:cNvPr id="44" name="TextBox 43"/>
          <p:cNvSpPr txBox="1"/>
          <p:nvPr/>
        </p:nvSpPr>
        <p:spPr>
          <a:xfrm>
            <a:off x="10469880" y="4059935"/>
            <a:ext cx="1143000" cy="201168"/>
          </a:xfrm>
          <a:prstGeom prst="rect">
            <a:avLst/>
          </a:prstGeom>
          <a:noFill/>
        </p:spPr>
        <p:txBody>
          <a:bodyPr wrap="square" lIns="0" rIns="0" tIns="0" bIns="0">
            <a:spAutoFit/>
          </a:bodyPr>
          <a:lstStyle/>
          <a:p>
            <a:pPr algn="r">
              <a:lnSpc>
                <a:spcPct val="115000"/>
              </a:lnSpc>
              <a:defRPr sz="740" b="1" i="0">
                <a:solidFill>
                  <a:srgbClr val="0F6B3F"/>
                </a:solidFill>
                <a:latin typeface="Poppins"/>
              </a:defRPr>
            </a:pPr>
            <a:r>
              <a:rPr sz="740" b="1" i="0">
                <a:solidFill>
                  <a:srgbClr val="0F6B3F"/>
                </a:solidFill>
                <a:latin typeface="Poppins"/>
              </a:rPr>
              <a:t>SUPPORTED</a:t>
            </a:r>
          </a:p>
        </p:txBody>
      </p:sp>
      <p:sp>
        <p:nvSpPr>
          <p:cNvPr id="45" name="TextBox 44"/>
          <p:cNvSpPr txBox="1"/>
          <p:nvPr/>
        </p:nvSpPr>
        <p:spPr>
          <a:xfrm>
            <a:off x="6858000" y="4279392"/>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Poppins"/>
              </a:defRPr>
            </a:pPr>
            <a:r>
              <a:t>China CLI: lead 2m, ρ = +0.20 (Al, q = 0.02), +0.18 (PVC, q = 0.004)  ·  US output: same month, n.s.</a:t>
            </a:r>
          </a:p>
        </p:txBody>
      </p:sp>
      <p:sp>
        <p:nvSpPr>
          <p:cNvPr id="46" name="TextBox 45"/>
          <p:cNvSpPr txBox="1"/>
          <p:nvPr/>
        </p:nvSpPr>
        <p:spPr>
          <a:xfrm>
            <a:off x="6858000" y="4535424"/>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Poppins"/>
              </a:defRPr>
            </a:pPr>
            <a:r>
              <a:t>The OECD China leading indicator is the one genuine early signal for aluminium. PMIs are paywalled; the CLI is the free proxy.</a:t>
            </a:r>
          </a:p>
        </p:txBody>
      </p:sp>
      <p:sp>
        <p:nvSpPr>
          <p:cNvPr id="47" name="Rectangle 46"/>
          <p:cNvSpPr/>
          <p:nvPr/>
        </p:nvSpPr>
        <p:spPr>
          <a:xfrm>
            <a:off x="6263640" y="4937760"/>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6263640" y="4937760"/>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400800" y="5029200"/>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Poppins"/>
              </a:defRPr>
            </a:pPr>
            <a:r>
              <a:t>H4</a:t>
            </a:r>
          </a:p>
        </p:txBody>
      </p:sp>
      <p:sp>
        <p:nvSpPr>
          <p:cNvPr id="50" name="TextBox 49"/>
          <p:cNvSpPr txBox="1"/>
          <p:nvPr/>
        </p:nvSpPr>
        <p:spPr>
          <a:xfrm>
            <a:off x="6858000" y="5029200"/>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Poppins"/>
              </a:defRPr>
            </a:pPr>
            <a:r>
              <a:t>USD/INR moves the landed price in the same month.</a:t>
            </a:r>
          </a:p>
        </p:txBody>
      </p:sp>
      <p:sp>
        <p:nvSpPr>
          <p:cNvPr id="51" name="TextBox 50"/>
          <p:cNvSpPr txBox="1"/>
          <p:nvPr/>
        </p:nvSpPr>
        <p:spPr>
          <a:xfrm>
            <a:off x="10469880" y="5029200"/>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Poppins"/>
              </a:defRPr>
            </a:pPr>
            <a:r>
              <a:rPr sz="740" b="1" i="0">
                <a:solidFill>
                  <a:srgbClr val="8A5A00"/>
                </a:solidFill>
                <a:latin typeface="Poppins"/>
              </a:rPr>
              <a:t>PARTIAL</a:t>
            </a:r>
          </a:p>
        </p:txBody>
      </p:sp>
      <p:sp>
        <p:nvSpPr>
          <p:cNvPr id="52" name="TextBox 51"/>
          <p:cNvSpPr txBox="1"/>
          <p:nvPr/>
        </p:nvSpPr>
        <p:spPr>
          <a:xfrm>
            <a:off x="6858000" y="5248656"/>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Poppins"/>
              </a:defRPr>
            </a:pPr>
            <a:r>
              <a:t>FX share of monthly rupee-price variance: Al 1%, PVC 36%  ·  FX → US$ price: Al n.s., PVC q = 0.002</a:t>
            </a:r>
          </a:p>
        </p:txBody>
      </p:sp>
      <p:sp>
        <p:nvSpPr>
          <p:cNvPr id="53" name="TextBox 52"/>
          <p:cNvSpPr txBox="1"/>
          <p:nvPr/>
        </p:nvSpPr>
        <p:spPr>
          <a:xfrm>
            <a:off x="6858000" y="5504688"/>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Poppins"/>
              </a:defRPr>
            </a:pPr>
            <a:r>
              <a:t>Pass-through is one-for-one by construction, but aluminium's US$ swings dwarf FX. FX belongs in the landed-cost overlay.</a:t>
            </a:r>
          </a:p>
        </p:txBody>
      </p:sp>
      <p:sp>
        <p:nvSpPr>
          <p:cNvPr id="54" name="TextBox 53"/>
          <p:cNvSpPr txBox="1"/>
          <p:nvPr/>
        </p:nvSpPr>
        <p:spPr>
          <a:xfrm>
            <a:off x="6263640" y="5961888"/>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Poppins"/>
              </a:defRPr>
            </a:pPr>
            <a:r>
              <a:t>Only leads forecast. Leads surviving FDR: China CLI (both); Brent, energy, US gas, USD/INR (PVC).</a:t>
            </a:r>
          </a:p>
        </p:txBody>
      </p:sp>
      <p:sp>
        <p:nvSpPr>
          <p:cNvPr id="55" name="TextBox 54"/>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real series only, 2000–2024, monthly log-returns at leads 0–6. Granger at a fixed 3-month lag; Benjamini–Hochberg FDR across all 24 tests. Source: outputs/drivers.</a:t>
            </a:r>
          </a:p>
        </p:txBody>
      </p:sp>
      <p:sp>
        <p:nvSpPr>
          <p:cNvPr id="56" name="TextBox 55"/>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6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Seven layers: public data in, an explainable forecast with calibrated bands out,</a:t>
            </a:r>
          </a:p>
          <a:p>
            <a:pPr algn="l">
              <a:lnSpc>
                <a:spcPct val="112000"/>
              </a:lnSpc>
              <a:defRPr sz="1700" b="1" i="0">
                <a:solidFill>
                  <a:srgbClr val="16181D"/>
                </a:solidFill>
                <a:latin typeface="Poppins"/>
              </a:defRPr>
            </a:pPr>
            <a:r>
              <a:t>and a buy signal on top</a:t>
            </a:r>
          </a:p>
        </p:txBody>
      </p:sp>
      <p:sp>
        <p:nvSpPr>
          <p:cNvPr id="14" name="Rectangle 13"/>
          <p:cNvSpPr/>
          <p:nvPr/>
        </p:nvSpPr>
        <p:spPr>
          <a:xfrm>
            <a:off x="50292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350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1</a:t>
            </a:r>
          </a:p>
        </p:txBody>
      </p:sp>
      <p:sp>
        <p:nvSpPr>
          <p:cNvPr id="17" name="TextBox 16"/>
          <p:cNvSpPr txBox="1"/>
          <p:nvPr/>
        </p:nvSpPr>
        <p:spPr>
          <a:xfrm>
            <a:off x="60350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Ingest</a:t>
            </a:r>
          </a:p>
        </p:txBody>
      </p:sp>
      <p:sp>
        <p:nvSpPr>
          <p:cNvPr id="18" name="TextBox 17"/>
          <p:cNvSpPr txBox="1"/>
          <p:nvPr/>
        </p:nvSpPr>
        <p:spPr>
          <a:xfrm>
            <a:off x="60350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World Bank, BLS and Fed via FRED, ECB, GPR, EPU, OECD. Real published series only.</a:t>
            </a:r>
          </a:p>
        </p:txBody>
      </p:sp>
      <p:sp>
        <p:nvSpPr>
          <p:cNvPr id="19" name="Rectangle 18"/>
          <p:cNvSpPr/>
          <p:nvPr/>
        </p:nvSpPr>
        <p:spPr>
          <a:xfrm>
            <a:off x="212140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12140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2199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2</a:t>
            </a:r>
          </a:p>
        </p:txBody>
      </p:sp>
      <p:sp>
        <p:nvSpPr>
          <p:cNvPr id="22" name="TextBox 21"/>
          <p:cNvSpPr txBox="1"/>
          <p:nvPr/>
        </p:nvSpPr>
        <p:spPr>
          <a:xfrm>
            <a:off x="222199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As-of alignment</a:t>
            </a:r>
          </a:p>
        </p:txBody>
      </p:sp>
      <p:sp>
        <p:nvSpPr>
          <p:cNvPr id="23" name="TextBox 22"/>
          <p:cNvSpPr txBox="1"/>
          <p:nvPr/>
        </p:nvSpPr>
        <p:spPr>
          <a:xfrm>
            <a:off x="222199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Publication lag per series. Training rows embargoed until their outcome is published.</a:t>
            </a:r>
          </a:p>
        </p:txBody>
      </p:sp>
      <p:sp>
        <p:nvSpPr>
          <p:cNvPr id="24" name="Rectangle 23"/>
          <p:cNvSpPr/>
          <p:nvPr/>
        </p:nvSpPr>
        <p:spPr>
          <a:xfrm>
            <a:off x="3739896"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739896"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840480"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3</a:t>
            </a:r>
          </a:p>
        </p:txBody>
      </p:sp>
      <p:sp>
        <p:nvSpPr>
          <p:cNvPr id="27" name="TextBox 26"/>
          <p:cNvSpPr txBox="1"/>
          <p:nvPr/>
        </p:nvSpPr>
        <p:spPr>
          <a:xfrm>
            <a:off x="3840480"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Features</a:t>
            </a:r>
          </a:p>
        </p:txBody>
      </p:sp>
      <p:sp>
        <p:nvSpPr>
          <p:cNvPr id="28" name="TextBox 27"/>
          <p:cNvSpPr txBox="1"/>
          <p:nvPr/>
        </p:nvSpPr>
        <p:spPr>
          <a:xfrm>
            <a:off x="3840480"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41 / 36 trailing-window features; a 74-series panel for the global models.</a:t>
            </a:r>
          </a:p>
        </p:txBody>
      </p:sp>
      <p:sp>
        <p:nvSpPr>
          <p:cNvPr id="29" name="Rectangle 28"/>
          <p:cNvSpPr/>
          <p:nvPr/>
        </p:nvSpPr>
        <p:spPr>
          <a:xfrm>
            <a:off x="5358384"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358384"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58968"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4</a:t>
            </a:r>
          </a:p>
        </p:txBody>
      </p:sp>
      <p:sp>
        <p:nvSpPr>
          <p:cNvPr id="32" name="TextBox 31"/>
          <p:cNvSpPr txBox="1"/>
          <p:nvPr/>
        </p:nvSpPr>
        <p:spPr>
          <a:xfrm>
            <a:off x="5458968"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Direct multi-horizon</a:t>
            </a:r>
          </a:p>
        </p:txBody>
      </p:sp>
      <p:sp>
        <p:nvSpPr>
          <p:cNvPr id="33" name="TextBox 32"/>
          <p:cNvSpPr txBox="1"/>
          <p:nvPr/>
        </p:nvSpPr>
        <p:spPr>
          <a:xfrm>
            <a:off x="5458968"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Six models per material, one per month ahead. Target is the log-return.</a:t>
            </a:r>
          </a:p>
        </p:txBody>
      </p:sp>
      <p:sp>
        <p:nvSpPr>
          <p:cNvPr id="34" name="Rectangle 33"/>
          <p:cNvSpPr/>
          <p:nvPr/>
        </p:nvSpPr>
        <p:spPr>
          <a:xfrm>
            <a:off x="6976872"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976872"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77456"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5</a:t>
            </a:r>
          </a:p>
        </p:txBody>
      </p:sp>
      <p:sp>
        <p:nvSpPr>
          <p:cNvPr id="37" name="TextBox 36"/>
          <p:cNvSpPr txBox="1"/>
          <p:nvPr/>
        </p:nvSpPr>
        <p:spPr>
          <a:xfrm>
            <a:off x="7077456"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Model zoo</a:t>
            </a:r>
          </a:p>
        </p:txBody>
      </p:sp>
      <p:sp>
        <p:nvSpPr>
          <p:cNvPr id="38" name="TextBox 37"/>
          <p:cNvSpPr txBox="1"/>
          <p:nvPr/>
        </p:nvSpPr>
        <p:spPr>
          <a:xfrm>
            <a:off x="7077456"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Ten models in three tiers: statistical, ML with drivers, and global ML on 74 series.</a:t>
            </a:r>
          </a:p>
        </p:txBody>
      </p:sp>
      <p:sp>
        <p:nvSpPr>
          <p:cNvPr id="39" name="Rectangle 38"/>
          <p:cNvSpPr/>
          <p:nvPr/>
        </p:nvSpPr>
        <p:spPr>
          <a:xfrm>
            <a:off x="859536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59536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69594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6</a:t>
            </a:r>
          </a:p>
        </p:txBody>
      </p:sp>
      <p:sp>
        <p:nvSpPr>
          <p:cNvPr id="42" name="TextBox 41"/>
          <p:cNvSpPr txBox="1"/>
          <p:nvPr/>
        </p:nvSpPr>
        <p:spPr>
          <a:xfrm>
            <a:off x="869594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Validate and gate</a:t>
            </a:r>
          </a:p>
        </p:txBody>
      </p:sp>
      <p:sp>
        <p:nvSpPr>
          <p:cNvPr id="43" name="TextBox 42"/>
          <p:cNvSpPr txBox="1"/>
          <p:nvPr/>
        </p:nvSpPr>
        <p:spPr>
          <a:xfrm>
            <a:off x="869594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78 scored origins plus holdout. A model earns weight only by beating naïve on its own past.</a:t>
            </a:r>
          </a:p>
        </p:txBody>
      </p:sp>
      <p:sp>
        <p:nvSpPr>
          <p:cNvPr id="44" name="Rectangle 43"/>
          <p:cNvSpPr/>
          <p:nvPr/>
        </p:nvSpPr>
        <p:spPr>
          <a:xfrm>
            <a:off x="1021384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21384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1443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7</a:t>
            </a:r>
          </a:p>
        </p:txBody>
      </p:sp>
      <p:sp>
        <p:nvSpPr>
          <p:cNvPr id="47" name="TextBox 46"/>
          <p:cNvSpPr txBox="1"/>
          <p:nvPr/>
        </p:nvSpPr>
        <p:spPr>
          <a:xfrm>
            <a:off x="1031443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Decide</a:t>
            </a:r>
          </a:p>
        </p:txBody>
      </p:sp>
      <p:sp>
        <p:nvSpPr>
          <p:cNvPr id="48" name="TextBox 47"/>
          <p:cNvSpPr txBox="1"/>
          <p:nvPr/>
        </p:nvSpPr>
        <p:spPr>
          <a:xfrm>
            <a:off x="1031443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Expected saving net of carry → buy now / buy normal / defer, cover, order quantity.</a:t>
            </a:r>
          </a:p>
        </p:txBody>
      </p:sp>
      <p:cxnSp>
        <p:nvCxnSpPr>
          <p:cNvPr id="49" name="Connector 48"/>
          <p:cNvCxnSpPr/>
          <p:nvPr/>
        </p:nvCxnSpPr>
        <p:spPr>
          <a:xfrm>
            <a:off x="502920" y="41605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2920" y="42976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Why one model per horizon</a:t>
            </a:r>
          </a:p>
        </p:txBody>
      </p:sp>
      <p:sp>
        <p:nvSpPr>
          <p:cNvPr id="51" name="TextBox 50"/>
          <p:cNvSpPr txBox="1"/>
          <p:nvPr/>
        </p:nvSpPr>
        <p:spPr>
          <a:xfrm>
            <a:off x="502920" y="459028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Poppins"/>
              </a:defRPr>
            </a:pPr>
            <a:r>
              <a:t>Six separate models are trained, one for each month ahead. The alternative is recursive: predict month 1, feed that prediction back in as if it were an observation, predict month 2. Recursive compounds its own error across the horizon. Direct does not.</a:t>
            </a:r>
          </a:p>
        </p:txBody>
      </p:sp>
      <p:sp>
        <p:nvSpPr>
          <p:cNvPr id="52" name="TextBox 51"/>
          <p:cNvSpPr txBox="1"/>
          <p:nvPr/>
        </p:nvSpPr>
        <p:spPr>
          <a:xfrm>
            <a:off x="502920" y="53492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Why the log-return is the target</a:t>
            </a:r>
          </a:p>
        </p:txBody>
      </p:sp>
      <p:sp>
        <p:nvSpPr>
          <p:cNvPr id="53" name="TextBox 52"/>
          <p:cNvSpPr txBox="1"/>
          <p:nvPr/>
        </p:nvSpPr>
        <p:spPr>
          <a:xfrm>
            <a:off x="502920" y="564184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Poppins"/>
              </a:defRPr>
            </a:pPr>
            <a:r>
              <a:t>Prices ranged from about $1,450 to $3,985 over the sample, so the variance of the level is unstable. The variance of the return is not. Forecasts are converted back with P = P₀·exp(ŷ), the median of the forecast distribution.</a:t>
            </a:r>
          </a:p>
        </p:txBody>
      </p:sp>
      <p:sp>
        <p:nvSpPr>
          <p:cNvPr id="54" name="TextBox 53"/>
          <p:cNvSpPr txBox="1"/>
          <p:nvPr/>
        </p:nvSpPr>
        <p:spPr>
          <a:xfrm>
            <a:off x="6263640" y="42976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Specification</a:t>
            </a:r>
          </a:p>
        </p:txBody>
      </p:sp>
      <p:graphicFrame>
        <p:nvGraphicFramePr>
          <p:cNvPr id="55" name="Table 54"/>
          <p:cNvGraphicFramePr>
            <a:graphicFrameLocks noGrp="1"/>
          </p:cNvGraphicFramePr>
          <p:nvPr/>
        </p:nvGraphicFramePr>
        <p:xfrm>
          <a:off x="6263640" y="4590288"/>
          <a:ext cx="5440680" cy="1691640"/>
        </p:xfrm>
        <a:graphic>
          <a:graphicData uri="http://schemas.openxmlformats.org/drawingml/2006/table">
            <a:tbl>
              <a:tblPr>
                <a:tableStyleId>{5C22544A-7EE6-4342-B048-85BDC9FD1C3A}</a:tableStyleId>
              </a:tblPr>
              <a:tblGrid>
                <a:gridCol w="1143000"/>
                <a:gridCol w="4297680"/>
              </a:tblGrid>
              <a:tr h="237744">
                <a:tc>
                  <a:txBody>
                    <a:bodyPr/>
                    <a:lstStyle/>
                    <a:p>
                      <a:pPr algn="l">
                        <a:defRPr sz="700" b="1">
                          <a:solidFill>
                            <a:srgbClr val="FFFFFF"/>
                          </a:solidFill>
                          <a:latin typeface="Poppins"/>
                        </a:defRPr>
                      </a:pPr>
                      <a:r>
                        <a:t>Item</a:t>
                      </a:r>
                    </a:p>
                  </a:txBody>
                  <a:tcPr marL="54864" marR="54864" marT="18288" marB="18288" anchor="ctr">
                    <a:solidFill>
                      <a:srgbClr val="C8102E"/>
                    </a:solidFill>
                  </a:tcPr>
                </a:tc>
                <a:tc>
                  <a:txBody>
                    <a:bodyPr/>
                    <a:lstStyle/>
                    <a:p>
                      <a:pPr algn="r">
                        <a:defRPr sz="700" b="1">
                          <a:solidFill>
                            <a:srgbClr val="FFFFFF"/>
                          </a:solidFill>
                          <a:latin typeface="Poppins"/>
                        </a:defRPr>
                      </a:pPr>
                      <a:r>
                        <a:t>Value</a:t>
                      </a:r>
                    </a:p>
                  </a:txBody>
                  <a:tcPr marL="54864" marR="54864" marT="18288" marB="18288" anchor="ctr">
                    <a:solidFill>
                      <a:srgbClr val="C8102E"/>
                    </a:solidFill>
                  </a:tcPr>
                </a:tc>
              </a:tr>
              <a:tr h="242316">
                <a:tc>
                  <a:txBody>
                    <a:bodyPr/>
                    <a:lstStyle/>
                    <a:p>
                      <a:pPr algn="l">
                        <a:defRPr sz="750" b="0">
                          <a:solidFill>
                            <a:srgbClr val="4A4D55"/>
                          </a:solidFill>
                          <a:latin typeface="Poppins"/>
                        </a:defRPr>
                      </a:pPr>
                      <a:r>
                        <a:t>Targets</a:t>
                      </a:r>
                    </a:p>
                  </a:txBody>
                  <a:tcPr marL="54864" marR="54864" marT="13716" marB="13716" anchor="ctr">
                    <a:solidFill>
                      <a:srgbClr val="FFFFFF"/>
                    </a:solidFill>
                  </a:tcPr>
                </a:tc>
                <a:tc>
                  <a:txBody>
                    <a:bodyPr/>
                    <a:lstStyle/>
                    <a:p>
                      <a:pPr algn="r">
                        <a:defRPr sz="750" b="0">
                          <a:solidFill>
                            <a:srgbClr val="4A4D55"/>
                          </a:solidFill>
                          <a:latin typeface="Poppins"/>
                        </a:defRPr>
                      </a:pPr>
                      <a:r>
                        <a:t>LME aluminium (US$/t); US PPI plastic resins WPU066 (PVC proxy)</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Horizons</a:t>
                      </a:r>
                    </a:p>
                  </a:txBody>
                  <a:tcPr marL="54864" marR="54864" marT="13716" marB="13716" anchor="ctr">
                    <a:solidFill>
                      <a:srgbClr val="FFFFFF"/>
                    </a:solidFill>
                  </a:tcPr>
                </a:tc>
                <a:tc>
                  <a:txBody>
                    <a:bodyPr/>
                    <a:lstStyle/>
                    <a:p>
                      <a:pPr algn="r">
                        <a:defRPr sz="750" b="0">
                          <a:solidFill>
                            <a:srgbClr val="4A4D55"/>
                          </a:solidFill>
                          <a:latin typeface="Poppins"/>
                        </a:defRPr>
                      </a:pPr>
                      <a:r>
                        <a:t>1 to 6 months, monthly steps; h=3 is the decision horizon</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Training</a:t>
                      </a:r>
                    </a:p>
                  </a:txBody>
                  <a:tcPr marL="54864" marR="54864" marT="13716" marB="13716" anchor="ctr">
                    <a:solidFill>
                      <a:srgbClr val="FFFFFF"/>
                    </a:solidFill>
                  </a:tcPr>
                </a:tc>
                <a:tc>
                  <a:txBody>
                    <a:bodyPr/>
                    <a:lstStyle/>
                    <a:p>
                      <a:pPr algn="r">
                        <a:defRPr sz="750" b="0">
                          <a:solidFill>
                            <a:srgbClr val="4A4D55"/>
                          </a:solidFill>
                          <a:latin typeface="Poppins"/>
                        </a:defRPr>
                      </a:pPr>
                      <a:r>
                        <a:t>Expanding window, embargoed; refit monthly (global models quarterly / yearly)</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Features</a:t>
                      </a:r>
                    </a:p>
                  </a:txBody>
                  <a:tcPr marL="54864" marR="54864" marT="13716" marB="13716" anchor="ctr">
                    <a:solidFill>
                      <a:srgbClr val="FFFFFF"/>
                    </a:solidFill>
                  </a:tcPr>
                </a:tc>
                <a:tc>
                  <a:txBody>
                    <a:bodyPr/>
                    <a:lstStyle/>
                    <a:p>
                      <a:pPr algn="r">
                        <a:defRPr sz="750" b="0">
                          <a:solidFill>
                            <a:srgbClr val="4A4D55"/>
                          </a:solidFill>
                          <a:latin typeface="Poppins"/>
                        </a:defRPr>
                      </a:pPr>
                      <a:r>
                        <a:t>Real drivers only; ElasticNet selects 15 and tunes inside each fold</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Outputs</a:t>
                      </a:r>
                    </a:p>
                  </a:txBody>
                  <a:tcPr marL="54864" marR="54864" marT="13716" marB="13716" anchor="ctr">
                    <a:solidFill>
                      <a:srgbClr val="FFFFFF"/>
                    </a:solidFill>
                  </a:tcPr>
                </a:tc>
                <a:tc>
                  <a:txBody>
                    <a:bodyPr/>
                    <a:lstStyle/>
                    <a:p>
                      <a:pPr algn="r">
                        <a:defRPr sz="750" b="0">
                          <a:solidFill>
                            <a:srgbClr val="4A4D55"/>
                          </a:solidFill>
                          <a:latin typeface="Poppins"/>
                        </a:defRPr>
                      </a:pPr>
                      <a:r>
                        <a:t>P50, conformal P10–P90 band, P(up), SHAP attribution, buy signal</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Stack</a:t>
                      </a:r>
                    </a:p>
                  </a:txBody>
                  <a:tcPr marL="54864" marR="54864" marT="13716" marB="13716" anchor="ctr">
                    <a:solidFill>
                      <a:srgbClr val="FFFFFF"/>
                    </a:solidFill>
                  </a:tcPr>
                </a:tc>
                <a:tc>
                  <a:txBody>
                    <a:bodyPr/>
                    <a:lstStyle/>
                    <a:p>
                      <a:pPr algn="r">
                        <a:defRPr sz="750" b="0">
                          <a:solidFill>
                            <a:srgbClr val="4A4D55"/>
                          </a:solidFill>
                          <a:latin typeface="Poppins"/>
                        </a:defRPr>
                      </a:pPr>
                      <a:r>
                        <a:t>Python, pandas, statsmodels, arch, scikit-learn, LightGBM, JAX</a:t>
                      </a:r>
                    </a:p>
                  </a:txBody>
                  <a:tcPr marL="54864" marR="54864" marT="13716" marB="13716" anchor="ctr">
                    <a:solidFill>
                      <a:srgbClr val="FFFFFF"/>
                    </a:solidFill>
                  </a:tcPr>
                </a:tc>
              </a:tr>
            </a:tbl>
          </a:graphicData>
        </a:graphic>
      </p:graphicFrame>
      <p:sp>
        <p:nvSpPr>
          <p:cNvPr id="56" name="TextBox 5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Hyndman &amp; Athanasopoulos (2021), Forecasting: Principles and Practice, 3rd ed.: direct vs recursive multi-step. [2] Ke et al. (2017), LightGBM, NeurIPS. [3] Oreshkin et al. (2020), N-BEATS, ICLR. [4] Vovk, Gammerman &amp; Shafer (2005), conformal prediction. [5] Bollerslev (1986), GARCH.</a:t>
            </a:r>
          </a:p>
        </p:txBody>
      </p:sp>
      <p:sp>
        <p:nvSpPr>
          <p:cNvPr id="57" name="TextBox 5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7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Ten models on identical embargoed origins. Trained on 74 commodity series, a real</a:t>
            </a:r>
          </a:p>
          <a:p>
            <a:pPr algn="l">
              <a:lnSpc>
                <a:spcPct val="112000"/>
              </a:lnSpc>
              <a:defRPr sz="1700" b="1" i="0">
                <a:solidFill>
                  <a:srgbClr val="16181D"/>
                </a:solidFill>
                <a:latin typeface="Poppins"/>
              </a:defRPr>
            </a:pPr>
            <a:r>
              <a:t>N-BEATS became the best single forecaster on both materials</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 — MAPE at h = 3, development window</a:t>
            </a:r>
          </a:p>
        </p:txBody>
      </p:sp>
      <p:pic>
        <p:nvPicPr>
          <p:cNvPr id="15" name="Picture 14" descr="aluminium_ladder.png"/>
          <p:cNvPicPr>
            <a:picLocks noChangeAspect="1"/>
          </p:cNvPicPr>
          <p:nvPr/>
        </p:nvPicPr>
        <p:blipFill>
          <a:blip r:embed="rId2"/>
          <a:stretch>
            <a:fillRect/>
          </a:stretch>
        </p:blipFill>
        <p:spPr>
          <a:xfrm>
            <a:off x="502920" y="2011680"/>
            <a:ext cx="5440680" cy="2569092"/>
          </a:xfrm>
          <a:prstGeom prst="rect">
            <a:avLst/>
          </a:prstGeom>
        </p:spPr>
      </p:pic>
      <p:sp>
        <p:nvSpPr>
          <p:cNvPr id="16" name="TextBox 15"/>
          <p:cNvSpPr txBox="1"/>
          <p:nvPr/>
        </p:nvSpPr>
        <p:spPr>
          <a:xfrm>
            <a:off x="6355080" y="1783080"/>
            <a:ext cx="53492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proxy — MAPE at h = 3, development window</a:t>
            </a:r>
          </a:p>
        </p:txBody>
      </p:sp>
      <p:pic>
        <p:nvPicPr>
          <p:cNvPr id="17" name="Picture 16" descr="pvc_ladder.png"/>
          <p:cNvPicPr>
            <a:picLocks noChangeAspect="1"/>
          </p:cNvPicPr>
          <p:nvPr/>
        </p:nvPicPr>
        <p:blipFill>
          <a:blip r:embed="rId3"/>
          <a:stretch>
            <a:fillRect/>
          </a:stretch>
        </p:blipFill>
        <p:spPr>
          <a:xfrm>
            <a:off x="6355080" y="2011680"/>
            <a:ext cx="5349240" cy="2525914"/>
          </a:xfrm>
          <a:prstGeom prst="rect">
            <a:avLst/>
          </a:prstGeom>
        </p:spPr>
      </p:pic>
      <p:cxnSp>
        <p:nvCxnSpPr>
          <p:cNvPr id="18" name="Connector 17"/>
          <p:cNvCxnSpPr/>
          <p:nvPr/>
        </p:nvCxnSpPr>
        <p:spPr>
          <a:xfrm>
            <a:off x="502920" y="466344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the gate did</a:t>
            </a:r>
          </a:p>
        </p:txBody>
      </p:sp>
      <p:sp>
        <p:nvSpPr>
          <p:cNvPr id="20" name="TextBox 19"/>
          <p:cNvSpPr txBox="1"/>
          <p:nvPr/>
        </p:nvSpPr>
        <p:spPr>
          <a:xfrm>
            <a:off x="50292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A model earns a share of the forecast only in months when it has beaten naïve on its own realised past forecasts. Seasonal naïve never did, on either material. No model was excluded by judgement; the LSTM was dropped after the audit found it was fed the wrong inputs.</a:t>
            </a:r>
          </a:p>
        </p:txBody>
      </p:sp>
      <p:sp>
        <p:nvSpPr>
          <p:cNvPr id="21" name="TextBox 20"/>
          <p:cNvSpPr txBox="1"/>
          <p:nvPr/>
        </p:nvSpPr>
        <p:spPr>
          <a:xfrm>
            <a:off x="434340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N-BEATS, done properly, won</a:t>
            </a:r>
          </a:p>
        </p:txBody>
      </p:sp>
      <p:sp>
        <p:nvSpPr>
          <p:cNvPr id="22" name="TextBox 21"/>
          <p:cNvSpPr txBox="1"/>
          <p:nvPr/>
        </p:nvSpPr>
        <p:spPr>
          <a:xfrm>
            <a:off x="434340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Real N-BEATS (trend and seasonality stacks) is the best single model on both: aluminium 7.66% vs naïve 8.19% (+6.5%), PVC 3.94% vs 4.37% (+10.0%, DM p = 0.035). Round 2's "N-BEATS" was a plain MLP; that result is withdrawn.</a:t>
            </a:r>
          </a:p>
        </p:txBody>
      </p:sp>
      <p:sp>
        <p:nvSpPr>
          <p:cNvPr id="23" name="TextBox 22"/>
          <p:cNvSpPr txBox="1"/>
          <p:nvPr/>
        </p:nvSpPr>
        <p:spPr>
          <a:xfrm>
            <a:off x="8183879" y="4791456"/>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finding</a:t>
            </a:r>
          </a:p>
        </p:txBody>
      </p:sp>
      <p:sp>
        <p:nvSpPr>
          <p:cNvPr id="24" name="Rectangle 23"/>
          <p:cNvSpPr/>
          <p:nvPr/>
        </p:nvSpPr>
        <p:spPr>
          <a:xfrm>
            <a:off x="8183879" y="5029200"/>
            <a:ext cx="3520440" cy="987552"/>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5138928"/>
            <a:ext cx="3246120" cy="777240"/>
          </a:xfrm>
          <a:prstGeom prst="rect">
            <a:avLst/>
          </a:prstGeom>
          <a:noFill/>
        </p:spPr>
        <p:txBody>
          <a:bodyPr wrap="square" lIns="0" rIns="0" tIns="0" bIns="0">
            <a:spAutoFit/>
          </a:bodyPr>
          <a:lstStyle/>
          <a:p>
            <a:pPr algn="l">
              <a:lnSpc>
                <a:spcPct val="130000"/>
              </a:lnSpc>
              <a:defRPr sz="819" b="1" i="0">
                <a:solidFill>
                  <a:srgbClr val="C8102E"/>
                </a:solidFill>
                <a:latin typeface="Poppins"/>
              </a:defRPr>
            </a:pPr>
            <a:r>
              <a:t>Pooling data substitutes for data.</a:t>
            </a:r>
          </a:p>
          <a:p>
            <a:pPr algn="l">
              <a:lnSpc>
                <a:spcPct val="130000"/>
              </a:lnSpc>
              <a:defRPr sz="819" b="1" i="0">
                <a:solidFill>
                  <a:srgbClr val="C8102E"/>
                </a:solidFill>
                <a:latin typeface="Poppins"/>
              </a:defRPr>
            </a:pPr>
            <a:r>
              <a:t/>
            </a:r>
          </a:p>
          <a:p>
            <a:pPr algn="l">
              <a:lnSpc>
                <a:spcPct val="130000"/>
              </a:lnSpc>
              <a:defRPr sz="819" b="1" i="0">
                <a:solidFill>
                  <a:srgbClr val="C8102E"/>
                </a:solidFill>
                <a:latin typeface="Poppins"/>
              </a:defRPr>
            </a:pPr>
            <a:r>
              <a:t>One model trained on 74 commodity series beats models trained on one 180-point series. That is the M4 lesson, reproduced.</a:t>
            </a:r>
          </a:p>
        </p:txBody>
      </p:sp>
      <p:sp>
        <p:nvSpPr>
          <p:cNvPr id="26" name="TextBox 2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All models run through one walk-forward harness on the same 78 origins, with embargoed training rows. Headline = equal-weight average of the models that beat naïve on realised past forecasts. N-BEATS uses early stopping on an in-fold validation slice. Consistent with Makridakis et al., M4 (2020).</a:t>
            </a:r>
          </a:p>
        </p:txBody>
      </p:sp>
      <p:sp>
        <p:nvSpPr>
          <p:cNvPr id="27" name="TextBox 2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8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Every forecast comes with the reason it moved, because a buyer cannot act on a</a:t>
            </a:r>
          </a:p>
          <a:p>
            <a:pPr algn="l">
              <a:lnSpc>
                <a:spcPct val="112000"/>
              </a:lnSpc>
              <a:defRPr sz="1700" b="1" i="0">
                <a:solidFill>
                  <a:srgbClr val="16181D"/>
                </a:solidFill>
                <a:latin typeface="Poppins"/>
              </a:defRPr>
            </a:pPr>
            <a:r>
              <a:t>number they cannot interrogate</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the buyer sees each month</a:t>
            </a:r>
          </a:p>
        </p:txBody>
      </p:sp>
      <p:sp>
        <p:nvSpPr>
          <p:cNvPr id="15" name="Rectangle 14"/>
          <p:cNvSpPr/>
          <p:nvPr/>
        </p:nvSpPr>
        <p:spPr>
          <a:xfrm>
            <a:off x="502920" y="2057400"/>
            <a:ext cx="5394960" cy="196596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7512" y="2194560"/>
            <a:ext cx="5074920" cy="219456"/>
          </a:xfrm>
          <a:prstGeom prst="rect">
            <a:avLst/>
          </a:prstGeom>
          <a:noFill/>
        </p:spPr>
        <p:txBody>
          <a:bodyPr wrap="square" lIns="0" rIns="0" tIns="0" bIns="0">
            <a:spAutoFit/>
          </a:bodyPr>
          <a:lstStyle/>
          <a:p>
            <a:pPr algn="l">
              <a:lnSpc>
                <a:spcPct val="115000"/>
              </a:lnSpc>
              <a:defRPr sz="800" b="1" i="0">
                <a:solidFill>
                  <a:srgbClr val="C8102E"/>
                </a:solidFill>
                <a:latin typeface="Poppins"/>
              </a:defRPr>
            </a:pPr>
            <a:r>
              <a:t>Driver note, generated from the model</a:t>
            </a:r>
          </a:p>
        </p:txBody>
      </p:sp>
      <p:sp>
        <p:nvSpPr>
          <p:cNvPr id="17" name="TextBox 16"/>
          <p:cNvSpPr txBox="1"/>
          <p:nvPr/>
        </p:nvSpPr>
        <p:spPr>
          <a:xfrm>
            <a:off x="667512" y="2468880"/>
            <a:ext cx="5074920" cy="1463040"/>
          </a:xfrm>
          <a:prstGeom prst="rect">
            <a:avLst/>
          </a:prstGeom>
          <a:noFill/>
        </p:spPr>
        <p:txBody>
          <a:bodyPr wrap="square" lIns="0" rIns="0" tIns="0" bIns="0">
            <a:spAutoFit/>
          </a:bodyPr>
          <a:lstStyle/>
          <a:p>
            <a:pPr algn="l">
              <a:lnSpc>
                <a:spcPct val="132000"/>
              </a:lnSpc>
              <a:defRPr sz="819" b="0" i="1">
                <a:solidFill>
                  <a:srgbClr val="4A4D55"/>
                </a:solidFill>
                <a:latin typeface="Poppins"/>
              </a:defRPr>
            </a:pPr>
            <a:r>
              <a:t>"PVC proxy, Aug 2026: three-month P50 279.4 (−0.4%), 80% range 258.2 to 302.4. Probability higher: 47%. After 3% carrying cost, buying ahead is worth −3.4%: BUY NORMAL. Largest pushes: seasonality (−1.1%), own price momentum (−0.4%), Brent crude (−0.3%). Models trusted now: enet, lgb_local, nbeats. Caution: Brent and gas inputs are stale until the data is refreshed."</a:t>
            </a:r>
          </a:p>
        </p:txBody>
      </p:sp>
      <p:sp>
        <p:nvSpPr>
          <p:cNvPr id="18" name="TextBox 17"/>
          <p:cNvSpPr txBox="1"/>
          <p:nvPr/>
        </p:nvSpPr>
        <p:spPr>
          <a:xfrm>
            <a:off x="502920" y="4224528"/>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sits behind it</a:t>
            </a:r>
          </a:p>
        </p:txBody>
      </p:sp>
      <p:sp>
        <p:nvSpPr>
          <p:cNvPr id="19" name="TextBox 18"/>
          <p:cNvSpPr txBox="1"/>
          <p:nvPr/>
        </p:nvSpPr>
        <p:spPr>
          <a:xfrm>
            <a:off x="502920" y="451713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0" name="TextBox 19"/>
          <p:cNvSpPr txBox="1"/>
          <p:nvPr/>
        </p:nvSpPr>
        <p:spPr>
          <a:xfrm>
            <a:off x="621792" y="451713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SHAP attribution (LightGBM TreeSHAP) on the live forecast, grouped by driver.</a:t>
            </a:r>
          </a:p>
        </p:txBody>
      </p:sp>
      <p:sp>
        <p:nvSpPr>
          <p:cNvPr id="21" name="TextBox 20"/>
          <p:cNvSpPr txBox="1"/>
          <p:nvPr/>
        </p:nvSpPr>
        <p:spPr>
          <a:xfrm>
            <a:off x="502920" y="47228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2" name="TextBox 21"/>
          <p:cNvSpPr txBox="1"/>
          <p:nvPr/>
        </p:nvSpPr>
        <p:spPr>
          <a:xfrm>
            <a:off x="621792" y="472287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Lead–lag and FDR-corrected Granger evidence per indicator, with its best lead.</a:t>
            </a:r>
          </a:p>
        </p:txBody>
      </p:sp>
      <p:sp>
        <p:nvSpPr>
          <p:cNvPr id="23" name="TextBox 22"/>
          <p:cNvSpPr txBox="1"/>
          <p:nvPr/>
        </p:nvSpPr>
        <p:spPr>
          <a:xfrm>
            <a:off x="502920" y="492861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4" name="TextBox 23"/>
          <p:cNvSpPr txBox="1"/>
          <p:nvPr/>
        </p:nvSpPr>
        <p:spPr>
          <a:xfrm>
            <a:off x="621792" y="492861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The models trusted at that horizon are named on every forecast.</a:t>
            </a:r>
          </a:p>
        </p:txBody>
      </p:sp>
      <p:sp>
        <p:nvSpPr>
          <p:cNvPr id="25" name="TextBox 24"/>
          <p:cNvSpPr txBox="1"/>
          <p:nvPr/>
        </p:nvSpPr>
        <p:spPr>
          <a:xfrm>
            <a:off x="502920" y="513435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6" name="TextBox 25"/>
          <p:cNvSpPr txBox="1"/>
          <p:nvPr/>
        </p:nvSpPr>
        <p:spPr>
          <a:xfrm>
            <a:off x="621792" y="513435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Stale-input warning: any driver over 3 months old is flagged in the note.</a:t>
            </a:r>
          </a:p>
        </p:txBody>
      </p:sp>
      <p:sp>
        <p:nvSpPr>
          <p:cNvPr id="27" name="TextBox 26"/>
          <p:cNvSpPr txBox="1"/>
          <p:nvPr/>
        </p:nvSpPr>
        <p:spPr>
          <a:xfrm>
            <a:off x="502920" y="534009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8" name="TextBox 27"/>
          <p:cNvSpPr txBox="1"/>
          <p:nvPr/>
        </p:nvSpPr>
        <p:spPr>
          <a:xfrm>
            <a:off x="621792" y="534009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Every override by a buyer is logged; adoption is a tracked run-state KPI.</a:t>
            </a:r>
          </a:p>
        </p:txBody>
      </p:sp>
      <p:sp>
        <p:nvSpPr>
          <p:cNvPr id="29" name="TextBox 28"/>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Error correlation between ensemble members, PVC h = 3</a:t>
            </a:r>
          </a:p>
        </p:txBody>
      </p:sp>
      <p:pic>
        <p:nvPicPr>
          <p:cNvPr id="30" name="Picture 29" descr="error_corr_pvc.png"/>
          <p:cNvPicPr>
            <a:picLocks noChangeAspect="1"/>
          </p:cNvPicPr>
          <p:nvPr/>
        </p:nvPicPr>
        <p:blipFill>
          <a:blip r:embed="rId2"/>
          <a:stretch>
            <a:fillRect/>
          </a:stretch>
        </p:blipFill>
        <p:spPr>
          <a:xfrm>
            <a:off x="6675120" y="2029968"/>
            <a:ext cx="2992693" cy="3063240"/>
          </a:xfrm>
          <a:prstGeom prst="rect">
            <a:avLst/>
          </a:prstGeom>
        </p:spPr>
      </p:pic>
      <p:sp>
        <p:nvSpPr>
          <p:cNvPr id="31" name="TextBox 30"/>
          <p:cNvSpPr txBox="1"/>
          <p:nvPr/>
        </p:nvSpPr>
        <p:spPr>
          <a:xfrm>
            <a:off x="6263640" y="5230368"/>
            <a:ext cx="5440680" cy="457200"/>
          </a:xfrm>
          <a:prstGeom prst="rect">
            <a:avLst/>
          </a:prstGeom>
          <a:noFill/>
        </p:spPr>
        <p:txBody>
          <a:bodyPr wrap="square" lIns="0" rIns="0" tIns="0" bIns="0">
            <a:spAutoFit/>
          </a:bodyPr>
          <a:lstStyle/>
          <a:p>
            <a:pPr algn="l">
              <a:lnSpc>
                <a:spcPct val="125000"/>
              </a:lnSpc>
              <a:defRPr sz="800" b="1" i="0">
                <a:solidFill>
                  <a:srgbClr val="C8102E"/>
                </a:solidFill>
                <a:latin typeface="Poppins"/>
              </a:defRPr>
            </a:pPr>
            <a:r>
              <a:t>Mean error correlation between members is 0.84 (aluminium 0.87).</a:t>
            </a:r>
          </a:p>
        </p:txBody>
      </p:sp>
      <p:sp>
        <p:nvSpPr>
          <p:cNvPr id="32" name="TextBox 31"/>
          <p:cNvSpPr txBox="1"/>
          <p:nvPr/>
        </p:nvSpPr>
        <p:spPr>
          <a:xfrm>
            <a:off x="6263640" y="5614416"/>
            <a:ext cx="5440680" cy="685800"/>
          </a:xfrm>
          <a:prstGeom prst="rect">
            <a:avLst/>
          </a:prstGeom>
          <a:noFill/>
        </p:spPr>
        <p:txBody>
          <a:bodyPr wrap="square" lIns="0" rIns="0" tIns="0" bIns="0">
            <a:spAutoFit/>
          </a:bodyPr>
          <a:lstStyle/>
          <a:p>
            <a:pPr algn="l">
              <a:lnSpc>
                <a:spcPct val="128000"/>
              </a:lnSpc>
              <a:defRPr sz="780" b="0" i="0">
                <a:solidFill>
                  <a:srgbClr val="4A4D55"/>
                </a:solidFill>
                <a:latin typeface="Poppins"/>
              </a:defRPr>
            </a:pPr>
            <a:r>
              <a:t>Members are highly correlated, so averaging adds less than it seems. The most independent are seasonal naïve, VECM and ETS. N-BEATS earns its place by accuracy, not by diversity. Round 2's "N-BEATS is the only diversifier" claim is withdrawn.</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SHAP values from LightGBM's built-in TreeSHAP on the embargoed local driver model. The error-correlation matrix is the evidence for or against any ensemble gain, reported either way.</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9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We tested it the way procurement would live with it: refit every month from 2018,</a:t>
            </a:r>
          </a:p>
          <a:p>
            <a:pPr algn="l">
              <a:lnSpc>
                <a:spcPct val="112000"/>
              </a:lnSpc>
              <a:defRPr sz="1700" b="1" i="0">
                <a:solidFill>
                  <a:srgbClr val="16181D"/>
                </a:solidFill>
                <a:latin typeface="Poppins"/>
              </a:defRPr>
            </a:pPr>
            <a:r>
              <a:t>embargoed, and beat the naïve forecast before claiming anything</a:t>
            </a:r>
          </a:p>
        </p:txBody>
      </p:sp>
      <p:sp>
        <p:nvSpPr>
          <p:cNvPr id="14" name="TextBox 13"/>
          <p:cNvSpPr txBox="1"/>
          <p:nvPr/>
        </p:nvSpPr>
        <p:spPr>
          <a:xfrm>
            <a:off x="502920" y="1783080"/>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Rolling-origin walk-forward: 78 expanding origins, plus a 2025–26 holdout</a:t>
            </a:r>
          </a:p>
        </p:txBody>
      </p:sp>
      <p:sp>
        <p:nvSpPr>
          <p:cNvPr id="15" name="TextBox 14"/>
          <p:cNvSpPr txBox="1"/>
          <p:nvPr/>
        </p:nvSpPr>
        <p:spPr>
          <a:xfrm>
            <a:off x="502920" y="2084831"/>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Jan 2018</a:t>
            </a:r>
          </a:p>
        </p:txBody>
      </p:sp>
      <p:sp>
        <p:nvSpPr>
          <p:cNvPr id="16" name="Rectangle 15"/>
          <p:cNvSpPr/>
          <p:nvPr/>
        </p:nvSpPr>
        <p:spPr>
          <a:xfrm>
            <a:off x="1920240" y="2103120"/>
            <a:ext cx="2721254"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641494" y="2103120"/>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414015"/>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Jan 2020</a:t>
            </a:r>
          </a:p>
        </p:txBody>
      </p:sp>
      <p:sp>
        <p:nvSpPr>
          <p:cNvPr id="19" name="Rectangle 18"/>
          <p:cNvSpPr/>
          <p:nvPr/>
        </p:nvSpPr>
        <p:spPr>
          <a:xfrm>
            <a:off x="1920240" y="2432303"/>
            <a:ext cx="3160166"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080406" y="2432303"/>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2920" y="2743200"/>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Jan 2022</a:t>
            </a:r>
          </a:p>
        </p:txBody>
      </p:sp>
      <p:sp>
        <p:nvSpPr>
          <p:cNvPr id="22" name="Rectangle 21"/>
          <p:cNvSpPr/>
          <p:nvPr/>
        </p:nvSpPr>
        <p:spPr>
          <a:xfrm>
            <a:off x="1920240" y="2761488"/>
            <a:ext cx="3599078"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519318" y="2761488"/>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920" y="3072384"/>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Jun 2024</a:t>
            </a:r>
          </a:p>
        </p:txBody>
      </p:sp>
      <p:sp>
        <p:nvSpPr>
          <p:cNvPr id="25" name="Rectangle 24"/>
          <p:cNvSpPr/>
          <p:nvPr/>
        </p:nvSpPr>
        <p:spPr>
          <a:xfrm>
            <a:off x="1920240" y="3090672"/>
            <a:ext cx="4081881"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002121" y="3090672"/>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920240" y="3456432"/>
            <a:ext cx="4389120" cy="182880"/>
          </a:xfrm>
          <a:prstGeom prst="rect">
            <a:avLst/>
          </a:prstGeom>
          <a:noFill/>
        </p:spPr>
        <p:txBody>
          <a:bodyPr wrap="square" lIns="0" rIns="0" tIns="0" bIns="0">
            <a:spAutoFit/>
          </a:bodyPr>
          <a:lstStyle/>
          <a:p>
            <a:pPr algn="l">
              <a:lnSpc>
                <a:spcPct val="115000"/>
              </a:lnSpc>
              <a:defRPr sz="740" b="0" i="1">
                <a:solidFill>
                  <a:srgbClr val="7C8089"/>
                </a:solidFill>
                <a:latin typeface="Poppins"/>
              </a:defRPr>
            </a:pPr>
            <a:r>
              <a:t>and every monthly origin in between</a:t>
            </a:r>
          </a:p>
        </p:txBody>
      </p:sp>
      <p:sp>
        <p:nvSpPr>
          <p:cNvPr id="28" name="TextBox 27"/>
          <p:cNvSpPr txBox="1"/>
          <p:nvPr/>
        </p:nvSpPr>
        <p:spPr>
          <a:xfrm>
            <a:off x="502920" y="3675887"/>
            <a:ext cx="5943600" cy="182880"/>
          </a:xfrm>
          <a:prstGeom prst="rect">
            <a:avLst/>
          </a:prstGeom>
          <a:noFill/>
        </p:spPr>
        <p:txBody>
          <a:bodyPr wrap="square" lIns="0" rIns="0" tIns="0" bIns="0">
            <a:spAutoFit/>
          </a:bodyPr>
          <a:lstStyle/>
          <a:p>
            <a:pPr algn="l">
              <a:lnSpc>
                <a:spcPct val="115000"/>
              </a:lnSpc>
              <a:defRPr sz="740" b="0" i="0">
                <a:solidFill>
                  <a:srgbClr val="7C8089"/>
                </a:solidFill>
                <a:latin typeface="Poppins"/>
              </a:defRPr>
            </a:pPr>
            <a:r>
              <a:t>■ training window (expanding)      ■ six-month out-of-sample test</a:t>
            </a:r>
          </a:p>
        </p:txBody>
      </p:sp>
      <p:cxnSp>
        <p:nvCxnSpPr>
          <p:cNvPr id="29" name="Connector 28"/>
          <p:cNvCxnSpPr/>
          <p:nvPr/>
        </p:nvCxnSpPr>
        <p:spPr>
          <a:xfrm>
            <a:off x="502920" y="3950208"/>
            <a:ext cx="59436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2920" y="4087368"/>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Skill vs naïve by horizon: highest at short horizons, as it should be</a:t>
            </a:r>
          </a:p>
        </p:txBody>
      </p:sp>
      <p:pic>
        <p:nvPicPr>
          <p:cNvPr id="31" name="Picture 30" descr="aluminium_skill.png"/>
          <p:cNvPicPr>
            <a:picLocks noChangeAspect="1"/>
          </p:cNvPicPr>
          <p:nvPr/>
        </p:nvPicPr>
        <p:blipFill>
          <a:blip r:embed="rId2"/>
          <a:stretch>
            <a:fillRect/>
          </a:stretch>
        </p:blipFill>
        <p:spPr>
          <a:xfrm>
            <a:off x="502920" y="4343400"/>
            <a:ext cx="5852160" cy="1920240"/>
          </a:xfrm>
          <a:prstGeom prst="rect">
            <a:avLst/>
          </a:prstGeom>
        </p:spPr>
      </p:pic>
      <p:sp>
        <p:nvSpPr>
          <p:cNvPr id="32" name="TextBox 31"/>
          <p:cNvSpPr txBox="1"/>
          <p:nvPr/>
        </p:nvSpPr>
        <p:spPr>
          <a:xfrm>
            <a:off x="6812280" y="1783080"/>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proxy: three-month forecast against what actually happened</a:t>
            </a:r>
          </a:p>
        </p:txBody>
      </p:sp>
      <p:pic>
        <p:nvPicPr>
          <p:cNvPr id="33" name="Picture 32" descr="aluminium_backtest.png"/>
          <p:cNvPicPr>
            <a:picLocks noChangeAspect="1"/>
          </p:cNvPicPr>
          <p:nvPr/>
        </p:nvPicPr>
        <p:blipFill>
          <a:blip r:embed="rId3"/>
          <a:stretch>
            <a:fillRect/>
          </a:stretch>
        </p:blipFill>
        <p:spPr>
          <a:xfrm>
            <a:off x="6812280" y="2029968"/>
            <a:ext cx="4892040" cy="1874519"/>
          </a:xfrm>
          <a:prstGeom prst="rect">
            <a:avLst/>
          </a:prstGeom>
        </p:spPr>
      </p:pic>
      <p:sp>
        <p:nvSpPr>
          <p:cNvPr id="34" name="TextBox 33"/>
          <p:cNvSpPr txBox="1"/>
          <p:nvPr/>
        </p:nvSpPr>
        <p:spPr>
          <a:xfrm>
            <a:off x="6812280" y="3931920"/>
            <a:ext cx="4892040" cy="457200"/>
          </a:xfrm>
          <a:prstGeom prst="rect">
            <a:avLst/>
          </a:prstGeom>
          <a:noFill/>
        </p:spPr>
        <p:txBody>
          <a:bodyPr wrap="square" lIns="0" rIns="0" tIns="0" bIns="0">
            <a:spAutoFit/>
          </a:bodyPr>
          <a:lstStyle/>
          <a:p>
            <a:pPr algn="l">
              <a:lnSpc>
                <a:spcPct val="125000"/>
              </a:lnSpc>
              <a:defRPr sz="760" b="0" i="0">
                <a:solidFill>
                  <a:srgbClr val="7C8089"/>
                </a:solidFill>
                <a:latin typeface="Poppins"/>
              </a:defRPr>
            </a:pPr>
            <a:r>
              <a:t>Every origin 2018–2026, with the 80% band. Shaded area is the 2025–26 holdout.</a:t>
            </a:r>
          </a:p>
        </p:txBody>
      </p:sp>
      <p:cxnSp>
        <p:nvCxnSpPr>
          <p:cNvPr id="35" name="Connector 34"/>
          <p:cNvCxnSpPr/>
          <p:nvPr/>
        </p:nvCxnSpPr>
        <p:spPr>
          <a:xfrm>
            <a:off x="6812280" y="4315968"/>
            <a:ext cx="48920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12280" y="4453128"/>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Performance by regime, h = 3</a:t>
            </a:r>
          </a:p>
        </p:txBody>
      </p:sp>
      <p:graphicFrame>
        <p:nvGraphicFramePr>
          <p:cNvPr id="37" name="Table 36"/>
          <p:cNvGraphicFramePr>
            <a:graphicFrameLocks noGrp="1"/>
          </p:cNvGraphicFramePr>
          <p:nvPr/>
        </p:nvGraphicFramePr>
        <p:xfrm>
          <a:off x="6812280" y="4727448"/>
          <a:ext cx="4892040" cy="1261872"/>
        </p:xfrm>
        <a:graphic>
          <a:graphicData uri="http://schemas.openxmlformats.org/drawingml/2006/table">
            <a:tbl>
              <a:tblPr>
                <a:tableStyleId>{5C22544A-7EE6-4342-B048-85BDC9FD1C3A}</a:tableStyleId>
              </a:tblPr>
              <a:tblGrid>
                <a:gridCol w="2057400"/>
                <a:gridCol w="411480"/>
                <a:gridCol w="640080"/>
                <a:gridCol w="621792"/>
                <a:gridCol w="548640"/>
                <a:gridCol w="612648"/>
              </a:tblGrid>
              <a:tr h="237744">
                <a:tc>
                  <a:txBody>
                    <a:bodyPr/>
                    <a:lstStyle/>
                    <a:p>
                      <a:pPr algn="l">
                        <a:defRPr sz="660" b="1">
                          <a:solidFill>
                            <a:srgbClr val="FFFFFF"/>
                          </a:solidFill>
                          <a:latin typeface="Poppins"/>
                        </a:defRPr>
                      </a:pPr>
                      <a:r>
                        <a:t>Regime</a:t>
                      </a:r>
                    </a:p>
                  </a:txBody>
                  <a:tcPr marL="54864" marR="54864" marT="18288" marB="18288" anchor="ctr">
                    <a:solidFill>
                      <a:srgbClr val="C8102E"/>
                    </a:solidFill>
                  </a:tcPr>
                </a:tc>
                <a:tc>
                  <a:txBody>
                    <a:bodyPr/>
                    <a:lstStyle/>
                    <a:p>
                      <a:pPr algn="r">
                        <a:defRPr sz="660" b="1">
                          <a:solidFill>
                            <a:srgbClr val="FFFFFF"/>
                          </a:solidFill>
                          <a:latin typeface="Poppins"/>
                        </a:defRPr>
                      </a:pPr>
                      <a:r>
                        <a:t>n</a:t>
                      </a:r>
                    </a:p>
                  </a:txBody>
                  <a:tcPr marL="54864" marR="54864" marT="18288" marB="18288" anchor="ctr">
                    <a:solidFill>
                      <a:srgbClr val="C8102E"/>
                    </a:solidFill>
                  </a:tcPr>
                </a:tc>
                <a:tc>
                  <a:txBody>
                    <a:bodyPr/>
                    <a:lstStyle/>
                    <a:p>
                      <a:pPr algn="r">
                        <a:defRPr sz="660" b="1">
                          <a:solidFill>
                            <a:srgbClr val="FFFFFF"/>
                          </a:solidFill>
                          <a:latin typeface="Poppins"/>
                        </a:defRPr>
                      </a:pPr>
                      <a:r>
                        <a:t>Al skill</a:t>
                      </a:r>
                    </a:p>
                  </a:txBody>
                  <a:tcPr marL="54864" marR="54864" marT="18288" marB="18288" anchor="ctr">
                    <a:solidFill>
                      <a:srgbClr val="C8102E"/>
                    </a:solidFill>
                  </a:tcPr>
                </a:tc>
                <a:tc>
                  <a:txBody>
                    <a:bodyPr/>
                    <a:lstStyle/>
                    <a:p>
                      <a:pPr algn="r">
                        <a:defRPr sz="660" b="1">
                          <a:solidFill>
                            <a:srgbClr val="FFFFFF"/>
                          </a:solidFill>
                          <a:latin typeface="Poppins"/>
                        </a:defRPr>
                      </a:pPr>
                      <a:r>
                        <a:t>Al cov.</a:t>
                      </a:r>
                    </a:p>
                  </a:txBody>
                  <a:tcPr marL="54864" marR="54864" marT="18288" marB="18288" anchor="ctr">
                    <a:solidFill>
                      <a:srgbClr val="C8102E"/>
                    </a:solidFill>
                  </a:tcPr>
                </a:tc>
                <a:tc>
                  <a:txBody>
                    <a:bodyPr/>
                    <a:lstStyle/>
                    <a:p>
                      <a:pPr algn="r">
                        <a:defRPr sz="660" b="1">
                          <a:solidFill>
                            <a:srgbClr val="FFFFFF"/>
                          </a:solidFill>
                          <a:latin typeface="Poppins"/>
                        </a:defRPr>
                      </a:pPr>
                      <a:r>
                        <a:t>PVC skill</a:t>
                      </a:r>
                    </a:p>
                  </a:txBody>
                  <a:tcPr marL="54864" marR="54864" marT="18288" marB="18288" anchor="ctr">
                    <a:solidFill>
                      <a:srgbClr val="C8102E"/>
                    </a:solidFill>
                  </a:tcPr>
                </a:tc>
                <a:tc>
                  <a:txBody>
                    <a:bodyPr/>
                    <a:lstStyle/>
                    <a:p>
                      <a:pPr algn="r">
                        <a:defRPr sz="660" b="1">
                          <a:solidFill>
                            <a:srgbClr val="FFFFFF"/>
                          </a:solidFill>
                          <a:latin typeface="Poppins"/>
                        </a:defRPr>
                      </a:pPr>
                      <a:r>
                        <a:t>PVC cov.</a:t>
                      </a:r>
                    </a:p>
                  </a:txBody>
                  <a:tcPr marL="54864" marR="54864" marT="18288" marB="18288" anchor="ctr">
                    <a:solidFill>
                      <a:srgbClr val="C8102E"/>
                    </a:solidFill>
                  </a:tcPr>
                </a:tc>
              </a:tr>
              <a:tr h="256032">
                <a:tc>
                  <a:txBody>
                    <a:bodyPr/>
                    <a:lstStyle/>
                    <a:p>
                      <a:pPr algn="l">
                        <a:defRPr sz="720" b="0">
                          <a:solidFill>
                            <a:srgbClr val="4A4D55"/>
                          </a:solidFill>
                          <a:latin typeface="Poppins"/>
                        </a:defRPr>
                      </a:pPr>
                      <a:r>
                        <a:t>Calm (2018-2019)</a:t>
                      </a:r>
                    </a:p>
                  </a:txBody>
                  <a:tcPr marL="54864" marR="54864" marT="13716" marB="13716" anchor="ctr">
                    <a:solidFill>
                      <a:srgbClr val="FFFFFF"/>
                    </a:solidFill>
                  </a:tcPr>
                </a:tc>
                <a:tc>
                  <a:txBody>
                    <a:bodyPr/>
                    <a:lstStyle/>
                    <a:p>
                      <a:pPr algn="r">
                        <a:defRPr sz="720" b="0">
                          <a:solidFill>
                            <a:srgbClr val="4A4D55"/>
                          </a:solidFill>
                          <a:latin typeface="Poppins"/>
                        </a:defRPr>
                      </a:pPr>
                      <a:r>
                        <a:t>24</a:t>
                      </a:r>
                    </a:p>
                  </a:txBody>
                  <a:tcPr marL="54864" marR="54864" marT="13716" marB="13716" anchor="ctr">
                    <a:solidFill>
                      <a:srgbClr val="FFFFFF"/>
                    </a:solidFill>
                  </a:tcPr>
                </a:tc>
                <a:tc>
                  <a:txBody>
                    <a:bodyPr/>
                    <a:lstStyle/>
                    <a:p>
                      <a:pPr algn="r">
                        <a:defRPr sz="720" b="0">
                          <a:solidFill>
                            <a:srgbClr val="0F6B3F"/>
                          </a:solidFill>
                          <a:latin typeface="Poppins"/>
                        </a:defRPr>
                      </a:pPr>
                      <a:r>
                        <a:rPr sz="720" b="0">
                          <a:solidFill>
                            <a:srgbClr val="0F6B3F"/>
                          </a:solidFill>
                          <a:latin typeface="Poppins"/>
                        </a:rPr>
                        <a:t>+2.0%</a:t>
                      </a:r>
                    </a:p>
                  </a:txBody>
                  <a:tcPr marL="54864" marR="54864" marT="13716" marB="13716" anchor="ctr">
                    <a:solidFill>
                      <a:srgbClr val="FFFFFF"/>
                    </a:solidFill>
                  </a:tcPr>
                </a:tc>
                <a:tc>
                  <a:txBody>
                    <a:bodyPr/>
                    <a:lstStyle/>
                    <a:p>
                      <a:pPr algn="r">
                        <a:defRPr sz="720" b="0">
                          <a:solidFill>
                            <a:srgbClr val="4A4D55"/>
                          </a:solidFill>
                          <a:latin typeface="Poppins"/>
                        </a:defRPr>
                      </a:pPr>
                      <a:r>
                        <a:rPr sz="720" b="0">
                          <a:solidFill>
                            <a:srgbClr val="4A4D55"/>
                          </a:solidFill>
                          <a:latin typeface="Poppins"/>
                        </a:rPr>
                        <a:t>79%</a:t>
                      </a:r>
                    </a:p>
                  </a:txBody>
                  <a:tcPr marL="54864" marR="54864" marT="13716" marB="13716" anchor="ctr">
                    <a:solidFill>
                      <a:srgbClr val="FFFFFF"/>
                    </a:solidFill>
                  </a:tcPr>
                </a:tc>
                <a:tc>
                  <a:txBody>
                    <a:bodyPr/>
                    <a:lstStyle/>
                    <a:p>
                      <a:pPr algn="r">
                        <a:defRPr sz="720" b="0">
                          <a:solidFill>
                            <a:srgbClr val="0F6B3F"/>
                          </a:solidFill>
                          <a:latin typeface="Poppins"/>
                        </a:defRPr>
                      </a:pPr>
                      <a:r>
                        <a:rPr sz="720" b="0">
                          <a:solidFill>
                            <a:srgbClr val="0F6B3F"/>
                          </a:solidFill>
                          <a:latin typeface="Poppins"/>
                        </a:rPr>
                        <a:t>+4.3%</a:t>
                      </a:r>
                    </a:p>
                  </a:txBody>
                  <a:tcPr marL="54864" marR="54864" marT="13716" marB="13716" anchor="ctr">
                    <a:solidFill>
                      <a:srgbClr val="FFFFFF"/>
                    </a:solidFill>
                  </a:tcPr>
                </a:tc>
                <a:tc>
                  <a:txBody>
                    <a:bodyPr/>
                    <a:lstStyle/>
                    <a:p>
                      <a:pPr algn="r">
                        <a:defRPr sz="720" b="0">
                          <a:solidFill>
                            <a:srgbClr val="4A4D55"/>
                          </a:solidFill>
                          <a:latin typeface="Poppins"/>
                        </a:defRPr>
                      </a:pPr>
                      <a:r>
                        <a:rPr sz="720" b="0">
                          <a:solidFill>
                            <a:srgbClr val="4A4D55"/>
                          </a:solidFill>
                          <a:latin typeface="Poppins"/>
                        </a:rPr>
                        <a:t>71%</a:t>
                      </a:r>
                    </a:p>
                  </a:txBody>
                  <a:tcPr marL="54864" marR="54864" marT="13716" marB="13716" anchor="ctr">
                    <a:solidFill>
                      <a:srgbClr val="FFFFFF"/>
                    </a:solidFill>
                  </a:tcPr>
                </a:tc>
              </a:tr>
              <a:tr h="256032">
                <a:tc>
                  <a:txBody>
                    <a:bodyPr/>
                    <a:lstStyle/>
                    <a:p>
                      <a:pPr algn="l">
                        <a:defRPr sz="720" b="0">
                          <a:solidFill>
                            <a:srgbClr val="4A4D55"/>
                          </a:solidFill>
                          <a:latin typeface="Poppins"/>
                        </a:defRPr>
                      </a:pPr>
                      <a:r>
                        <a:t>COVID Shock (2020)</a:t>
                      </a:r>
                    </a:p>
                  </a:txBody>
                  <a:tcPr marL="54864" marR="54864" marT="13716" marB="13716" anchor="ctr">
                    <a:solidFill>
                      <a:srgbClr val="FFFFFF"/>
                    </a:solidFill>
                  </a:tcPr>
                </a:tc>
                <a:tc>
                  <a:txBody>
                    <a:bodyPr/>
                    <a:lstStyle/>
                    <a:p>
                      <a:pPr algn="r">
                        <a:defRPr sz="720" b="0">
                          <a:solidFill>
                            <a:srgbClr val="4A4D55"/>
                          </a:solidFill>
                          <a:latin typeface="Poppins"/>
                        </a:defRPr>
                      </a:pPr>
                      <a:r>
                        <a:t>12</a:t>
                      </a:r>
                    </a:p>
                  </a:txBody>
                  <a:tcPr marL="54864" marR="54864" marT="13716" marB="13716" anchor="ctr">
                    <a:solidFill>
                      <a:srgbClr val="FFFFFF"/>
                    </a:solidFill>
                  </a:tcPr>
                </a:tc>
                <a:tc>
                  <a:txBody>
                    <a:bodyPr/>
                    <a:lstStyle/>
                    <a:p>
                      <a:pPr algn="r">
                        <a:defRPr sz="720" b="0">
                          <a:solidFill>
                            <a:srgbClr val="0F6B3F"/>
                          </a:solidFill>
                          <a:latin typeface="Poppins"/>
                        </a:defRPr>
                      </a:pPr>
                      <a:r>
                        <a:rPr sz="720" b="0">
                          <a:solidFill>
                            <a:srgbClr val="0F6B3F"/>
                          </a:solidFill>
                          <a:latin typeface="Poppins"/>
                        </a:rPr>
                        <a:t>+8.6%</a:t>
                      </a:r>
                    </a:p>
                  </a:txBody>
                  <a:tcPr marL="54864" marR="54864" marT="13716" marB="13716" anchor="ctr">
                    <a:solidFill>
                      <a:srgbClr val="FFFFFF"/>
                    </a:solidFill>
                  </a:tcPr>
                </a:tc>
                <a:tc>
                  <a:txBody>
                    <a:bodyPr/>
                    <a:lstStyle/>
                    <a:p>
                      <a:pPr algn="r">
                        <a:defRPr sz="720" b="0">
                          <a:solidFill>
                            <a:srgbClr val="4A4D55"/>
                          </a:solidFill>
                          <a:latin typeface="Poppins"/>
                        </a:defRPr>
                      </a:pPr>
                      <a:r>
                        <a:rPr sz="720" b="0">
                          <a:solidFill>
                            <a:srgbClr val="4A4D55"/>
                          </a:solidFill>
                          <a:latin typeface="Poppins"/>
                        </a:rPr>
                        <a:t>50%</a:t>
                      </a:r>
                    </a:p>
                  </a:txBody>
                  <a:tcPr marL="54864" marR="54864" marT="13716" marB="13716" anchor="ctr">
                    <a:solidFill>
                      <a:srgbClr val="FFFFFF"/>
                    </a:solidFill>
                  </a:tcPr>
                </a:tc>
                <a:tc>
                  <a:txBody>
                    <a:bodyPr/>
                    <a:lstStyle/>
                    <a:p>
                      <a:pPr algn="r">
                        <a:defRPr sz="720" b="0">
                          <a:solidFill>
                            <a:srgbClr val="0F6B3F"/>
                          </a:solidFill>
                          <a:latin typeface="Poppins"/>
                        </a:defRPr>
                      </a:pPr>
                      <a:r>
                        <a:rPr sz="720" b="0">
                          <a:solidFill>
                            <a:srgbClr val="0F6B3F"/>
                          </a:solidFill>
                          <a:latin typeface="Poppins"/>
                        </a:rPr>
                        <a:t>+13.9%</a:t>
                      </a:r>
                    </a:p>
                  </a:txBody>
                  <a:tcPr marL="54864" marR="54864" marT="13716" marB="13716" anchor="ctr">
                    <a:solidFill>
                      <a:srgbClr val="FFFFFF"/>
                    </a:solidFill>
                  </a:tcPr>
                </a:tc>
                <a:tc>
                  <a:txBody>
                    <a:bodyPr/>
                    <a:lstStyle/>
                    <a:p>
                      <a:pPr algn="r">
                        <a:defRPr sz="720" b="0">
                          <a:solidFill>
                            <a:srgbClr val="4A4D55"/>
                          </a:solidFill>
                          <a:latin typeface="Poppins"/>
                        </a:defRPr>
                      </a:pPr>
                      <a:r>
                        <a:rPr sz="720" b="0">
                          <a:solidFill>
                            <a:srgbClr val="4A4D55"/>
                          </a:solidFill>
                          <a:latin typeface="Poppins"/>
                        </a:rPr>
                        <a:t>42%</a:t>
                      </a:r>
                    </a:p>
                  </a:txBody>
                  <a:tcPr marL="54864" marR="54864" marT="13716" marB="13716" anchor="ctr">
                    <a:solidFill>
                      <a:srgbClr val="FFFFFF"/>
                    </a:solidFill>
                  </a:tcPr>
                </a:tc>
              </a:tr>
              <a:tr h="256032">
                <a:tc>
                  <a:txBody>
                    <a:bodyPr/>
                    <a:lstStyle/>
                    <a:p>
                      <a:pPr algn="l">
                        <a:defRPr sz="720" b="0">
                          <a:solidFill>
                            <a:srgbClr val="4A4D55"/>
                          </a:solidFill>
                          <a:latin typeface="Poppins"/>
                        </a:defRPr>
                      </a:pPr>
                      <a:r>
                        <a:t>Spike/Rally (2021-2022 H1)</a:t>
                      </a:r>
                    </a:p>
                  </a:txBody>
                  <a:tcPr marL="54864" marR="54864" marT="13716" marB="13716" anchor="ctr">
                    <a:solidFill>
                      <a:srgbClr val="FFFFFF"/>
                    </a:solidFill>
                  </a:tcPr>
                </a:tc>
                <a:tc>
                  <a:txBody>
                    <a:bodyPr/>
                    <a:lstStyle/>
                    <a:p>
                      <a:pPr algn="r">
                        <a:defRPr sz="720" b="0">
                          <a:solidFill>
                            <a:srgbClr val="4A4D55"/>
                          </a:solidFill>
                          <a:latin typeface="Poppins"/>
                        </a:defRPr>
                      </a:pPr>
                      <a:r>
                        <a:t>18</a:t>
                      </a:r>
                    </a:p>
                  </a:txBody>
                  <a:tcPr marL="54864" marR="54864" marT="13716" marB="13716" anchor="ctr">
                    <a:solidFill>
                      <a:srgbClr val="FFFFFF"/>
                    </a:solidFill>
                  </a:tcPr>
                </a:tc>
                <a:tc>
                  <a:txBody>
                    <a:bodyPr/>
                    <a:lstStyle/>
                    <a:p>
                      <a:pPr algn="r">
                        <a:defRPr sz="720" b="0">
                          <a:solidFill>
                            <a:srgbClr val="0F6B3F"/>
                          </a:solidFill>
                          <a:latin typeface="Poppins"/>
                        </a:defRPr>
                      </a:pPr>
                      <a:r>
                        <a:rPr sz="720" b="0">
                          <a:solidFill>
                            <a:srgbClr val="0F6B3F"/>
                          </a:solidFill>
                          <a:latin typeface="Poppins"/>
                        </a:rPr>
                        <a:t>+4.7%</a:t>
                      </a:r>
                    </a:p>
                  </a:txBody>
                  <a:tcPr marL="54864" marR="54864" marT="13716" marB="13716" anchor="ctr">
                    <a:solidFill>
                      <a:srgbClr val="FFFFFF"/>
                    </a:solidFill>
                  </a:tcPr>
                </a:tc>
                <a:tc>
                  <a:txBody>
                    <a:bodyPr/>
                    <a:lstStyle/>
                    <a:p>
                      <a:pPr algn="r">
                        <a:defRPr sz="720" b="0">
                          <a:solidFill>
                            <a:srgbClr val="4A4D55"/>
                          </a:solidFill>
                          <a:latin typeface="Poppins"/>
                        </a:defRPr>
                      </a:pPr>
                      <a:r>
                        <a:rPr sz="720" b="0">
                          <a:solidFill>
                            <a:srgbClr val="4A4D55"/>
                          </a:solidFill>
                          <a:latin typeface="Poppins"/>
                        </a:rPr>
                        <a:t>56%</a:t>
                      </a:r>
                    </a:p>
                  </a:txBody>
                  <a:tcPr marL="54864" marR="54864" marT="13716" marB="13716" anchor="ctr">
                    <a:solidFill>
                      <a:srgbClr val="FFFFFF"/>
                    </a:solidFill>
                  </a:tcPr>
                </a:tc>
                <a:tc>
                  <a:txBody>
                    <a:bodyPr/>
                    <a:lstStyle/>
                    <a:p>
                      <a:pPr algn="r">
                        <a:defRPr sz="720" b="0">
                          <a:solidFill>
                            <a:srgbClr val="0F6B3F"/>
                          </a:solidFill>
                          <a:latin typeface="Poppins"/>
                        </a:defRPr>
                      </a:pPr>
                      <a:r>
                        <a:rPr sz="720" b="0">
                          <a:solidFill>
                            <a:srgbClr val="0F6B3F"/>
                          </a:solidFill>
                          <a:latin typeface="Poppins"/>
                        </a:rPr>
                        <a:t>+13.4%</a:t>
                      </a:r>
                    </a:p>
                  </a:txBody>
                  <a:tcPr marL="54864" marR="54864" marT="13716" marB="13716" anchor="ctr">
                    <a:solidFill>
                      <a:srgbClr val="FFFFFF"/>
                    </a:solidFill>
                  </a:tcPr>
                </a:tc>
                <a:tc>
                  <a:txBody>
                    <a:bodyPr/>
                    <a:lstStyle/>
                    <a:p>
                      <a:pPr algn="r">
                        <a:defRPr sz="720" b="0">
                          <a:solidFill>
                            <a:srgbClr val="4A4D55"/>
                          </a:solidFill>
                          <a:latin typeface="Poppins"/>
                        </a:defRPr>
                      </a:pPr>
                      <a:r>
                        <a:rPr sz="720" b="0">
                          <a:solidFill>
                            <a:srgbClr val="4A4D55"/>
                          </a:solidFill>
                          <a:latin typeface="Poppins"/>
                        </a:rPr>
                        <a:t>67%</a:t>
                      </a:r>
                    </a:p>
                  </a:txBody>
                  <a:tcPr marL="54864" marR="54864" marT="13716" marB="13716" anchor="ctr">
                    <a:solidFill>
                      <a:srgbClr val="FFFFFF"/>
                    </a:solidFill>
                  </a:tcPr>
                </a:tc>
              </a:tr>
              <a:tr h="256032">
                <a:tc>
                  <a:txBody>
                    <a:bodyPr/>
                    <a:lstStyle/>
                    <a:p>
                      <a:pPr algn="l">
                        <a:defRPr sz="720" b="0">
                          <a:solidFill>
                            <a:srgbClr val="4A4D55"/>
                          </a:solidFill>
                          <a:latin typeface="Poppins"/>
                        </a:defRPr>
                      </a:pPr>
                      <a:r>
                        <a:t>Slide/Normalization (2022 H2-2024)</a:t>
                      </a:r>
                    </a:p>
                  </a:txBody>
                  <a:tcPr marL="54864" marR="54864" marT="13716" marB="13716" anchor="ctr">
                    <a:solidFill>
                      <a:srgbClr val="FFFFFF"/>
                    </a:solidFill>
                  </a:tcPr>
                </a:tc>
                <a:tc>
                  <a:txBody>
                    <a:bodyPr/>
                    <a:lstStyle/>
                    <a:p>
                      <a:pPr algn="r">
                        <a:defRPr sz="720" b="0">
                          <a:solidFill>
                            <a:srgbClr val="4A4D55"/>
                          </a:solidFill>
                          <a:latin typeface="Poppins"/>
                        </a:defRPr>
                      </a:pPr>
                      <a:r>
                        <a:t>27/30</a:t>
                      </a:r>
                    </a:p>
                  </a:txBody>
                  <a:tcPr marL="54864" marR="54864" marT="13716" marB="13716" anchor="ctr">
                    <a:solidFill>
                      <a:srgbClr val="FFFFFF"/>
                    </a:solidFill>
                  </a:tcPr>
                </a:tc>
                <a:tc>
                  <a:txBody>
                    <a:bodyPr/>
                    <a:lstStyle/>
                    <a:p>
                      <a:pPr algn="r">
                        <a:defRPr sz="720" b="0">
                          <a:solidFill>
                            <a:srgbClr val="C8102E"/>
                          </a:solidFill>
                          <a:latin typeface="Poppins"/>
                        </a:defRPr>
                      </a:pPr>
                      <a:r>
                        <a:rPr sz="720" b="0">
                          <a:solidFill>
                            <a:srgbClr val="C8102E"/>
                          </a:solidFill>
                          <a:latin typeface="Poppins"/>
                        </a:rPr>
                        <a:t>−1.0%</a:t>
                      </a:r>
                    </a:p>
                  </a:txBody>
                  <a:tcPr marL="54864" marR="54864" marT="13716" marB="13716" anchor="ctr">
                    <a:solidFill>
                      <a:srgbClr val="FFFFFF"/>
                    </a:solidFill>
                  </a:tcPr>
                </a:tc>
                <a:tc>
                  <a:txBody>
                    <a:bodyPr/>
                    <a:lstStyle/>
                    <a:p>
                      <a:pPr algn="r">
                        <a:defRPr sz="720" b="0">
                          <a:solidFill>
                            <a:srgbClr val="4A4D55"/>
                          </a:solidFill>
                          <a:latin typeface="Poppins"/>
                        </a:defRPr>
                      </a:pPr>
                      <a:r>
                        <a:rPr sz="720" b="0">
                          <a:solidFill>
                            <a:srgbClr val="4A4D55"/>
                          </a:solidFill>
                          <a:latin typeface="Poppins"/>
                        </a:rPr>
                        <a:t>89%</a:t>
                      </a:r>
                    </a:p>
                  </a:txBody>
                  <a:tcPr marL="54864" marR="54864" marT="13716" marB="13716" anchor="ctr">
                    <a:solidFill>
                      <a:srgbClr val="FFFFFF"/>
                    </a:solidFill>
                  </a:tcPr>
                </a:tc>
                <a:tc>
                  <a:txBody>
                    <a:bodyPr/>
                    <a:lstStyle/>
                    <a:p>
                      <a:pPr algn="r">
                        <a:defRPr sz="720" b="0">
                          <a:solidFill>
                            <a:srgbClr val="0F6B3F"/>
                          </a:solidFill>
                          <a:latin typeface="Poppins"/>
                        </a:defRPr>
                      </a:pPr>
                      <a:r>
                        <a:rPr sz="720" b="0">
                          <a:solidFill>
                            <a:srgbClr val="0F6B3F"/>
                          </a:solidFill>
                          <a:latin typeface="Poppins"/>
                        </a:rPr>
                        <a:t>+1.3%</a:t>
                      </a:r>
                    </a:p>
                  </a:txBody>
                  <a:tcPr marL="54864" marR="54864" marT="13716" marB="13716" anchor="ctr">
                    <a:solidFill>
                      <a:srgbClr val="FFFFFF"/>
                    </a:solidFill>
                  </a:tcPr>
                </a:tc>
                <a:tc>
                  <a:txBody>
                    <a:bodyPr/>
                    <a:lstStyle/>
                    <a:p>
                      <a:pPr algn="r">
                        <a:defRPr sz="720" b="0">
                          <a:solidFill>
                            <a:srgbClr val="4A4D55"/>
                          </a:solidFill>
                          <a:latin typeface="Poppins"/>
                        </a:defRPr>
                      </a:pPr>
                      <a:r>
                        <a:rPr sz="720" b="0">
                          <a:solidFill>
                            <a:srgbClr val="4A4D55"/>
                          </a:solidFill>
                          <a:latin typeface="Poppins"/>
                        </a:rPr>
                        <a:t>93%</a:t>
                      </a:r>
                    </a:p>
                  </a:txBody>
                  <a:tcPr marL="54864" marR="54864" marT="13716" marB="13716" anchor="ctr">
                    <a:solidFill>
                      <a:srgbClr val="FFFFFF"/>
                    </a:solidFill>
                  </a:tcPr>
                </a:tc>
              </a:tr>
            </a:tbl>
          </a:graphicData>
        </a:graphic>
      </p:graphicFrame>
      <p:sp>
        <p:nvSpPr>
          <p:cNvPr id="38" name="TextBox 37"/>
          <p:cNvSpPr txBox="1"/>
          <p:nvPr/>
        </p:nvSpPr>
        <p:spPr>
          <a:xfrm>
            <a:off x="6812280" y="6035040"/>
            <a:ext cx="489204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Band coverage still drops in shocks (42–67%), so the regime kill switch stays.</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Training rows embargoed: outcome published before the origin. Selection, tuning and early stopping happen inside each fold. [1] Tashman (2000), IJF 16(4). [2] Diebold &amp; Mariano (1995), JBES 13(3), with Harvey–Leybourne–Newbold correction and Newey–West variance at lag h−1.</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0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Results against the thresholds we set in Round 1, before any modelling — reported</a:t>
            </a:r>
          </a:p>
          <a:p>
            <a:pPr algn="l">
              <a:lnSpc>
                <a:spcPct val="112000"/>
              </a:lnSpc>
              <a:defRPr sz="1700" b="1" i="0">
                <a:solidFill>
                  <a:srgbClr val="16181D"/>
                </a:solidFill>
                <a:latin typeface="Poppins"/>
              </a:defRPr>
            </a:pPr>
            <a:r>
              <a:t>unchanged, after fixing our own leak</a:t>
            </a:r>
          </a:p>
        </p:txBody>
      </p:sp>
      <p:sp>
        <p:nvSpPr>
          <p:cNvPr id="14" name="TextBox 13"/>
          <p:cNvSpPr txBox="1"/>
          <p:nvPr/>
        </p:nvSpPr>
        <p:spPr>
          <a:xfrm>
            <a:off x="502920" y="1755648"/>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Headline ensemble, development window: 78 origins, January 2018 – June 2024</a:t>
            </a:r>
          </a:p>
        </p:txBody>
      </p:sp>
      <p:graphicFrame>
        <p:nvGraphicFramePr>
          <p:cNvPr id="15" name="Table 14"/>
          <p:cNvGraphicFramePr>
            <a:graphicFrameLocks noGrp="1"/>
          </p:cNvGraphicFramePr>
          <p:nvPr/>
        </p:nvGraphicFramePr>
        <p:xfrm>
          <a:off x="502920" y="2029968"/>
          <a:ext cx="11201394" cy="1801362"/>
        </p:xfrm>
        <a:graphic>
          <a:graphicData uri="http://schemas.openxmlformats.org/drawingml/2006/table">
            <a:tbl>
              <a:tblPr>
                <a:tableStyleId>{5C22544A-7EE6-4342-B048-85BDC9FD1C3A}</a:tableStyleId>
              </a:tblPr>
              <a:tblGrid>
                <a:gridCol w="1069013"/>
                <a:gridCol w="883097"/>
                <a:gridCol w="883097"/>
                <a:gridCol w="836619"/>
                <a:gridCol w="790140"/>
                <a:gridCol w="836619"/>
                <a:gridCol w="929576"/>
                <a:gridCol w="929576"/>
                <a:gridCol w="883097"/>
                <a:gridCol w="836619"/>
                <a:gridCol w="836619"/>
                <a:gridCol w="1487322"/>
              </a:tblGrid>
              <a:tr h="237744">
                <a:tc>
                  <a:txBody>
                    <a:bodyPr/>
                    <a:lstStyle/>
                    <a:p>
                      <a:pPr algn="l">
                        <a:defRPr sz="660" b="1">
                          <a:solidFill>
                            <a:srgbClr val="FFFFFF"/>
                          </a:solidFill>
                          <a:latin typeface="Poppins"/>
                        </a:defRPr>
                      </a:pPr>
                      <a:r>
                        <a:t>Horizon</a:t>
                      </a:r>
                    </a:p>
                  </a:txBody>
                  <a:tcPr marL="54864" marR="54864" marT="18288" marB="18288" anchor="ctr">
                    <a:solidFill>
                      <a:srgbClr val="C8102E"/>
                    </a:solidFill>
                  </a:tcPr>
                </a:tc>
                <a:tc>
                  <a:txBody>
                    <a:bodyPr/>
                    <a:lstStyle/>
                    <a:p>
                      <a:pPr algn="r">
                        <a:defRPr sz="660" b="1">
                          <a:solidFill>
                            <a:srgbClr val="FFFFFF"/>
                          </a:solidFill>
                          <a:latin typeface="Poppins"/>
                        </a:defRPr>
                      </a:pPr>
                      <a:r>
                        <a:t>Al MAPE</a:t>
                      </a:r>
                    </a:p>
                  </a:txBody>
                  <a:tcPr marL="54864" marR="54864" marT="18288" marB="18288" anchor="ctr">
                    <a:solidFill>
                      <a:srgbClr val="C8102E"/>
                    </a:solidFill>
                  </a:tcPr>
                </a:tc>
                <a:tc>
                  <a:txBody>
                    <a:bodyPr/>
                    <a:lstStyle/>
                    <a:p>
                      <a:pPr algn="r">
                        <a:defRPr sz="660" b="1">
                          <a:solidFill>
                            <a:srgbClr val="FFFFFF"/>
                          </a:solidFill>
                          <a:latin typeface="Poppins"/>
                        </a:defRPr>
                      </a:pPr>
                      <a:r>
                        <a:t>Al naïve</a:t>
                      </a:r>
                    </a:p>
                  </a:txBody>
                  <a:tcPr marL="54864" marR="54864" marT="18288" marB="18288" anchor="ctr">
                    <a:solidFill>
                      <a:srgbClr val="C8102E"/>
                    </a:solidFill>
                  </a:tcPr>
                </a:tc>
                <a:tc>
                  <a:txBody>
                    <a:bodyPr/>
                    <a:lstStyle/>
                    <a:p>
                      <a:pPr algn="r">
                        <a:defRPr sz="660" b="1">
                          <a:solidFill>
                            <a:srgbClr val="FFFFFF"/>
                          </a:solidFill>
                          <a:latin typeface="Poppins"/>
                        </a:defRPr>
                      </a:pPr>
                      <a:r>
                        <a:t>Al skill</a:t>
                      </a:r>
                    </a:p>
                  </a:txBody>
                  <a:tcPr marL="54864" marR="54864" marT="18288" marB="18288" anchor="ctr">
                    <a:solidFill>
                      <a:srgbClr val="C8102E"/>
                    </a:solidFill>
                  </a:tcPr>
                </a:tc>
                <a:tc>
                  <a:txBody>
                    <a:bodyPr/>
                    <a:lstStyle/>
                    <a:p>
                      <a:pPr algn="r">
                        <a:defRPr sz="660" b="1">
                          <a:solidFill>
                            <a:srgbClr val="FFFFFF"/>
                          </a:solidFill>
                          <a:latin typeface="Poppins"/>
                        </a:defRPr>
                      </a:pPr>
                      <a:r>
                        <a:t>Al dir.</a:t>
                      </a:r>
                    </a:p>
                  </a:txBody>
                  <a:tcPr marL="54864" marR="54864" marT="18288" marB="18288" anchor="ctr">
                    <a:solidFill>
                      <a:srgbClr val="C8102E"/>
                    </a:solidFill>
                  </a:tcPr>
                </a:tc>
                <a:tc>
                  <a:txBody>
                    <a:bodyPr/>
                    <a:lstStyle/>
                    <a:p>
                      <a:pPr algn="r">
                        <a:defRPr sz="660" b="1">
                          <a:solidFill>
                            <a:srgbClr val="FFFFFF"/>
                          </a:solidFill>
                          <a:latin typeface="Poppins"/>
                        </a:defRPr>
                      </a:pPr>
                      <a:r>
                        <a:t>Al DM p</a:t>
                      </a:r>
                    </a:p>
                  </a:txBody>
                  <a:tcPr marL="54864" marR="54864" marT="18288" marB="18288" anchor="ctr">
                    <a:solidFill>
                      <a:srgbClr val="C8102E"/>
                    </a:solidFill>
                  </a:tcPr>
                </a:tc>
                <a:tc>
                  <a:txBody>
                    <a:bodyPr/>
                    <a:lstStyle/>
                    <a:p>
                      <a:pPr algn="r">
                        <a:defRPr sz="660" b="1">
                          <a:solidFill>
                            <a:srgbClr val="FFFFFF"/>
                          </a:solidFill>
                          <a:latin typeface="Poppins"/>
                        </a:defRPr>
                      </a:pPr>
                      <a:r>
                        <a:t>PVC MAPE</a:t>
                      </a:r>
                    </a:p>
                  </a:txBody>
                  <a:tcPr marL="54864" marR="54864" marT="18288" marB="18288" anchor="ctr">
                    <a:solidFill>
                      <a:srgbClr val="C8102E"/>
                    </a:solidFill>
                  </a:tcPr>
                </a:tc>
                <a:tc>
                  <a:txBody>
                    <a:bodyPr/>
                    <a:lstStyle/>
                    <a:p>
                      <a:pPr algn="r">
                        <a:defRPr sz="660" b="1">
                          <a:solidFill>
                            <a:srgbClr val="FFFFFF"/>
                          </a:solidFill>
                          <a:latin typeface="Poppins"/>
                        </a:defRPr>
                      </a:pPr>
                      <a:r>
                        <a:t>PVC naïve</a:t>
                      </a:r>
                    </a:p>
                  </a:txBody>
                  <a:tcPr marL="54864" marR="54864" marT="18288" marB="18288" anchor="ctr">
                    <a:solidFill>
                      <a:srgbClr val="C8102E"/>
                    </a:solidFill>
                  </a:tcPr>
                </a:tc>
                <a:tc>
                  <a:txBody>
                    <a:bodyPr/>
                    <a:lstStyle/>
                    <a:p>
                      <a:pPr algn="r">
                        <a:defRPr sz="660" b="1">
                          <a:solidFill>
                            <a:srgbClr val="FFFFFF"/>
                          </a:solidFill>
                          <a:latin typeface="Poppins"/>
                        </a:defRPr>
                      </a:pPr>
                      <a:r>
                        <a:t>PVC skill</a:t>
                      </a:r>
                    </a:p>
                  </a:txBody>
                  <a:tcPr marL="54864" marR="54864" marT="18288" marB="18288" anchor="ctr">
                    <a:solidFill>
                      <a:srgbClr val="C8102E"/>
                    </a:solidFill>
                  </a:tcPr>
                </a:tc>
                <a:tc>
                  <a:txBody>
                    <a:bodyPr/>
                    <a:lstStyle/>
                    <a:p>
                      <a:pPr algn="r">
                        <a:defRPr sz="660" b="1">
                          <a:solidFill>
                            <a:srgbClr val="FFFFFF"/>
                          </a:solidFill>
                          <a:latin typeface="Poppins"/>
                        </a:defRPr>
                      </a:pPr>
                      <a:r>
                        <a:t>PVC dir.</a:t>
                      </a:r>
                    </a:p>
                  </a:txBody>
                  <a:tcPr marL="54864" marR="54864" marT="18288" marB="18288" anchor="ctr">
                    <a:solidFill>
                      <a:srgbClr val="C8102E"/>
                    </a:solidFill>
                  </a:tcPr>
                </a:tc>
                <a:tc>
                  <a:txBody>
                    <a:bodyPr/>
                    <a:lstStyle/>
                    <a:p>
                      <a:pPr algn="r">
                        <a:defRPr sz="660" b="1">
                          <a:solidFill>
                            <a:srgbClr val="FFFFFF"/>
                          </a:solidFill>
                          <a:latin typeface="Poppins"/>
                        </a:defRPr>
                      </a:pPr>
                      <a:r>
                        <a:t>PVC DM p</a:t>
                      </a:r>
                    </a:p>
                  </a:txBody>
                  <a:tcPr marL="54864" marR="54864" marT="18288" marB="18288" anchor="ctr">
                    <a:solidFill>
                      <a:srgbClr val="C8102E"/>
                    </a:solidFill>
                  </a:tcPr>
                </a:tc>
                <a:tc>
                  <a:txBody>
                    <a:bodyPr/>
                    <a:lstStyle/>
                    <a:p>
                      <a:pPr algn="r">
                        <a:defRPr sz="660" b="1">
                          <a:solidFill>
                            <a:srgbClr val="FFFFFF"/>
                          </a:solidFill>
                          <a:latin typeface="Poppins"/>
                        </a:defRPr>
                      </a:pPr>
                      <a:r>
                        <a:t>Gate  ·  Al / PVC</a:t>
                      </a:r>
                    </a:p>
                  </a:txBody>
                  <a:tcPr marL="54864" marR="54864" marT="18288" marB="18288" anchor="ctr">
                    <a:solidFill>
                      <a:srgbClr val="C8102E"/>
                    </a:solidFill>
                  </a:tcPr>
                </a:tc>
              </a:tr>
              <a:tr h="260603">
                <a:tc>
                  <a:txBody>
                    <a:bodyPr/>
                    <a:lstStyle/>
                    <a:p>
                      <a:pPr algn="l">
                        <a:defRPr sz="740" b="0">
                          <a:solidFill>
                            <a:srgbClr val="4A4D55"/>
                          </a:solidFill>
                          <a:latin typeface="Poppins"/>
                        </a:defRPr>
                      </a:pPr>
                      <a:r>
                        <a:t>1 month</a:t>
                      </a:r>
                    </a:p>
                  </a:txBody>
                  <a:tcPr marL="54864" marR="54864" marT="13716" marB="13716" anchor="ctr">
                    <a:solidFill>
                      <a:srgbClr val="FFFFFF"/>
                    </a:solidFill>
                  </a:tcPr>
                </a:tc>
                <a:tc>
                  <a:txBody>
                    <a:bodyPr/>
                    <a:lstStyle/>
                    <a:p>
                      <a:pPr algn="r">
                        <a:defRPr sz="740" b="0">
                          <a:solidFill>
                            <a:srgbClr val="4A4D55"/>
                          </a:solidFill>
                          <a:latin typeface="Poppins"/>
                        </a:defRPr>
                      </a:pPr>
                      <a:r>
                        <a:t>3.74%</a:t>
                      </a:r>
                    </a:p>
                  </a:txBody>
                  <a:tcPr marL="54864" marR="54864" marT="13716" marB="13716" anchor="ctr">
                    <a:solidFill>
                      <a:srgbClr val="FFFFFF"/>
                    </a:solidFill>
                  </a:tcPr>
                </a:tc>
                <a:tc>
                  <a:txBody>
                    <a:bodyPr/>
                    <a:lstStyle/>
                    <a:p>
                      <a:pPr algn="r">
                        <a:defRPr sz="740" b="0">
                          <a:solidFill>
                            <a:srgbClr val="4A4D55"/>
                          </a:solidFill>
                          <a:latin typeface="Poppins"/>
                        </a:defRPr>
                      </a:pPr>
                      <a:r>
                        <a:t>3.79%</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+1.3%</a:t>
                      </a:r>
                    </a:p>
                  </a:txBody>
                  <a:tcPr marL="54864" marR="54864" marT="13716" marB="13716" anchor="ctr">
                    <a:solidFill>
                      <a:srgbClr val="FFFFFF"/>
                    </a:solidFill>
                  </a:tcPr>
                </a:tc>
                <a:tc>
                  <a:txBody>
                    <a:bodyPr/>
                    <a:lstStyle/>
                    <a:p>
                      <a:pPr algn="r">
                        <a:defRPr sz="740" b="0">
                          <a:solidFill>
                            <a:srgbClr val="4A4D55"/>
                          </a:solidFill>
                          <a:latin typeface="Poppins"/>
                        </a:defRPr>
                      </a:pPr>
                      <a:r>
                        <a:t>50.0%</a:t>
                      </a:r>
                    </a:p>
                  </a:txBody>
                  <a:tcPr marL="54864" marR="54864" marT="13716" marB="13716" anchor="ctr">
                    <a:solidFill>
                      <a:srgbClr val="FFFFFF"/>
                    </a:solidFill>
                  </a:tcPr>
                </a:tc>
                <a:tc>
                  <a:txBody>
                    <a:bodyPr/>
                    <a:lstStyle/>
                    <a:p>
                      <a:pPr algn="r">
                        <a:defRPr sz="740" b="0">
                          <a:solidFill>
                            <a:srgbClr val="4A4D55"/>
                          </a:solidFill>
                          <a:latin typeface="Poppins"/>
                        </a:defRPr>
                      </a:pPr>
                      <a:r>
                        <a:t>0.3252</a:t>
                      </a:r>
                    </a:p>
                  </a:txBody>
                  <a:tcPr marL="54864" marR="54864" marT="13716" marB="13716" anchor="ctr">
                    <a:solidFill>
                      <a:srgbClr val="FFFFFF"/>
                    </a:solidFill>
                  </a:tcPr>
                </a:tc>
                <a:tc>
                  <a:txBody>
                    <a:bodyPr/>
                    <a:lstStyle/>
                    <a:p>
                      <a:pPr algn="r">
                        <a:defRPr sz="740" b="0">
                          <a:solidFill>
                            <a:srgbClr val="4A4D55"/>
                          </a:solidFill>
                          <a:latin typeface="Poppins"/>
                        </a:defRPr>
                      </a:pPr>
                      <a:r>
                        <a:t>1.41%</a:t>
                      </a:r>
                    </a:p>
                  </a:txBody>
                  <a:tcPr marL="54864" marR="54864" marT="13716" marB="13716" anchor="ctr">
                    <a:solidFill>
                      <a:srgbClr val="FFFFFF"/>
                    </a:solidFill>
                  </a:tcPr>
                </a:tc>
                <a:tc>
                  <a:txBody>
                    <a:bodyPr/>
                    <a:lstStyle/>
                    <a:p>
                      <a:pPr algn="r">
                        <a:defRPr sz="740" b="0">
                          <a:solidFill>
                            <a:srgbClr val="4A4D55"/>
                          </a:solidFill>
                          <a:latin typeface="Poppins"/>
                        </a:defRPr>
                      </a:pPr>
                      <a:r>
                        <a:t>1.78%</a:t>
                      </a:r>
                    </a:p>
                  </a:txBody>
                  <a:tcPr marL="54864" marR="54864" marT="13716" marB="13716" anchor="ctr">
                    <a:solidFill>
                      <a:srgbClr val="FFFFFF"/>
                    </a:solidFill>
                  </a:tcPr>
                </a:tc>
                <a:tc>
                  <a:txBody>
                    <a:bodyPr/>
                    <a:lstStyle/>
                    <a:p>
                      <a:pPr algn="r">
                        <a:defRPr sz="740" b="0">
                          <a:solidFill>
                            <a:srgbClr val="0F6B3F"/>
                          </a:solidFill>
                          <a:latin typeface="Poppins"/>
                        </a:defRPr>
                      </a:pPr>
                      <a:r>
                        <a:rPr sz="740" b="0">
                          <a:solidFill>
                            <a:srgbClr val="0F6B3F"/>
                          </a:solidFill>
                          <a:latin typeface="Poppins"/>
                        </a:rPr>
                        <a:t>+20.7%</a:t>
                      </a:r>
                    </a:p>
                  </a:txBody>
                  <a:tcPr marL="54864" marR="54864" marT="13716" marB="13716" anchor="ctr">
                    <a:solidFill>
                      <a:srgbClr val="FFFFFF"/>
                    </a:solidFill>
                  </a:tcPr>
                </a:tc>
                <a:tc>
                  <a:txBody>
                    <a:bodyPr/>
                    <a:lstStyle/>
                    <a:p>
                      <a:pPr algn="r">
                        <a:defRPr sz="740" b="0">
                          <a:solidFill>
                            <a:srgbClr val="4A4D55"/>
                          </a:solidFill>
                          <a:latin typeface="Poppins"/>
                        </a:defRPr>
                      </a:pPr>
                      <a:r>
                        <a:t>72.7%</a:t>
                      </a:r>
                    </a:p>
                  </a:txBody>
                  <a:tcPr marL="54864" marR="54864" marT="13716" marB="13716" anchor="ctr">
                    <a:solidFill>
                      <a:srgbClr val="FFFFFF"/>
                    </a:solidFill>
                  </a:tcPr>
                </a:tc>
                <a:tc>
                  <a:txBody>
                    <a:bodyPr/>
                    <a:lstStyle/>
                    <a:p>
                      <a:pPr algn="r">
                        <a:defRPr sz="740" b="0">
                          <a:solidFill>
                            <a:srgbClr val="4A4D55"/>
                          </a:solidFill>
                          <a:latin typeface="Poppins"/>
                        </a:defRPr>
                      </a:pPr>
                      <a:r>
                        <a:t>0.0004</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≥10%    ✗ / ✓</a:t>
                      </a:r>
                    </a:p>
                  </a:txBody>
                  <a:tcPr marL="54864" marR="54864" marT="13716" marB="13716" anchor="ctr">
                    <a:solidFill>
                      <a:srgbClr val="FFFFFF"/>
                    </a:solidFill>
                  </a:tcPr>
                </a:tc>
              </a:tr>
              <a:tr h="260603">
                <a:tc>
                  <a:txBody>
                    <a:bodyPr/>
                    <a:lstStyle/>
                    <a:p>
                      <a:pPr algn="l">
                        <a:defRPr sz="740" b="0">
                          <a:solidFill>
                            <a:srgbClr val="4A4D55"/>
                          </a:solidFill>
                          <a:latin typeface="Poppins"/>
                        </a:defRPr>
                      </a:pPr>
                      <a:r>
                        <a:t>2 months</a:t>
                      </a:r>
                    </a:p>
                  </a:txBody>
                  <a:tcPr marL="54864" marR="54864" marT="13716" marB="13716" anchor="ctr">
                    <a:solidFill>
                      <a:srgbClr val="FFFFFF"/>
                    </a:solidFill>
                  </a:tcPr>
                </a:tc>
                <a:tc>
                  <a:txBody>
                    <a:bodyPr/>
                    <a:lstStyle/>
                    <a:p>
                      <a:pPr algn="r">
                        <a:defRPr sz="740" b="0">
                          <a:solidFill>
                            <a:srgbClr val="4A4D55"/>
                          </a:solidFill>
                          <a:latin typeface="Poppins"/>
                        </a:defRPr>
                      </a:pPr>
                      <a:r>
                        <a:t>6.15%</a:t>
                      </a:r>
                    </a:p>
                  </a:txBody>
                  <a:tcPr marL="54864" marR="54864" marT="13716" marB="13716" anchor="ctr">
                    <a:solidFill>
                      <a:srgbClr val="FFFFFF"/>
                    </a:solidFill>
                  </a:tcPr>
                </a:tc>
                <a:tc>
                  <a:txBody>
                    <a:bodyPr/>
                    <a:lstStyle/>
                    <a:p>
                      <a:pPr algn="r">
                        <a:defRPr sz="740" b="0">
                          <a:solidFill>
                            <a:srgbClr val="4A4D55"/>
                          </a:solidFill>
                          <a:latin typeface="Poppins"/>
                        </a:defRPr>
                      </a:pPr>
                      <a:r>
                        <a:t>6.37%</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+3.5%</a:t>
                      </a:r>
                    </a:p>
                  </a:txBody>
                  <a:tcPr marL="54864" marR="54864" marT="13716" marB="13716" anchor="ctr">
                    <a:solidFill>
                      <a:srgbClr val="FFFFFF"/>
                    </a:solidFill>
                  </a:tcPr>
                </a:tc>
                <a:tc>
                  <a:txBody>
                    <a:bodyPr/>
                    <a:lstStyle/>
                    <a:p>
                      <a:pPr algn="r">
                        <a:defRPr sz="740" b="0">
                          <a:solidFill>
                            <a:srgbClr val="4A4D55"/>
                          </a:solidFill>
                          <a:latin typeface="Poppins"/>
                        </a:defRPr>
                      </a:pPr>
                      <a:r>
                        <a:t>55.1%</a:t>
                      </a:r>
                    </a:p>
                  </a:txBody>
                  <a:tcPr marL="54864" marR="54864" marT="13716" marB="13716" anchor="ctr">
                    <a:solidFill>
                      <a:srgbClr val="FFFFFF"/>
                    </a:solidFill>
                  </a:tcPr>
                </a:tc>
                <a:tc>
                  <a:txBody>
                    <a:bodyPr/>
                    <a:lstStyle/>
                    <a:p>
                      <a:pPr algn="r">
                        <a:defRPr sz="740" b="0">
                          <a:solidFill>
                            <a:srgbClr val="4A4D55"/>
                          </a:solidFill>
                          <a:latin typeface="Poppins"/>
                        </a:defRPr>
                      </a:pPr>
                      <a:r>
                        <a:t>0.1806</a:t>
                      </a:r>
                    </a:p>
                  </a:txBody>
                  <a:tcPr marL="54864" marR="54864" marT="13716" marB="13716" anchor="ctr">
                    <a:solidFill>
                      <a:srgbClr val="FFFFFF"/>
                    </a:solidFill>
                  </a:tcPr>
                </a:tc>
                <a:tc>
                  <a:txBody>
                    <a:bodyPr/>
                    <a:lstStyle/>
                    <a:p>
                      <a:pPr algn="r">
                        <a:defRPr sz="740" b="0">
                          <a:solidFill>
                            <a:srgbClr val="4A4D55"/>
                          </a:solidFill>
                          <a:latin typeface="Poppins"/>
                        </a:defRPr>
                      </a:pPr>
                      <a:r>
                        <a:t>2.65%</a:t>
                      </a:r>
                    </a:p>
                  </a:txBody>
                  <a:tcPr marL="54864" marR="54864" marT="13716" marB="13716" anchor="ctr">
                    <a:solidFill>
                      <a:srgbClr val="FFFFFF"/>
                    </a:solidFill>
                  </a:tcPr>
                </a:tc>
                <a:tc>
                  <a:txBody>
                    <a:bodyPr/>
                    <a:lstStyle/>
                    <a:p>
                      <a:pPr algn="r">
                        <a:defRPr sz="740" b="0">
                          <a:solidFill>
                            <a:srgbClr val="4A4D55"/>
                          </a:solidFill>
                          <a:latin typeface="Poppins"/>
                        </a:defRPr>
                      </a:pPr>
                      <a:r>
                        <a:t>3.15%</a:t>
                      </a:r>
                    </a:p>
                  </a:txBody>
                  <a:tcPr marL="54864" marR="54864" marT="13716" marB="13716" anchor="ctr">
                    <a:solidFill>
                      <a:srgbClr val="FFFFFF"/>
                    </a:solidFill>
                  </a:tcPr>
                </a:tc>
                <a:tc>
                  <a:txBody>
                    <a:bodyPr/>
                    <a:lstStyle/>
                    <a:p>
                      <a:pPr algn="r">
                        <a:defRPr sz="740" b="0">
                          <a:solidFill>
                            <a:srgbClr val="0F6B3F"/>
                          </a:solidFill>
                          <a:latin typeface="Poppins"/>
                        </a:defRPr>
                      </a:pPr>
                      <a:r>
                        <a:rPr sz="740" b="0">
                          <a:solidFill>
                            <a:srgbClr val="0F6B3F"/>
                          </a:solidFill>
                          <a:latin typeface="Poppins"/>
                        </a:rPr>
                        <a:t>+15.9%</a:t>
                      </a:r>
                    </a:p>
                  </a:txBody>
                  <a:tcPr marL="54864" marR="54864" marT="13716" marB="13716" anchor="ctr">
                    <a:solidFill>
                      <a:srgbClr val="FFFFFF"/>
                    </a:solidFill>
                  </a:tcPr>
                </a:tc>
                <a:tc>
                  <a:txBody>
                    <a:bodyPr/>
                    <a:lstStyle/>
                    <a:p>
                      <a:pPr algn="r">
                        <a:defRPr sz="740" b="0">
                          <a:solidFill>
                            <a:srgbClr val="4A4D55"/>
                          </a:solidFill>
                          <a:latin typeface="Poppins"/>
                        </a:defRPr>
                      </a:pPr>
                      <a:r>
                        <a:t>65.4%</a:t>
                      </a:r>
                    </a:p>
                  </a:txBody>
                  <a:tcPr marL="54864" marR="54864" marT="13716" marB="13716" anchor="ctr">
                    <a:solidFill>
                      <a:srgbClr val="FFFFFF"/>
                    </a:solidFill>
                  </a:tcPr>
                </a:tc>
                <a:tc>
                  <a:txBody>
                    <a:bodyPr/>
                    <a:lstStyle/>
                    <a:p>
                      <a:pPr algn="r">
                        <a:defRPr sz="740" b="0">
                          <a:solidFill>
                            <a:srgbClr val="4A4D55"/>
                          </a:solidFill>
                          <a:latin typeface="Poppins"/>
                        </a:defRPr>
                      </a:pPr>
                      <a:r>
                        <a:t>0.0237</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≥12%    ✗ / ✓</a:t>
                      </a:r>
                    </a:p>
                  </a:txBody>
                  <a:tcPr marL="54864" marR="54864" marT="13716" marB="13716" anchor="ctr">
                    <a:solidFill>
                      <a:srgbClr val="FFFFFF"/>
                    </a:solidFill>
                  </a:tcPr>
                </a:tc>
              </a:tr>
              <a:tr h="260603">
                <a:tc>
                  <a:txBody>
                    <a:bodyPr/>
                    <a:lstStyle/>
                    <a:p>
                      <a:pPr algn="l">
                        <a:defRPr sz="740" b="1">
                          <a:solidFill>
                            <a:srgbClr val="4A4D55"/>
                          </a:solidFill>
                          <a:latin typeface="Poppins"/>
                        </a:defRPr>
                      </a:pPr>
                      <a:r>
                        <a:t>3 months</a:t>
                      </a:r>
                    </a:p>
                  </a:txBody>
                  <a:tcPr marL="54864" marR="54864" marT="13716" marB="13716" anchor="ctr">
                    <a:solidFill>
                      <a:srgbClr val="FDF2F4"/>
                    </a:solidFill>
                  </a:tcPr>
                </a:tc>
                <a:tc>
                  <a:txBody>
                    <a:bodyPr/>
                    <a:lstStyle/>
                    <a:p>
                      <a:pPr algn="r">
                        <a:defRPr sz="740" b="1">
                          <a:solidFill>
                            <a:srgbClr val="4A4D55"/>
                          </a:solidFill>
                          <a:latin typeface="Poppins"/>
                        </a:defRPr>
                      </a:pPr>
                      <a:r>
                        <a:t>7.89%</a:t>
                      </a:r>
                    </a:p>
                  </a:txBody>
                  <a:tcPr marL="54864" marR="54864" marT="13716" marB="13716" anchor="ctr">
                    <a:solidFill>
                      <a:srgbClr val="FDF2F4"/>
                    </a:solidFill>
                  </a:tcPr>
                </a:tc>
                <a:tc>
                  <a:txBody>
                    <a:bodyPr/>
                    <a:lstStyle/>
                    <a:p>
                      <a:pPr algn="r">
                        <a:defRPr sz="740" b="1">
                          <a:solidFill>
                            <a:srgbClr val="4A4D55"/>
                          </a:solidFill>
                          <a:latin typeface="Poppins"/>
                        </a:defRPr>
                      </a:pPr>
                      <a:r>
                        <a:t>8.19%</a:t>
                      </a:r>
                    </a:p>
                  </a:txBody>
                  <a:tcPr marL="54864" marR="54864" marT="13716" marB="13716" anchor="ctr">
                    <a:solidFill>
                      <a:srgbClr val="FDF2F4"/>
                    </a:solidFill>
                  </a:tcPr>
                </a:tc>
                <a:tc>
                  <a:txBody>
                    <a:bodyPr/>
                    <a:lstStyle/>
                    <a:p>
                      <a:pPr algn="r">
                        <a:defRPr sz="740" b="1">
                          <a:solidFill>
                            <a:srgbClr val="C8102E"/>
                          </a:solidFill>
                          <a:latin typeface="Poppins"/>
                        </a:defRPr>
                      </a:pPr>
                      <a:r>
                        <a:rPr sz="740" b="1">
                          <a:solidFill>
                            <a:srgbClr val="C8102E"/>
                          </a:solidFill>
                          <a:latin typeface="Poppins"/>
                        </a:rPr>
                        <a:t>+3.7%</a:t>
                      </a:r>
                    </a:p>
                  </a:txBody>
                  <a:tcPr marL="54864" marR="54864" marT="13716" marB="13716" anchor="ctr">
                    <a:solidFill>
                      <a:srgbClr val="FDF2F4"/>
                    </a:solidFill>
                  </a:tcPr>
                </a:tc>
                <a:tc>
                  <a:txBody>
                    <a:bodyPr/>
                    <a:lstStyle/>
                    <a:p>
                      <a:pPr algn="r">
                        <a:defRPr sz="740" b="1">
                          <a:solidFill>
                            <a:srgbClr val="4A4D55"/>
                          </a:solidFill>
                          <a:latin typeface="Poppins"/>
                        </a:defRPr>
                      </a:pPr>
                      <a:r>
                        <a:t>65.4%</a:t>
                      </a:r>
                    </a:p>
                  </a:txBody>
                  <a:tcPr marL="54864" marR="54864" marT="13716" marB="13716" anchor="ctr">
                    <a:solidFill>
                      <a:srgbClr val="FDF2F4"/>
                    </a:solidFill>
                  </a:tcPr>
                </a:tc>
                <a:tc>
                  <a:txBody>
                    <a:bodyPr/>
                    <a:lstStyle/>
                    <a:p>
                      <a:pPr algn="r">
                        <a:defRPr sz="740" b="1">
                          <a:solidFill>
                            <a:srgbClr val="4A4D55"/>
                          </a:solidFill>
                          <a:latin typeface="Poppins"/>
                        </a:defRPr>
                      </a:pPr>
                      <a:r>
                        <a:t>0.1582</a:t>
                      </a:r>
                    </a:p>
                  </a:txBody>
                  <a:tcPr marL="54864" marR="54864" marT="13716" marB="13716" anchor="ctr">
                    <a:solidFill>
                      <a:srgbClr val="FDF2F4"/>
                    </a:solidFill>
                  </a:tcPr>
                </a:tc>
                <a:tc>
                  <a:txBody>
                    <a:bodyPr/>
                    <a:lstStyle/>
                    <a:p>
                      <a:pPr algn="r">
                        <a:defRPr sz="740" b="1">
                          <a:solidFill>
                            <a:srgbClr val="4A4D55"/>
                          </a:solidFill>
                          <a:latin typeface="Poppins"/>
                        </a:defRPr>
                      </a:pPr>
                      <a:r>
                        <a:t>3.92%</a:t>
                      </a:r>
                    </a:p>
                  </a:txBody>
                  <a:tcPr marL="54864" marR="54864" marT="13716" marB="13716" anchor="ctr">
                    <a:solidFill>
                      <a:srgbClr val="FDF2F4"/>
                    </a:solidFill>
                  </a:tcPr>
                </a:tc>
                <a:tc>
                  <a:txBody>
                    <a:bodyPr/>
                    <a:lstStyle/>
                    <a:p>
                      <a:pPr algn="r">
                        <a:defRPr sz="740" b="1">
                          <a:solidFill>
                            <a:srgbClr val="4A4D55"/>
                          </a:solidFill>
                          <a:latin typeface="Poppins"/>
                        </a:defRPr>
                      </a:pPr>
                      <a:r>
                        <a:t>4.37%</a:t>
                      </a:r>
                    </a:p>
                  </a:txBody>
                  <a:tcPr marL="54864" marR="54864" marT="13716" marB="13716" anchor="ctr">
                    <a:solidFill>
                      <a:srgbClr val="FDF2F4"/>
                    </a:solidFill>
                  </a:tcPr>
                </a:tc>
                <a:tc>
                  <a:txBody>
                    <a:bodyPr/>
                    <a:lstStyle/>
                    <a:p>
                      <a:pPr algn="r">
                        <a:defRPr sz="740" b="1">
                          <a:solidFill>
                            <a:srgbClr val="C8102E"/>
                          </a:solidFill>
                          <a:latin typeface="Poppins"/>
                        </a:defRPr>
                      </a:pPr>
                      <a:r>
                        <a:rPr sz="740" b="1">
                          <a:solidFill>
                            <a:srgbClr val="C8102E"/>
                          </a:solidFill>
                          <a:latin typeface="Poppins"/>
                        </a:rPr>
                        <a:t>+10.3%</a:t>
                      </a:r>
                    </a:p>
                  </a:txBody>
                  <a:tcPr marL="54864" marR="54864" marT="13716" marB="13716" anchor="ctr">
                    <a:solidFill>
                      <a:srgbClr val="FDF2F4"/>
                    </a:solidFill>
                  </a:tcPr>
                </a:tc>
                <a:tc>
                  <a:txBody>
                    <a:bodyPr/>
                    <a:lstStyle/>
                    <a:p>
                      <a:pPr algn="r">
                        <a:defRPr sz="740" b="1">
                          <a:solidFill>
                            <a:srgbClr val="4A4D55"/>
                          </a:solidFill>
                          <a:latin typeface="Poppins"/>
                        </a:defRPr>
                      </a:pPr>
                      <a:r>
                        <a:t>62.8%</a:t>
                      </a:r>
                    </a:p>
                  </a:txBody>
                  <a:tcPr marL="54864" marR="54864" marT="13716" marB="13716" anchor="ctr">
                    <a:solidFill>
                      <a:srgbClr val="FDF2F4"/>
                    </a:solidFill>
                  </a:tcPr>
                </a:tc>
                <a:tc>
                  <a:txBody>
                    <a:bodyPr/>
                    <a:lstStyle/>
                    <a:p>
                      <a:pPr algn="r">
                        <a:defRPr sz="740" b="1">
                          <a:solidFill>
                            <a:srgbClr val="4A4D55"/>
                          </a:solidFill>
                          <a:latin typeface="Poppins"/>
                        </a:defRPr>
                      </a:pPr>
                      <a:r>
                        <a:t>0.1075</a:t>
                      </a:r>
                    </a:p>
                  </a:txBody>
                  <a:tcPr marL="54864" marR="54864" marT="13716" marB="13716" anchor="ctr">
                    <a:solidFill>
                      <a:srgbClr val="FDF2F4"/>
                    </a:solidFill>
                  </a:tcPr>
                </a:tc>
                <a:tc>
                  <a:txBody>
                    <a:bodyPr/>
                    <a:lstStyle/>
                    <a:p>
                      <a:pPr algn="r">
                        <a:defRPr sz="740" b="1">
                          <a:solidFill>
                            <a:srgbClr val="C8102E"/>
                          </a:solidFill>
                          <a:latin typeface="Poppins"/>
                        </a:defRPr>
                      </a:pPr>
                      <a:r>
                        <a:rPr sz="740" b="1">
                          <a:solidFill>
                            <a:srgbClr val="C8102E"/>
                          </a:solidFill>
                          <a:latin typeface="Poppins"/>
                        </a:rPr>
                        <a:t>≥15%    ✗ / ✗</a:t>
                      </a:r>
                    </a:p>
                  </a:txBody>
                  <a:tcPr marL="54864" marR="54864" marT="13716" marB="13716" anchor="ctr">
                    <a:solidFill>
                      <a:srgbClr val="FDF2F4"/>
                    </a:solidFill>
                  </a:tcPr>
                </a:tc>
              </a:tr>
              <a:tr h="260603">
                <a:tc>
                  <a:txBody>
                    <a:bodyPr/>
                    <a:lstStyle/>
                    <a:p>
                      <a:pPr algn="l">
                        <a:defRPr sz="740" b="0">
                          <a:solidFill>
                            <a:srgbClr val="4A4D55"/>
                          </a:solidFill>
                          <a:latin typeface="Poppins"/>
                        </a:defRPr>
                      </a:pPr>
                      <a:r>
                        <a:t>4 months</a:t>
                      </a:r>
                    </a:p>
                  </a:txBody>
                  <a:tcPr marL="54864" marR="54864" marT="13716" marB="13716" anchor="ctr">
                    <a:solidFill>
                      <a:srgbClr val="FFFFFF"/>
                    </a:solidFill>
                  </a:tcPr>
                </a:tc>
                <a:tc>
                  <a:txBody>
                    <a:bodyPr/>
                    <a:lstStyle/>
                    <a:p>
                      <a:pPr algn="r">
                        <a:defRPr sz="740" b="0">
                          <a:solidFill>
                            <a:srgbClr val="4A4D55"/>
                          </a:solidFill>
                          <a:latin typeface="Poppins"/>
                        </a:defRPr>
                      </a:pPr>
                      <a:r>
                        <a:t>9.00%</a:t>
                      </a:r>
                    </a:p>
                  </a:txBody>
                  <a:tcPr marL="54864" marR="54864" marT="13716" marB="13716" anchor="ctr">
                    <a:solidFill>
                      <a:srgbClr val="FFFFFF"/>
                    </a:solidFill>
                  </a:tcPr>
                </a:tc>
                <a:tc>
                  <a:txBody>
                    <a:bodyPr/>
                    <a:lstStyle/>
                    <a:p>
                      <a:pPr algn="r">
                        <a:defRPr sz="740" b="0">
                          <a:solidFill>
                            <a:srgbClr val="4A4D55"/>
                          </a:solidFill>
                          <a:latin typeface="Poppins"/>
                        </a:defRPr>
                      </a:pPr>
                      <a:r>
                        <a:t>9.44%</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+4.6%</a:t>
                      </a:r>
                    </a:p>
                  </a:txBody>
                  <a:tcPr marL="54864" marR="54864" marT="13716" marB="13716" anchor="ctr">
                    <a:solidFill>
                      <a:srgbClr val="FFFFFF"/>
                    </a:solidFill>
                  </a:tcPr>
                </a:tc>
                <a:tc>
                  <a:txBody>
                    <a:bodyPr/>
                    <a:lstStyle/>
                    <a:p>
                      <a:pPr algn="r">
                        <a:defRPr sz="740" b="0">
                          <a:solidFill>
                            <a:srgbClr val="4A4D55"/>
                          </a:solidFill>
                          <a:latin typeface="Poppins"/>
                        </a:defRPr>
                      </a:pPr>
                      <a:r>
                        <a:t>61.5%</a:t>
                      </a:r>
                    </a:p>
                  </a:txBody>
                  <a:tcPr marL="54864" marR="54864" marT="13716" marB="13716" anchor="ctr">
                    <a:solidFill>
                      <a:srgbClr val="FFFFFF"/>
                    </a:solidFill>
                  </a:tcPr>
                </a:tc>
                <a:tc>
                  <a:txBody>
                    <a:bodyPr/>
                    <a:lstStyle/>
                    <a:p>
                      <a:pPr algn="r">
                        <a:defRPr sz="740" b="0">
                          <a:solidFill>
                            <a:srgbClr val="4A4D55"/>
                          </a:solidFill>
                          <a:latin typeface="Poppins"/>
                        </a:defRPr>
                      </a:pPr>
                      <a:r>
                        <a:t>0.1078</a:t>
                      </a:r>
                    </a:p>
                  </a:txBody>
                  <a:tcPr marL="54864" marR="54864" marT="13716" marB="13716" anchor="ctr">
                    <a:solidFill>
                      <a:srgbClr val="FFFFFF"/>
                    </a:solidFill>
                  </a:tcPr>
                </a:tc>
                <a:tc>
                  <a:txBody>
                    <a:bodyPr/>
                    <a:lstStyle/>
                    <a:p>
                      <a:pPr algn="r">
                        <a:defRPr sz="740" b="0">
                          <a:solidFill>
                            <a:srgbClr val="4A4D55"/>
                          </a:solidFill>
                          <a:latin typeface="Poppins"/>
                        </a:defRPr>
                      </a:pPr>
                      <a:r>
                        <a:t>5.38%</a:t>
                      </a:r>
                    </a:p>
                  </a:txBody>
                  <a:tcPr marL="54864" marR="54864" marT="13716" marB="13716" anchor="ctr">
                    <a:solidFill>
                      <a:srgbClr val="FFFFFF"/>
                    </a:solidFill>
                  </a:tcPr>
                </a:tc>
                <a:tc>
                  <a:txBody>
                    <a:bodyPr/>
                    <a:lstStyle/>
                    <a:p>
                      <a:pPr algn="r">
                        <a:defRPr sz="740" b="0">
                          <a:solidFill>
                            <a:srgbClr val="4A4D55"/>
                          </a:solidFill>
                          <a:latin typeface="Poppins"/>
                        </a:defRPr>
                      </a:pPr>
                      <a:r>
                        <a:t>5.43%</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+0.9%</a:t>
                      </a:r>
                    </a:p>
                  </a:txBody>
                  <a:tcPr marL="54864" marR="54864" marT="13716" marB="13716" anchor="ctr">
                    <a:solidFill>
                      <a:srgbClr val="FFFFFF"/>
                    </a:solidFill>
                  </a:tcPr>
                </a:tc>
                <a:tc>
                  <a:txBody>
                    <a:bodyPr/>
                    <a:lstStyle/>
                    <a:p>
                      <a:pPr algn="r">
                        <a:defRPr sz="740" b="0">
                          <a:solidFill>
                            <a:srgbClr val="4A4D55"/>
                          </a:solidFill>
                          <a:latin typeface="Poppins"/>
                        </a:defRPr>
                      </a:pPr>
                      <a:r>
                        <a:t>42.5%</a:t>
                      </a:r>
                    </a:p>
                  </a:txBody>
                  <a:tcPr marL="54864" marR="54864" marT="13716" marB="13716" anchor="ctr">
                    <a:solidFill>
                      <a:srgbClr val="FFFFFF"/>
                    </a:solidFill>
                  </a:tcPr>
                </a:tc>
                <a:tc>
                  <a:txBody>
                    <a:bodyPr/>
                    <a:lstStyle/>
                    <a:p>
                      <a:pPr algn="r">
                        <a:defRPr sz="740" b="0">
                          <a:solidFill>
                            <a:srgbClr val="4A4D55"/>
                          </a:solidFill>
                          <a:latin typeface="Poppins"/>
                        </a:defRPr>
                      </a:pPr>
                      <a:r>
                        <a:t>0.4651</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≥12%    ✗ / ✗</a:t>
                      </a:r>
                    </a:p>
                  </a:txBody>
                  <a:tcPr marL="54864" marR="54864" marT="13716" marB="13716" anchor="ctr">
                    <a:solidFill>
                      <a:srgbClr val="FFFFFF"/>
                    </a:solidFill>
                  </a:tcPr>
                </a:tc>
              </a:tr>
              <a:tr h="260603">
                <a:tc>
                  <a:txBody>
                    <a:bodyPr/>
                    <a:lstStyle/>
                    <a:p>
                      <a:pPr algn="l">
                        <a:defRPr sz="740" b="0">
                          <a:solidFill>
                            <a:srgbClr val="4A4D55"/>
                          </a:solidFill>
                          <a:latin typeface="Poppins"/>
                        </a:defRPr>
                      </a:pPr>
                      <a:r>
                        <a:t>5 months</a:t>
                      </a:r>
                    </a:p>
                  </a:txBody>
                  <a:tcPr marL="54864" marR="54864" marT="13716" marB="13716" anchor="ctr">
                    <a:solidFill>
                      <a:srgbClr val="FFFFFF"/>
                    </a:solidFill>
                  </a:tcPr>
                </a:tc>
                <a:tc>
                  <a:txBody>
                    <a:bodyPr/>
                    <a:lstStyle/>
                    <a:p>
                      <a:pPr algn="r">
                        <a:defRPr sz="740" b="0">
                          <a:solidFill>
                            <a:srgbClr val="4A4D55"/>
                          </a:solidFill>
                          <a:latin typeface="Poppins"/>
                        </a:defRPr>
                      </a:pPr>
                      <a:r>
                        <a:t>10.22%</a:t>
                      </a:r>
                    </a:p>
                  </a:txBody>
                  <a:tcPr marL="54864" marR="54864" marT="13716" marB="13716" anchor="ctr">
                    <a:solidFill>
                      <a:srgbClr val="FFFFFF"/>
                    </a:solidFill>
                  </a:tcPr>
                </a:tc>
                <a:tc>
                  <a:txBody>
                    <a:bodyPr/>
                    <a:lstStyle/>
                    <a:p>
                      <a:pPr algn="r">
                        <a:defRPr sz="740" b="0">
                          <a:solidFill>
                            <a:srgbClr val="4A4D55"/>
                          </a:solidFill>
                          <a:latin typeface="Poppins"/>
                        </a:defRPr>
                      </a:pPr>
                      <a:r>
                        <a:t>10.59%</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+3.5%</a:t>
                      </a:r>
                    </a:p>
                  </a:txBody>
                  <a:tcPr marL="54864" marR="54864" marT="13716" marB="13716" anchor="ctr">
                    <a:solidFill>
                      <a:srgbClr val="FFFFFF"/>
                    </a:solidFill>
                  </a:tcPr>
                </a:tc>
                <a:tc>
                  <a:txBody>
                    <a:bodyPr/>
                    <a:lstStyle/>
                    <a:p>
                      <a:pPr algn="r">
                        <a:defRPr sz="740" b="0">
                          <a:solidFill>
                            <a:srgbClr val="4A4D55"/>
                          </a:solidFill>
                          <a:latin typeface="Poppins"/>
                        </a:defRPr>
                      </a:pPr>
                      <a:r>
                        <a:t>59.0%</a:t>
                      </a:r>
                    </a:p>
                  </a:txBody>
                  <a:tcPr marL="54864" marR="54864" marT="13716" marB="13716" anchor="ctr">
                    <a:solidFill>
                      <a:srgbClr val="FFFFFF"/>
                    </a:solidFill>
                  </a:tcPr>
                </a:tc>
                <a:tc>
                  <a:txBody>
                    <a:bodyPr/>
                    <a:lstStyle/>
                    <a:p>
                      <a:pPr algn="r">
                        <a:defRPr sz="740" b="0">
                          <a:solidFill>
                            <a:srgbClr val="4A4D55"/>
                          </a:solidFill>
                          <a:latin typeface="Poppins"/>
                        </a:defRPr>
                      </a:pPr>
                      <a:r>
                        <a:t>0.1811</a:t>
                      </a:r>
                    </a:p>
                  </a:txBody>
                  <a:tcPr marL="54864" marR="54864" marT="13716" marB="13716" anchor="ctr">
                    <a:solidFill>
                      <a:srgbClr val="FFFFFF"/>
                    </a:solidFill>
                  </a:tcPr>
                </a:tc>
                <a:tc>
                  <a:txBody>
                    <a:bodyPr/>
                    <a:lstStyle/>
                    <a:p>
                      <a:pPr algn="r">
                        <a:defRPr sz="740" b="0">
                          <a:solidFill>
                            <a:srgbClr val="4A4D55"/>
                          </a:solidFill>
                          <a:latin typeface="Poppins"/>
                        </a:defRPr>
                      </a:pPr>
                      <a:r>
                        <a:t>6.21%</a:t>
                      </a:r>
                    </a:p>
                  </a:txBody>
                  <a:tcPr marL="54864" marR="54864" marT="13716" marB="13716" anchor="ctr">
                    <a:solidFill>
                      <a:srgbClr val="FFFFFF"/>
                    </a:solidFill>
                  </a:tcPr>
                </a:tc>
                <a:tc>
                  <a:txBody>
                    <a:bodyPr/>
                    <a:lstStyle/>
                    <a:p>
                      <a:pPr algn="r">
                        <a:defRPr sz="740" b="0">
                          <a:solidFill>
                            <a:srgbClr val="4A4D55"/>
                          </a:solidFill>
                          <a:latin typeface="Poppins"/>
                        </a:defRPr>
                      </a:pPr>
                      <a:r>
                        <a:t>6.25%</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+0.7%</a:t>
                      </a:r>
                    </a:p>
                  </a:txBody>
                  <a:tcPr marL="54864" marR="54864" marT="13716" marB="13716" anchor="ctr">
                    <a:solidFill>
                      <a:srgbClr val="FFFFFF"/>
                    </a:solidFill>
                  </a:tcPr>
                </a:tc>
                <a:tc>
                  <a:txBody>
                    <a:bodyPr/>
                    <a:lstStyle/>
                    <a:p>
                      <a:pPr algn="r">
                        <a:defRPr sz="740" b="0">
                          <a:solidFill>
                            <a:srgbClr val="4A4D55"/>
                          </a:solidFill>
                          <a:latin typeface="Poppins"/>
                        </a:defRPr>
                      </a:pPr>
                      <a:r>
                        <a:t>53.8%</a:t>
                      </a:r>
                    </a:p>
                  </a:txBody>
                  <a:tcPr marL="54864" marR="54864" marT="13716" marB="13716" anchor="ctr">
                    <a:solidFill>
                      <a:srgbClr val="FFFFFF"/>
                    </a:solidFill>
                  </a:tcPr>
                </a:tc>
                <a:tc>
                  <a:txBody>
                    <a:bodyPr/>
                    <a:lstStyle/>
                    <a:p>
                      <a:pPr algn="r">
                        <a:defRPr sz="740" b="0">
                          <a:solidFill>
                            <a:srgbClr val="4A4D55"/>
                          </a:solidFill>
                          <a:latin typeface="Poppins"/>
                        </a:defRPr>
                      </a:pPr>
                      <a:r>
                        <a:t>0.4575</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≥10%    ✗ / ✗</a:t>
                      </a:r>
                    </a:p>
                  </a:txBody>
                  <a:tcPr marL="54864" marR="54864" marT="13716" marB="13716" anchor="ctr">
                    <a:solidFill>
                      <a:srgbClr val="FFFFFF"/>
                    </a:solidFill>
                  </a:tcPr>
                </a:tc>
              </a:tr>
              <a:tr h="260603">
                <a:tc>
                  <a:txBody>
                    <a:bodyPr/>
                    <a:lstStyle/>
                    <a:p>
                      <a:pPr algn="l">
                        <a:defRPr sz="740" b="0">
                          <a:solidFill>
                            <a:srgbClr val="4A4D55"/>
                          </a:solidFill>
                          <a:latin typeface="Poppins"/>
                        </a:defRPr>
                      </a:pPr>
                      <a:r>
                        <a:t>6 months</a:t>
                      </a:r>
                    </a:p>
                  </a:txBody>
                  <a:tcPr marL="54864" marR="54864" marT="13716" marB="13716" anchor="ctr">
                    <a:solidFill>
                      <a:srgbClr val="FFFFFF"/>
                    </a:solidFill>
                  </a:tcPr>
                </a:tc>
                <a:tc>
                  <a:txBody>
                    <a:bodyPr/>
                    <a:lstStyle/>
                    <a:p>
                      <a:pPr algn="r">
                        <a:defRPr sz="740" b="0">
                          <a:solidFill>
                            <a:srgbClr val="4A4D55"/>
                          </a:solidFill>
                          <a:latin typeface="Poppins"/>
                        </a:defRPr>
                      </a:pPr>
                      <a:r>
                        <a:t>11.31%</a:t>
                      </a:r>
                    </a:p>
                  </a:txBody>
                  <a:tcPr marL="54864" marR="54864" marT="13716" marB="13716" anchor="ctr">
                    <a:solidFill>
                      <a:srgbClr val="FFFFFF"/>
                    </a:solidFill>
                  </a:tcPr>
                </a:tc>
                <a:tc>
                  <a:txBody>
                    <a:bodyPr/>
                    <a:lstStyle/>
                    <a:p>
                      <a:pPr algn="r">
                        <a:defRPr sz="740" b="0">
                          <a:solidFill>
                            <a:srgbClr val="4A4D55"/>
                          </a:solidFill>
                          <a:latin typeface="Poppins"/>
                        </a:defRPr>
                      </a:pPr>
                      <a:r>
                        <a:t>11.74%</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+3.6%</a:t>
                      </a:r>
                    </a:p>
                  </a:txBody>
                  <a:tcPr marL="54864" marR="54864" marT="13716" marB="13716" anchor="ctr">
                    <a:solidFill>
                      <a:srgbClr val="FFFFFF"/>
                    </a:solidFill>
                  </a:tcPr>
                </a:tc>
                <a:tc>
                  <a:txBody>
                    <a:bodyPr/>
                    <a:lstStyle/>
                    <a:p>
                      <a:pPr algn="r">
                        <a:defRPr sz="740" b="0">
                          <a:solidFill>
                            <a:srgbClr val="4A4D55"/>
                          </a:solidFill>
                          <a:latin typeface="Poppins"/>
                        </a:defRPr>
                      </a:pPr>
                      <a:r>
                        <a:t>61.5%</a:t>
                      </a:r>
                    </a:p>
                  </a:txBody>
                  <a:tcPr marL="54864" marR="54864" marT="13716" marB="13716" anchor="ctr">
                    <a:solidFill>
                      <a:srgbClr val="FFFFFF"/>
                    </a:solidFill>
                  </a:tcPr>
                </a:tc>
                <a:tc>
                  <a:txBody>
                    <a:bodyPr/>
                    <a:lstStyle/>
                    <a:p>
                      <a:pPr algn="r">
                        <a:defRPr sz="740" b="0">
                          <a:solidFill>
                            <a:srgbClr val="4A4D55"/>
                          </a:solidFill>
                          <a:latin typeface="Poppins"/>
                        </a:defRPr>
                      </a:pPr>
                      <a:r>
                        <a:t>0.1589</a:t>
                      </a:r>
                    </a:p>
                  </a:txBody>
                  <a:tcPr marL="54864" marR="54864" marT="13716" marB="13716" anchor="ctr">
                    <a:solidFill>
                      <a:srgbClr val="FFFFFF"/>
                    </a:solidFill>
                  </a:tcPr>
                </a:tc>
                <a:tc>
                  <a:txBody>
                    <a:bodyPr/>
                    <a:lstStyle/>
                    <a:p>
                      <a:pPr algn="r">
                        <a:defRPr sz="740" b="0">
                          <a:solidFill>
                            <a:srgbClr val="4A4D55"/>
                          </a:solidFill>
                          <a:latin typeface="Poppins"/>
                        </a:defRPr>
                      </a:pPr>
                      <a:r>
                        <a:t>6.78%</a:t>
                      </a:r>
                    </a:p>
                  </a:txBody>
                  <a:tcPr marL="54864" marR="54864" marT="13716" marB="13716" anchor="ctr">
                    <a:solidFill>
                      <a:srgbClr val="FFFFFF"/>
                    </a:solidFill>
                  </a:tcPr>
                </a:tc>
                <a:tc>
                  <a:txBody>
                    <a:bodyPr/>
                    <a:lstStyle/>
                    <a:p>
                      <a:pPr algn="r">
                        <a:defRPr sz="740" b="0">
                          <a:solidFill>
                            <a:srgbClr val="4A4D55"/>
                          </a:solidFill>
                          <a:latin typeface="Poppins"/>
                        </a:defRPr>
                      </a:pPr>
                      <a:r>
                        <a:t>6.81%</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+0.4%</a:t>
                      </a:r>
                    </a:p>
                  </a:txBody>
                  <a:tcPr marL="54864" marR="54864" marT="13716" marB="13716" anchor="ctr">
                    <a:solidFill>
                      <a:srgbClr val="FFFFFF"/>
                    </a:solidFill>
                  </a:tcPr>
                </a:tc>
                <a:tc>
                  <a:txBody>
                    <a:bodyPr/>
                    <a:lstStyle/>
                    <a:p>
                      <a:pPr algn="r">
                        <a:defRPr sz="740" b="0">
                          <a:solidFill>
                            <a:srgbClr val="4A4D55"/>
                          </a:solidFill>
                          <a:latin typeface="Poppins"/>
                        </a:defRPr>
                      </a:pPr>
                      <a:r>
                        <a:t>53.8%</a:t>
                      </a:r>
                    </a:p>
                  </a:txBody>
                  <a:tcPr marL="54864" marR="54864" marT="13716" marB="13716" anchor="ctr">
                    <a:solidFill>
                      <a:srgbClr val="FFFFFF"/>
                    </a:solidFill>
                  </a:tcPr>
                </a:tc>
                <a:tc>
                  <a:txBody>
                    <a:bodyPr/>
                    <a:lstStyle/>
                    <a:p>
                      <a:pPr algn="r">
                        <a:defRPr sz="740" b="0">
                          <a:solidFill>
                            <a:srgbClr val="4A4D55"/>
                          </a:solidFill>
                          <a:latin typeface="Poppins"/>
                        </a:defRPr>
                      </a:pPr>
                      <a:r>
                        <a:t>0.4758</a:t>
                      </a:r>
                    </a:p>
                  </a:txBody>
                  <a:tcPr marL="54864" marR="54864" marT="13716" marB="13716" anchor="ctr">
                    <a:solidFill>
                      <a:srgbClr val="FFFFFF"/>
                    </a:solidFill>
                  </a:tcPr>
                </a:tc>
                <a:tc>
                  <a:txBody>
                    <a:bodyPr/>
                    <a:lstStyle/>
                    <a:p>
                      <a:pPr algn="r">
                        <a:defRPr sz="740" b="0">
                          <a:solidFill>
                            <a:srgbClr val="C8102E"/>
                          </a:solidFill>
                          <a:latin typeface="Poppins"/>
                        </a:defRPr>
                      </a:pPr>
                      <a:r>
                        <a:rPr sz="740" b="0">
                          <a:solidFill>
                            <a:srgbClr val="C8102E"/>
                          </a:solidFill>
                          <a:latin typeface="Poppins"/>
                        </a:rPr>
                        <a:t>≥10%    ✗ / ✗</a:t>
                      </a:r>
                    </a:p>
                  </a:txBody>
                  <a:tcPr marL="54864" marR="54864" marT="13716" marB="13716" anchor="ctr">
                    <a:solidFill>
                      <a:srgbClr val="FFFFFF"/>
                    </a:solidFill>
                  </a:tcPr>
                </a:tc>
              </a:tr>
            </a:tbl>
          </a:graphicData>
        </a:graphic>
      </p:graphicFrame>
      <p:cxnSp>
        <p:nvCxnSpPr>
          <p:cNvPr id="16" name="Connector 15"/>
          <p:cNvCxnSpPr/>
          <p:nvPr/>
        </p:nvCxnSpPr>
        <p:spPr>
          <a:xfrm>
            <a:off x="502920" y="406908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gates we missed</a:t>
            </a:r>
          </a:p>
        </p:txBody>
      </p:sp>
      <p:sp>
        <p:nvSpPr>
          <p:cNvPr id="18" name="Rectangle 17"/>
          <p:cNvSpPr/>
          <p:nvPr/>
        </p:nvSpPr>
        <p:spPr>
          <a:xfrm>
            <a:off x="502920" y="4462272"/>
            <a:ext cx="3520440" cy="1417320"/>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4572000"/>
            <a:ext cx="3246120" cy="1188720"/>
          </a:xfrm>
          <a:prstGeom prst="rect">
            <a:avLst/>
          </a:prstGeom>
          <a:noFill/>
        </p:spPr>
        <p:txBody>
          <a:bodyPr wrap="square" lIns="0" rIns="0" tIns="0" bIns="0">
            <a:spAutoFit/>
          </a:bodyPr>
          <a:lstStyle/>
          <a:p>
            <a:pPr algn="l">
              <a:lnSpc>
                <a:spcPct val="130000"/>
              </a:lnSpc>
              <a:defRPr sz="819" b="1" i="0">
                <a:solidFill>
                  <a:srgbClr val="C8102E"/>
                </a:solidFill>
                <a:latin typeface="Poppins"/>
              </a:defRPr>
            </a:pPr>
            <a:r>
              <a:t>At h=3, skill is +3.7% (aluminium) and +10.3% (PVC) against the ≥15% gate.</a:t>
            </a:r>
          </a:p>
          <a:p>
            <a:pPr algn="l">
              <a:lnSpc>
                <a:spcPct val="130000"/>
              </a:lnSpc>
              <a:defRPr sz="819" b="1" i="0">
                <a:solidFill>
                  <a:srgbClr val="C8102E"/>
                </a:solidFill>
                <a:latin typeface="Poppins"/>
              </a:defRPr>
            </a:pPr>
            <a:r>
              <a:t/>
            </a:r>
          </a:p>
          <a:p>
            <a:pPr algn="l">
              <a:lnSpc>
                <a:spcPct val="130000"/>
              </a:lnSpc>
              <a:defRPr sz="819" b="1" i="0">
                <a:solidFill>
                  <a:srgbClr val="C8102E"/>
                </a:solidFill>
                <a:latin typeface="Poppins"/>
              </a:defRPr>
            </a:pPr>
            <a:r>
              <a:t>PVC clears its gate at 1 and 2 months. We report every miss unchanged.</a:t>
            </a:r>
          </a:p>
        </p:txBody>
      </p:sp>
      <p:sp>
        <p:nvSpPr>
          <p:cNvPr id="20" name="TextBox 19"/>
          <p:cNvSpPr txBox="1"/>
          <p:nvPr/>
        </p:nvSpPr>
        <p:spPr>
          <a:xfrm>
            <a:off x="502920" y="5961888"/>
            <a:ext cx="3520440" cy="457200"/>
          </a:xfrm>
          <a:prstGeom prst="rect">
            <a:avLst/>
          </a:prstGeom>
          <a:noFill/>
        </p:spPr>
        <p:txBody>
          <a:bodyPr wrap="square" lIns="0" rIns="0" tIns="0" bIns="0">
            <a:spAutoFit/>
          </a:bodyPr>
          <a:lstStyle/>
          <a:p>
            <a:pPr algn="l">
              <a:lnSpc>
                <a:spcPct val="125000"/>
              </a:lnSpc>
              <a:defRPr sz="760" b="0" i="0">
                <a:solidFill>
                  <a:srgbClr val="4A4D55"/>
                </a:solidFill>
                <a:latin typeface="Poppins"/>
              </a:defRPr>
            </a:pPr>
            <a:r>
              <a:t>Aluminium is exchange-traded and near-efficient: a few percent better than naïve, never significant.</a:t>
            </a:r>
          </a:p>
        </p:txBody>
      </p:sp>
      <p:sp>
        <p:nvSpPr>
          <p:cNvPr id="21" name="TextBox 20"/>
          <p:cNvSpPr txBox="1"/>
          <p:nvPr/>
        </p:nvSpPr>
        <p:spPr>
          <a:xfrm>
            <a:off x="4343400" y="4206240"/>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Where the value actually is</a:t>
            </a:r>
          </a:p>
        </p:txBody>
      </p:sp>
      <p:sp>
        <p:nvSpPr>
          <p:cNvPr id="22" name="TextBox 21"/>
          <p:cNvSpPr txBox="1"/>
          <p:nvPr/>
        </p:nvSpPr>
        <p:spPr>
          <a:xfrm>
            <a:off x="4343400" y="449884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3" name="TextBox 22"/>
          <p:cNvSpPr txBox="1"/>
          <p:nvPr/>
        </p:nvSpPr>
        <p:spPr>
          <a:xfrm>
            <a:off x="4462272" y="4498848"/>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PVC: +20.7% skill at 1 month (DM p = 0.0004) and +15.9% at 2 months (p = 0.024).</a:t>
            </a:r>
          </a:p>
        </p:txBody>
      </p:sp>
      <p:sp>
        <p:nvSpPr>
          <p:cNvPr id="24" name="TextBox 23"/>
          <p:cNvSpPr txBox="1"/>
          <p:nvPr/>
        </p:nvSpPr>
        <p:spPr>
          <a:xfrm>
            <a:off x="4343400" y="488289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5" name="TextBox 24"/>
          <p:cNvSpPr txBox="1"/>
          <p:nvPr/>
        </p:nvSpPr>
        <p:spPr>
          <a:xfrm>
            <a:off x="4462272" y="4882896"/>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PVC direction is 72.7% at 1 month against a 65% gate. Real N-BEATS alone: PVC +10.0% at h=3, p = 0.035.</a:t>
            </a:r>
          </a:p>
        </p:txBody>
      </p:sp>
      <p:sp>
        <p:nvSpPr>
          <p:cNvPr id="26" name="TextBox 25"/>
          <p:cNvSpPr txBox="1"/>
          <p:nvPr/>
        </p:nvSpPr>
        <p:spPr>
          <a:xfrm>
            <a:off x="4343400" y="526694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7" name="TextBox 26"/>
          <p:cNvSpPr txBox="1"/>
          <p:nvPr/>
        </p:nvSpPr>
        <p:spPr>
          <a:xfrm>
            <a:off x="4462272" y="5266944"/>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PVC holdout 2025–26 (14–19 origins) does not beat naïve at h=3 (−13.7%).</a:t>
            </a:r>
          </a:p>
        </p:txBody>
      </p:sp>
      <p:sp>
        <p:nvSpPr>
          <p:cNvPr id="28" name="TextBox 27"/>
          <p:cNvSpPr txBox="1"/>
          <p:nvPr/>
        </p:nvSpPr>
        <p:spPr>
          <a:xfrm>
            <a:off x="4343400" y="5650992"/>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9" name="TextBox 28"/>
          <p:cNvSpPr txBox="1"/>
          <p:nvPr/>
        </p:nvSpPr>
        <p:spPr>
          <a:xfrm>
            <a:off x="4462272" y="5650992"/>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Driver data ended Dec 2024, so the holdout ran without its inputs. Inconclusive until the data is refreshed.</a:t>
            </a:r>
          </a:p>
        </p:txBody>
      </p:sp>
      <p:sp>
        <p:nvSpPr>
          <p:cNvPr id="30" name="TextBox 29"/>
          <p:cNvSpPr txBox="1"/>
          <p:nvPr/>
        </p:nvSpPr>
        <p:spPr>
          <a:xfrm>
            <a:off x="8183879"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We audited our own Round 2 result</a:t>
            </a:r>
          </a:p>
        </p:txBody>
      </p:sp>
      <p:sp>
        <p:nvSpPr>
          <p:cNvPr id="31" name="Rectangle 30"/>
          <p:cNvSpPr/>
          <p:nvPr/>
        </p:nvSpPr>
        <p:spPr>
          <a:xfrm>
            <a:off x="8183879" y="4462272"/>
            <a:ext cx="3520440" cy="1417320"/>
          </a:xfrm>
          <a:prstGeom prst="rect">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21040" y="4572000"/>
            <a:ext cx="3246120" cy="1188720"/>
          </a:xfrm>
          <a:prstGeom prst="rect">
            <a:avLst/>
          </a:prstGeom>
          <a:noFill/>
        </p:spPr>
        <p:txBody>
          <a:bodyPr wrap="square" lIns="0" rIns="0" tIns="0" bIns="0">
            <a:spAutoFit/>
          </a:bodyPr>
          <a:lstStyle/>
          <a:p>
            <a:pPr algn="l">
              <a:lnSpc>
                <a:spcPct val="128000"/>
              </a:lnSpc>
              <a:defRPr sz="780" b="0" i="0">
                <a:solidFill>
                  <a:srgbClr val="4A4D55"/>
                </a:solidFill>
                <a:latin typeface="Poppins"/>
              </a:defRPr>
            </a:pPr>
            <a:r>
              <a:t>Our draft trained on rows whose outcome came after the forecast date, simulated the PVC price, and built drivers from the target.</a:t>
            </a:r>
          </a:p>
          <a:p>
            <a:pPr algn="l">
              <a:lnSpc>
                <a:spcPct val="128000"/>
              </a:lnSpc>
              <a:defRPr sz="780" b="0" i="0">
                <a:solidFill>
                  <a:srgbClr val="4A4D55"/>
                </a:solidFill>
                <a:latin typeface="Poppins"/>
              </a:defRPr>
            </a:pPr>
            <a:r>
              <a:t/>
            </a:r>
          </a:p>
          <a:p>
            <a:pPr algn="l">
              <a:lnSpc>
                <a:spcPct val="128000"/>
              </a:lnSpc>
              <a:defRPr sz="780" b="0" i="0">
                <a:solidFill>
                  <a:srgbClr val="4A4D55"/>
                </a:solidFill>
                <a:latin typeface="Poppins"/>
              </a:defRPr>
            </a:pPr>
            <a:r>
              <a:t>Closing the leak alone took one model from +8% to −6% skill. A perturbation test now proves v2 is leak-free.</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Thresholds  Set in the Round 1 submission before any modelling and carried here unchanged. MAPE is mean absolute percentage error per horizon. Skill is 1 − MAPE(model)/MAPE(naïve). Directional accuracy is the share of origins where the sign of the predicted change matches the realised change. DM p-values are HAC-corrected.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1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The bands are the product: calibration now exists and lifts coverage to 64–78%,</a:t>
            </a:r>
          </a:p>
          <a:p>
            <a:pPr algn="l">
              <a:lnSpc>
                <a:spcPct val="112000"/>
              </a:lnSpc>
              <a:defRPr sz="1700" b="1" i="0">
                <a:solidFill>
                  <a:srgbClr val="16181D"/>
                </a:solidFill>
                <a:latin typeface="Poppins"/>
              </a:defRPr>
            </a:pPr>
            <a:r>
              <a:t>still short of the gate at longer horizons and in shocks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 — 80% band coverage against the 75–85% gate</a:t>
            </a:r>
          </a:p>
        </p:txBody>
      </p:sp>
      <p:pic>
        <p:nvPicPr>
          <p:cNvPr id="15" name="Picture 14" descr="aluminium_bands.png"/>
          <p:cNvPicPr>
            <a:picLocks noChangeAspect="1"/>
          </p:cNvPicPr>
          <p:nvPr/>
        </p:nvPicPr>
        <p:blipFill>
          <a:blip r:embed="rId2"/>
          <a:stretch>
            <a:fillRect/>
          </a:stretch>
        </p:blipFill>
        <p:spPr>
          <a:xfrm>
            <a:off x="502920" y="2029968"/>
            <a:ext cx="5029200" cy="2011680"/>
          </a:xfrm>
          <a:prstGeom prst="rect">
            <a:avLst/>
          </a:prstGeom>
        </p:spPr>
      </p:pic>
      <p:sp>
        <p:nvSpPr>
          <p:cNvPr id="16" name="TextBox 15"/>
          <p:cNvSpPr txBox="1"/>
          <p:nvPr/>
        </p:nvSpPr>
        <p:spPr>
          <a:xfrm>
            <a:off x="502920" y="416052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proxy</a:t>
            </a:r>
          </a:p>
        </p:txBody>
      </p:sp>
      <p:pic>
        <p:nvPicPr>
          <p:cNvPr id="17" name="Picture 16" descr="pvc_bands.png"/>
          <p:cNvPicPr>
            <a:picLocks noChangeAspect="1"/>
          </p:cNvPicPr>
          <p:nvPr/>
        </p:nvPicPr>
        <p:blipFill>
          <a:blip r:embed="rId3"/>
          <a:stretch>
            <a:fillRect/>
          </a:stretch>
        </p:blipFill>
        <p:spPr>
          <a:xfrm>
            <a:off x="502920" y="4407408"/>
            <a:ext cx="5029200" cy="1874519"/>
          </a:xfrm>
          <a:prstGeom prst="rect">
            <a:avLst/>
          </a:prstGeom>
        </p:spPr>
      </p:pic>
      <p:sp>
        <p:nvSpPr>
          <p:cNvPr id="18" name="TextBox 17"/>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the numbers say</a:t>
            </a:r>
          </a:p>
        </p:txBody>
      </p:sp>
      <p:graphicFrame>
        <p:nvGraphicFramePr>
          <p:cNvPr id="19" name="Table 18"/>
          <p:cNvGraphicFramePr>
            <a:graphicFrameLocks noGrp="1"/>
          </p:cNvGraphicFramePr>
          <p:nvPr/>
        </p:nvGraphicFramePr>
        <p:xfrm>
          <a:off x="6263640" y="2066543"/>
          <a:ext cx="5440677" cy="1773936"/>
        </p:xfrm>
        <a:graphic>
          <a:graphicData uri="http://schemas.openxmlformats.org/drawingml/2006/table">
            <a:tbl>
              <a:tblPr>
                <a:tableStyleId>{5C22544A-7EE6-4342-B048-85BDC9FD1C3A}</a:tableStyleId>
              </a:tblPr>
              <a:tblGrid>
                <a:gridCol w="1005840"/>
                <a:gridCol w="1188719"/>
                <a:gridCol w="1234440"/>
                <a:gridCol w="1188719"/>
                <a:gridCol w="822959"/>
              </a:tblGrid>
              <a:tr h="237744">
                <a:tc>
                  <a:txBody>
                    <a:bodyPr/>
                    <a:lstStyle/>
                    <a:p>
                      <a:pPr algn="l">
                        <a:defRPr sz="700" b="1">
                          <a:solidFill>
                            <a:srgbClr val="FFFFFF"/>
                          </a:solidFill>
                          <a:latin typeface="Poppins"/>
                        </a:defRPr>
                      </a:pPr>
                      <a:r>
                        <a:t>Horizon</a:t>
                      </a:r>
                    </a:p>
                  </a:txBody>
                  <a:tcPr marL="54864" marR="54864" marT="18288" marB="18288" anchor="ctr">
                    <a:solidFill>
                      <a:srgbClr val="C8102E"/>
                    </a:solidFill>
                  </a:tcPr>
                </a:tc>
                <a:tc>
                  <a:txBody>
                    <a:bodyPr/>
                    <a:lstStyle/>
                    <a:p>
                      <a:pPr algn="r">
                        <a:defRPr sz="700" b="1">
                          <a:solidFill>
                            <a:srgbClr val="FFFFFF"/>
                          </a:solidFill>
                          <a:latin typeface="Poppins"/>
                        </a:defRPr>
                      </a:pPr>
                      <a:r>
                        <a:t>Al calibrated</a:t>
                      </a:r>
                    </a:p>
                  </a:txBody>
                  <a:tcPr marL="54864" marR="54864" marT="18288" marB="18288" anchor="ctr">
                    <a:solidFill>
                      <a:srgbClr val="C8102E"/>
                    </a:solidFill>
                  </a:tcPr>
                </a:tc>
                <a:tc>
                  <a:txBody>
                    <a:bodyPr/>
                    <a:lstStyle/>
                    <a:p>
                      <a:pPr algn="r">
                        <a:defRPr sz="700" b="1">
                          <a:solidFill>
                            <a:srgbClr val="FFFFFF"/>
                          </a:solidFill>
                          <a:latin typeface="Poppins"/>
                        </a:defRPr>
                      </a:pPr>
                      <a:r>
                        <a:t>PVC calibrated</a:t>
                      </a:r>
                    </a:p>
                  </a:txBody>
                  <a:tcPr marL="54864" marR="54864" marT="18288" marB="18288" anchor="ctr">
                    <a:solidFill>
                      <a:srgbClr val="C8102E"/>
                    </a:solidFill>
                  </a:tcPr>
                </a:tc>
                <a:tc>
                  <a:txBody>
                    <a:bodyPr/>
                    <a:lstStyle/>
                    <a:p>
                      <a:pPr algn="r">
                        <a:defRPr sz="700" b="1">
                          <a:solidFill>
                            <a:srgbClr val="FFFFFF"/>
                          </a:solidFill>
                          <a:latin typeface="Poppins"/>
                        </a:defRPr>
                      </a:pPr>
                      <a:r>
                        <a:t>PVC holdout</a:t>
                      </a:r>
                    </a:p>
                  </a:txBody>
                  <a:tcPr marL="54864" marR="54864" marT="18288" marB="18288" anchor="ctr">
                    <a:solidFill>
                      <a:srgbClr val="C8102E"/>
                    </a:solidFill>
                  </a:tcPr>
                </a:tc>
                <a:tc>
                  <a:txBody>
                    <a:bodyPr/>
                    <a:lstStyle/>
                    <a:p>
                      <a:pPr algn="r">
                        <a:defRPr sz="700" b="1">
                          <a:solidFill>
                            <a:srgbClr val="FFFFFF"/>
                          </a:solidFill>
                          <a:latin typeface="Poppins"/>
                        </a:defRPr>
                      </a:pPr>
                      <a:r>
                        <a:t>Gate  Al / PVC</a:t>
                      </a:r>
                    </a:p>
                  </a:txBody>
                  <a:tcPr marL="54864" marR="54864" marT="18288" marB="18288" anchor="ctr">
                    <a:solidFill>
                      <a:srgbClr val="C8102E"/>
                    </a:solidFill>
                  </a:tcPr>
                </a:tc>
              </a:tr>
              <a:tr h="256032">
                <a:tc>
                  <a:txBody>
                    <a:bodyPr/>
                    <a:lstStyle/>
                    <a:p>
                      <a:pPr algn="l">
                        <a:defRPr sz="760" b="0">
                          <a:solidFill>
                            <a:srgbClr val="4A4D55"/>
                          </a:solidFill>
                          <a:latin typeface="Poppins"/>
                        </a:defRPr>
                      </a:pPr>
                      <a:r>
                        <a:t>1 mo</a:t>
                      </a:r>
                    </a:p>
                  </a:txBody>
                  <a:tcPr marL="54864" marR="54864" marT="13716" marB="13716" anchor="ctr">
                    <a:solidFill>
                      <a:srgbClr val="FFFFFF"/>
                    </a:solidFill>
                  </a:tcPr>
                </a:tc>
                <a:tc>
                  <a:txBody>
                    <a:bodyPr/>
                    <a:lstStyle/>
                    <a:p>
                      <a:pPr algn="r">
                        <a:defRPr sz="760" b="0">
                          <a:solidFill>
                            <a:srgbClr val="4A4D55"/>
                          </a:solidFill>
                          <a:latin typeface="Poppins"/>
                        </a:defRPr>
                      </a:pPr>
                      <a:r>
                        <a:t>78.2%</a:t>
                      </a:r>
                    </a:p>
                  </a:txBody>
                  <a:tcPr marL="54864" marR="54864" marT="13716" marB="13716" anchor="ctr">
                    <a:solidFill>
                      <a:srgbClr val="FFFFFF"/>
                    </a:solidFill>
                  </a:tcPr>
                </a:tc>
                <a:tc>
                  <a:txBody>
                    <a:bodyPr/>
                    <a:lstStyle/>
                    <a:p>
                      <a:pPr algn="r">
                        <a:defRPr sz="760" b="0">
                          <a:solidFill>
                            <a:srgbClr val="4A4D55"/>
                          </a:solidFill>
                          <a:latin typeface="Poppins"/>
                        </a:defRPr>
                      </a:pPr>
                      <a:r>
                        <a:t>76.9%</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78.9%</a:t>
                      </a:r>
                    </a:p>
                  </a:txBody>
                  <a:tcPr marL="54864" marR="54864" marT="13716" marB="13716" anchor="ctr">
                    <a:solidFill>
                      <a:srgbClr val="FFFFFF"/>
                    </a:solidFill>
                  </a:tcPr>
                </a:tc>
                <a:tc>
                  <a:txBody>
                    <a:bodyPr/>
                    <a:lstStyle/>
                    <a:p>
                      <a:pPr algn="r">
                        <a:defRPr sz="760" b="0">
                          <a:solidFill>
                            <a:srgbClr val="0F6B3F"/>
                          </a:solidFill>
                          <a:latin typeface="Poppins"/>
                        </a:defRPr>
                      </a:pPr>
                      <a:r>
                        <a:rPr sz="760" b="0">
                          <a:solidFill>
                            <a:srgbClr val="0F6B3F"/>
                          </a:solidFill>
                          <a:latin typeface="Poppins"/>
                        </a:rPr>
                        <a:t>pass / pass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2 mo</a:t>
                      </a:r>
                    </a:p>
                  </a:txBody>
                  <a:tcPr marL="54864" marR="54864" marT="13716" marB="13716" anchor="ctr">
                    <a:solidFill>
                      <a:srgbClr val="FFFFFF"/>
                    </a:solidFill>
                  </a:tcPr>
                </a:tc>
                <a:tc>
                  <a:txBody>
                    <a:bodyPr/>
                    <a:lstStyle/>
                    <a:p>
                      <a:pPr algn="r">
                        <a:defRPr sz="760" b="0">
                          <a:solidFill>
                            <a:srgbClr val="4A4D55"/>
                          </a:solidFill>
                          <a:latin typeface="Poppins"/>
                        </a:defRPr>
                      </a:pPr>
                      <a:r>
                        <a:t>73.1%</a:t>
                      </a:r>
                    </a:p>
                  </a:txBody>
                  <a:tcPr marL="54864" marR="54864" marT="13716" marB="13716" anchor="ctr">
                    <a:solidFill>
                      <a:srgbClr val="FFFFFF"/>
                    </a:solidFill>
                  </a:tcPr>
                </a:tc>
                <a:tc>
                  <a:txBody>
                    <a:bodyPr/>
                    <a:lstStyle/>
                    <a:p>
                      <a:pPr algn="r">
                        <a:defRPr sz="760" b="0">
                          <a:solidFill>
                            <a:srgbClr val="4A4D55"/>
                          </a:solidFill>
                          <a:latin typeface="Poppins"/>
                        </a:defRPr>
                      </a:pPr>
                      <a:r>
                        <a:t>74.4%</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77.8%</a:t>
                      </a:r>
                    </a:p>
                  </a:txBody>
                  <a:tcPr marL="54864" marR="54864" marT="13716" marB="13716" anchor="ctr">
                    <a:solidFill>
                      <a:srgbClr val="FFFFFF"/>
                    </a:solidFill>
                  </a:tcPr>
                </a:tc>
                <a:tc>
                  <a:txBody>
                    <a:bodyPr/>
                    <a:lstStyle/>
                    <a:p>
                      <a:pPr algn="r">
                        <a:defRPr sz="760" b="0">
                          <a:solidFill>
                            <a:srgbClr val="C8102E"/>
                          </a:solidFill>
                          <a:latin typeface="Poppins"/>
                        </a:defRPr>
                      </a:pPr>
                      <a:r>
                        <a:rPr sz="760" b="0">
                          <a:solidFill>
                            <a:srgbClr val="C8102E"/>
                          </a:solidFill>
                          <a:latin typeface="Poppins"/>
                        </a:rPr>
                        <a:t>miss / 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3 mo</a:t>
                      </a:r>
                    </a:p>
                  </a:txBody>
                  <a:tcPr marL="54864" marR="54864" marT="13716" marB="13716" anchor="ctr">
                    <a:solidFill>
                      <a:srgbClr val="FFFFFF"/>
                    </a:solidFill>
                  </a:tcPr>
                </a:tc>
                <a:tc>
                  <a:txBody>
                    <a:bodyPr/>
                    <a:lstStyle/>
                    <a:p>
                      <a:pPr algn="r">
                        <a:defRPr sz="760" b="0">
                          <a:solidFill>
                            <a:srgbClr val="4A4D55"/>
                          </a:solidFill>
                          <a:latin typeface="Poppins"/>
                        </a:defRPr>
                      </a:pPr>
                      <a:r>
                        <a:t>71.8%</a:t>
                      </a:r>
                    </a:p>
                  </a:txBody>
                  <a:tcPr marL="54864" marR="54864" marT="13716" marB="13716" anchor="ctr">
                    <a:solidFill>
                      <a:srgbClr val="FFFFFF"/>
                    </a:solidFill>
                  </a:tcPr>
                </a:tc>
                <a:tc>
                  <a:txBody>
                    <a:bodyPr/>
                    <a:lstStyle/>
                    <a:p>
                      <a:pPr algn="r">
                        <a:defRPr sz="760" b="0">
                          <a:solidFill>
                            <a:srgbClr val="4A4D55"/>
                          </a:solidFill>
                          <a:latin typeface="Poppins"/>
                        </a:defRPr>
                      </a:pPr>
                      <a:r>
                        <a:t>71.8%</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76.5%</a:t>
                      </a:r>
                    </a:p>
                  </a:txBody>
                  <a:tcPr marL="54864" marR="54864" marT="13716" marB="13716" anchor="ctr">
                    <a:solidFill>
                      <a:srgbClr val="FFFFFF"/>
                    </a:solidFill>
                  </a:tcPr>
                </a:tc>
                <a:tc>
                  <a:txBody>
                    <a:bodyPr/>
                    <a:lstStyle/>
                    <a:p>
                      <a:pPr algn="r">
                        <a:defRPr sz="760" b="0">
                          <a:solidFill>
                            <a:srgbClr val="C8102E"/>
                          </a:solidFill>
                          <a:latin typeface="Poppins"/>
                        </a:defRPr>
                      </a:pPr>
                      <a:r>
                        <a:rPr sz="760" b="0">
                          <a:solidFill>
                            <a:srgbClr val="C8102E"/>
                          </a:solidFill>
                          <a:latin typeface="Poppins"/>
                        </a:rPr>
                        <a:t>miss / 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4 mo</a:t>
                      </a:r>
                    </a:p>
                  </a:txBody>
                  <a:tcPr marL="54864" marR="54864" marT="13716" marB="13716" anchor="ctr">
                    <a:solidFill>
                      <a:srgbClr val="FFFFFF"/>
                    </a:solidFill>
                  </a:tcPr>
                </a:tc>
                <a:tc>
                  <a:txBody>
                    <a:bodyPr/>
                    <a:lstStyle/>
                    <a:p>
                      <a:pPr algn="r">
                        <a:defRPr sz="760" b="0">
                          <a:solidFill>
                            <a:srgbClr val="4A4D55"/>
                          </a:solidFill>
                          <a:latin typeface="Poppins"/>
                        </a:defRPr>
                      </a:pPr>
                      <a:r>
                        <a:t>71.8%</a:t>
                      </a:r>
                    </a:p>
                  </a:txBody>
                  <a:tcPr marL="54864" marR="54864" marT="13716" marB="13716" anchor="ctr">
                    <a:solidFill>
                      <a:srgbClr val="FFFFFF"/>
                    </a:solidFill>
                  </a:tcPr>
                </a:tc>
                <a:tc>
                  <a:txBody>
                    <a:bodyPr/>
                    <a:lstStyle/>
                    <a:p>
                      <a:pPr algn="r">
                        <a:defRPr sz="760" b="0">
                          <a:solidFill>
                            <a:srgbClr val="4A4D55"/>
                          </a:solidFill>
                          <a:latin typeface="Poppins"/>
                        </a:defRPr>
                      </a:pPr>
                      <a:r>
                        <a:t>67.9%</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81.2%</a:t>
                      </a:r>
                    </a:p>
                  </a:txBody>
                  <a:tcPr marL="54864" marR="54864" marT="13716" marB="13716" anchor="ctr">
                    <a:solidFill>
                      <a:srgbClr val="FFFFFF"/>
                    </a:solidFill>
                  </a:tcPr>
                </a:tc>
                <a:tc>
                  <a:txBody>
                    <a:bodyPr/>
                    <a:lstStyle/>
                    <a:p>
                      <a:pPr algn="r">
                        <a:defRPr sz="760" b="0">
                          <a:solidFill>
                            <a:srgbClr val="C8102E"/>
                          </a:solidFill>
                          <a:latin typeface="Poppins"/>
                        </a:defRPr>
                      </a:pPr>
                      <a:r>
                        <a:rPr sz="760" b="0">
                          <a:solidFill>
                            <a:srgbClr val="C8102E"/>
                          </a:solidFill>
                          <a:latin typeface="Poppins"/>
                        </a:rPr>
                        <a:t>miss / 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5 mo</a:t>
                      </a:r>
                    </a:p>
                  </a:txBody>
                  <a:tcPr marL="54864" marR="54864" marT="13716" marB="13716" anchor="ctr">
                    <a:solidFill>
                      <a:srgbClr val="FFFFFF"/>
                    </a:solidFill>
                  </a:tcPr>
                </a:tc>
                <a:tc>
                  <a:txBody>
                    <a:bodyPr/>
                    <a:lstStyle/>
                    <a:p>
                      <a:pPr algn="r">
                        <a:defRPr sz="760" b="0">
                          <a:solidFill>
                            <a:srgbClr val="4A4D55"/>
                          </a:solidFill>
                          <a:latin typeface="Poppins"/>
                        </a:defRPr>
                      </a:pPr>
                      <a:r>
                        <a:t>73.1%</a:t>
                      </a:r>
                    </a:p>
                  </a:txBody>
                  <a:tcPr marL="54864" marR="54864" marT="13716" marB="13716" anchor="ctr">
                    <a:solidFill>
                      <a:srgbClr val="FFFFFF"/>
                    </a:solidFill>
                  </a:tcPr>
                </a:tc>
                <a:tc>
                  <a:txBody>
                    <a:bodyPr/>
                    <a:lstStyle/>
                    <a:p>
                      <a:pPr algn="r">
                        <a:defRPr sz="760" b="0">
                          <a:solidFill>
                            <a:srgbClr val="4A4D55"/>
                          </a:solidFill>
                          <a:latin typeface="Poppins"/>
                        </a:defRPr>
                      </a:pPr>
                      <a:r>
                        <a:t>64.1%</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73.3%</a:t>
                      </a:r>
                    </a:p>
                  </a:txBody>
                  <a:tcPr marL="54864" marR="54864" marT="13716" marB="13716" anchor="ctr">
                    <a:solidFill>
                      <a:srgbClr val="FFFFFF"/>
                    </a:solidFill>
                  </a:tcPr>
                </a:tc>
                <a:tc>
                  <a:txBody>
                    <a:bodyPr/>
                    <a:lstStyle/>
                    <a:p>
                      <a:pPr algn="r">
                        <a:defRPr sz="760" b="0">
                          <a:solidFill>
                            <a:srgbClr val="C8102E"/>
                          </a:solidFill>
                          <a:latin typeface="Poppins"/>
                        </a:defRPr>
                      </a:pPr>
                      <a:r>
                        <a:rPr sz="760" b="0">
                          <a:solidFill>
                            <a:srgbClr val="C8102E"/>
                          </a:solidFill>
                          <a:latin typeface="Poppins"/>
                        </a:rPr>
                        <a:t>miss / 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6 mo</a:t>
                      </a:r>
                    </a:p>
                  </a:txBody>
                  <a:tcPr marL="54864" marR="54864" marT="13716" marB="13716" anchor="ctr">
                    <a:solidFill>
                      <a:srgbClr val="FFFFFF"/>
                    </a:solidFill>
                  </a:tcPr>
                </a:tc>
                <a:tc>
                  <a:txBody>
                    <a:bodyPr/>
                    <a:lstStyle/>
                    <a:p>
                      <a:pPr algn="r">
                        <a:defRPr sz="760" b="0">
                          <a:solidFill>
                            <a:srgbClr val="4A4D55"/>
                          </a:solidFill>
                          <a:latin typeface="Poppins"/>
                        </a:defRPr>
                      </a:pPr>
                      <a:r>
                        <a:t>70.5%</a:t>
                      </a:r>
                    </a:p>
                  </a:txBody>
                  <a:tcPr marL="54864" marR="54864" marT="13716" marB="13716" anchor="ctr">
                    <a:solidFill>
                      <a:srgbClr val="FFFFFF"/>
                    </a:solidFill>
                  </a:tcPr>
                </a:tc>
                <a:tc>
                  <a:txBody>
                    <a:bodyPr/>
                    <a:lstStyle/>
                    <a:p>
                      <a:pPr algn="r">
                        <a:defRPr sz="760" b="0">
                          <a:solidFill>
                            <a:srgbClr val="4A4D55"/>
                          </a:solidFill>
                          <a:latin typeface="Poppins"/>
                        </a:defRPr>
                      </a:pPr>
                      <a:r>
                        <a:t>67.9%</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71.4%</a:t>
                      </a:r>
                    </a:p>
                  </a:txBody>
                  <a:tcPr marL="54864" marR="54864" marT="13716" marB="13716" anchor="ctr">
                    <a:solidFill>
                      <a:srgbClr val="FFFFFF"/>
                    </a:solidFill>
                  </a:tcPr>
                </a:tc>
                <a:tc>
                  <a:txBody>
                    <a:bodyPr/>
                    <a:lstStyle/>
                    <a:p>
                      <a:pPr algn="r">
                        <a:defRPr sz="760" b="0">
                          <a:solidFill>
                            <a:srgbClr val="C8102E"/>
                          </a:solidFill>
                          <a:latin typeface="Poppins"/>
                        </a:defRPr>
                      </a:pPr>
                      <a:r>
                        <a:rPr sz="760" b="0">
                          <a:solidFill>
                            <a:srgbClr val="C8102E"/>
                          </a:solidFill>
                          <a:latin typeface="Poppins"/>
                        </a:rPr>
                        <a:t>miss / miss</a:t>
                      </a:r>
                    </a:p>
                  </a:txBody>
                  <a:tcPr marL="54864" marR="54864" marT="13716" marB="13716" anchor="ctr">
                    <a:solidFill>
                      <a:srgbClr val="FFFFFF"/>
                    </a:solidFill>
                  </a:tcPr>
                </a:tc>
              </a:tr>
            </a:tbl>
          </a:graphicData>
        </a:graphic>
      </p:graphicFrame>
      <p:sp>
        <p:nvSpPr>
          <p:cNvPr id="20" name="TextBox 19"/>
          <p:cNvSpPr txBox="1"/>
          <p:nvPr/>
        </p:nvSpPr>
        <p:spPr>
          <a:xfrm>
            <a:off x="6263640" y="39319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diagnosis</a:t>
            </a:r>
          </a:p>
        </p:txBody>
      </p:sp>
      <p:sp>
        <p:nvSpPr>
          <p:cNvPr id="21" name="TextBox 20"/>
          <p:cNvSpPr txBox="1"/>
          <p:nvPr/>
        </p:nvSpPr>
        <p:spPr>
          <a:xfrm>
            <a:off x="6263640" y="422452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2" name="TextBox 21"/>
          <p:cNvSpPr txBox="1"/>
          <p:nvPr/>
        </p:nvSpPr>
        <p:spPr>
          <a:xfrm>
            <a:off x="6382512" y="4224528"/>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Normalised split-conformal around the forecast, scaled by a GARCH(1,1) volatility forecast, using only realised past errors.</a:t>
            </a:r>
          </a:p>
        </p:txBody>
      </p:sp>
      <p:sp>
        <p:nvSpPr>
          <p:cNvPr id="23" name="TextBox 22"/>
          <p:cNvSpPr txBox="1"/>
          <p:nvPr/>
        </p:nvSpPr>
        <p:spPr>
          <a:xfrm>
            <a:off x="6263640" y="462686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4" name="TextBox 23"/>
          <p:cNvSpPr txBox="1"/>
          <p:nvPr/>
        </p:nvSpPr>
        <p:spPr>
          <a:xfrm>
            <a:off x="6382512" y="4626864"/>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It lifts coverage by up to 13 points over the uncalibrated band (aluminium h=6: 57.7% → 70.5%).</a:t>
            </a:r>
          </a:p>
        </p:txBody>
      </p:sp>
      <p:sp>
        <p:nvSpPr>
          <p:cNvPr id="25" name="TextBox 24"/>
          <p:cNvSpPr txBox="1"/>
          <p:nvPr/>
        </p:nvSpPr>
        <p:spPr>
          <a:xfrm>
            <a:off x="6263640" y="5029200"/>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6" name="TextBox 25"/>
          <p:cNvSpPr txBox="1"/>
          <p:nvPr/>
        </p:nvSpPr>
        <p:spPr>
          <a:xfrm>
            <a:off x="6382512" y="5029200"/>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Round 2 claimed this step, but the code never had it: its 55–65% was raw, uncalibrated coverage.</a:t>
            </a:r>
          </a:p>
        </p:txBody>
      </p:sp>
      <p:sp>
        <p:nvSpPr>
          <p:cNvPr id="27" name="TextBox 26"/>
          <p:cNvSpPr txBox="1"/>
          <p:nvPr/>
        </p:nvSpPr>
        <p:spPr>
          <a:xfrm>
            <a:off x="6263640" y="543153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8" name="TextBox 27"/>
          <p:cNvSpPr txBox="1"/>
          <p:nvPr/>
        </p:nvSpPr>
        <p:spPr>
          <a:xfrm>
            <a:off x="6382512" y="5431536"/>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Coverage still drops in shocks (42–67% at h=3). The PVC holdout lands at 71–81%.</a:t>
            </a:r>
          </a:p>
        </p:txBody>
      </p:sp>
      <p:sp>
        <p:nvSpPr>
          <p:cNvPr id="29" name="TextBox 28"/>
          <p:cNvSpPr txBox="1"/>
          <p:nvPr/>
        </p:nvSpPr>
        <p:spPr>
          <a:xfrm>
            <a:off x="6263640" y="5943600"/>
            <a:ext cx="5440680" cy="457200"/>
          </a:xfrm>
          <a:prstGeom prst="rect">
            <a:avLst/>
          </a:prstGeom>
          <a:noFill/>
        </p:spPr>
        <p:txBody>
          <a:bodyPr wrap="square" lIns="0" rIns="0" tIns="0" bIns="0">
            <a:spAutoFit/>
          </a:bodyPr>
          <a:lstStyle/>
          <a:p>
            <a:pPr algn="l">
              <a:lnSpc>
                <a:spcPct val="125000"/>
              </a:lnSpc>
              <a:defRPr sz="760" b="1" i="0">
                <a:solidFill>
                  <a:srgbClr val="C8102E"/>
                </a:solidFill>
                <a:latin typeface="Poppins"/>
              </a:defRPr>
            </a:pPr>
            <a:r>
              <a:t>Consequence for the decision rule. The 60% confidence gate and the regime kill switch stay, because the band still understates tail risk in shocks.</a:t>
            </a:r>
          </a:p>
        </p:txBody>
      </p:sp>
      <p:sp>
        <p:nvSpPr>
          <p:cNvPr id="30" name="TextBox 29"/>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Score = |error| / GARCH σ on realised past forecasts; band = forecast ± conformal 80% quantile × current σ. Coverage is measured, not assumed. [1] Vovk, Gammerman &amp; Shafer (2005). [2] Bollerslev (1986).</a:t>
            </a:r>
          </a:p>
        </p:txBody>
      </p:sp>
      <p:sp>
        <p:nvSpPr>
          <p:cNvPr id="31" name="TextBox 30"/>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2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The decision rule replayed over 78 months: PVC timing beats random (p = 0.002);</a:t>
            </a:r>
          </a:p>
          <a:p>
            <a:pPr algn="l">
              <a:lnSpc>
                <a:spcPct val="112000"/>
              </a:lnSpc>
              <a:defRPr sz="1700" b="1" i="0">
                <a:solidFill>
                  <a:srgbClr val="16181D"/>
                </a:solidFill>
                <a:latin typeface="Poppins"/>
              </a:defRPr>
            </a:pPr>
            <a:r>
              <a:t>aluminium timing does not</a:t>
            </a:r>
          </a:p>
        </p:txBody>
      </p:sp>
      <p:sp>
        <p:nvSpPr>
          <p:cNvPr id="14" name="TextBox 13"/>
          <p:cNvSpPr txBox="1"/>
          <p:nvPr/>
        </p:nvSpPr>
        <p:spPr>
          <a:xfrm>
            <a:off x="502920" y="1737360"/>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rule</a:t>
            </a:r>
          </a:p>
        </p:txBody>
      </p:sp>
      <p:sp>
        <p:nvSpPr>
          <p:cNvPr id="15" name="Rectangle 14"/>
          <p:cNvSpPr/>
          <p:nvPr/>
        </p:nvSpPr>
        <p:spPr>
          <a:xfrm>
            <a:off x="502920" y="1993392"/>
            <a:ext cx="5669280" cy="475488"/>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03120"/>
            <a:ext cx="5394960" cy="274320"/>
          </a:xfrm>
          <a:prstGeom prst="rect">
            <a:avLst/>
          </a:prstGeom>
          <a:noFill/>
        </p:spPr>
        <p:txBody>
          <a:bodyPr wrap="square" lIns="0" rIns="0" tIns="0" bIns="0">
            <a:spAutoFit/>
          </a:bodyPr>
          <a:lstStyle/>
          <a:p>
            <a:pPr algn="l">
              <a:lnSpc>
                <a:spcPct val="115000"/>
              </a:lnSpc>
              <a:defRPr sz="1300" b="1" i="0">
                <a:solidFill>
                  <a:srgbClr val="C8102E"/>
                </a:solidFill>
                <a:latin typeface="Poppins"/>
              </a:defRPr>
            </a:pPr>
            <a:r>
              <a:t>S(h) = (P̂(h) − P₀) / P₀  −  c × h</a:t>
            </a:r>
          </a:p>
        </p:txBody>
      </p:sp>
      <p:sp>
        <p:nvSpPr>
          <p:cNvPr id="17" name="Rectangle 16"/>
          <p:cNvSpPr/>
          <p:nvPr/>
        </p:nvSpPr>
        <p:spPr>
          <a:xfrm>
            <a:off x="502920" y="2633472"/>
            <a:ext cx="841248" cy="310896"/>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711196"/>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Poppins"/>
              </a:defRPr>
            </a:pPr>
            <a:r>
              <a:t>Buy now</a:t>
            </a:r>
          </a:p>
        </p:txBody>
      </p:sp>
      <p:sp>
        <p:nvSpPr>
          <p:cNvPr id="19" name="TextBox 18"/>
          <p:cNvSpPr txBox="1"/>
          <p:nvPr/>
        </p:nvSpPr>
        <p:spPr>
          <a:xfrm>
            <a:off x="1463040" y="2651760"/>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S(h) &gt; +2% and P(up) ≥ 60%</a:t>
            </a:r>
          </a:p>
        </p:txBody>
      </p:sp>
      <p:sp>
        <p:nvSpPr>
          <p:cNvPr id="20" name="TextBox 19"/>
          <p:cNvSpPr txBox="1"/>
          <p:nvPr/>
        </p:nvSpPr>
        <p:spPr>
          <a:xfrm>
            <a:off x="1463040" y="2807208"/>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Poppins"/>
              </a:defRPr>
            </a:pPr>
            <a:r>
              <a:t>Forward-cover 3 months</a:t>
            </a:r>
          </a:p>
        </p:txBody>
      </p:sp>
      <p:sp>
        <p:nvSpPr>
          <p:cNvPr id="21" name="Rectangle 20"/>
          <p:cNvSpPr/>
          <p:nvPr/>
        </p:nvSpPr>
        <p:spPr>
          <a:xfrm>
            <a:off x="502920" y="3035808"/>
            <a:ext cx="841248" cy="310896"/>
          </a:xfrm>
          <a:prstGeom prst="rect">
            <a:avLst/>
          </a:prstGeom>
          <a:solidFill>
            <a:srgbClr val="4A4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 y="3113532"/>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Poppins"/>
              </a:defRPr>
            </a:pPr>
            <a:r>
              <a:t>Buy normal</a:t>
            </a:r>
          </a:p>
        </p:txBody>
      </p:sp>
      <p:sp>
        <p:nvSpPr>
          <p:cNvPr id="23" name="TextBox 22"/>
          <p:cNvSpPr txBox="1"/>
          <p:nvPr/>
        </p:nvSpPr>
        <p:spPr>
          <a:xfrm>
            <a:off x="1463040" y="3054096"/>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−2% ≤ S(h) ≤ +2%, or confidence &lt; 60%</a:t>
            </a:r>
          </a:p>
        </p:txBody>
      </p:sp>
      <p:sp>
        <p:nvSpPr>
          <p:cNvPr id="24" name="TextBox 23"/>
          <p:cNvSpPr txBox="1"/>
          <p:nvPr/>
        </p:nvSpPr>
        <p:spPr>
          <a:xfrm>
            <a:off x="1463040" y="3209544"/>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Poppins"/>
              </a:defRPr>
            </a:pPr>
            <a:r>
              <a:t>BoM requirement, 1.5 months</a:t>
            </a:r>
          </a:p>
        </p:txBody>
      </p:sp>
      <p:sp>
        <p:nvSpPr>
          <p:cNvPr id="25" name="Rectangle 24"/>
          <p:cNvSpPr/>
          <p:nvPr/>
        </p:nvSpPr>
        <p:spPr>
          <a:xfrm>
            <a:off x="502920" y="3438144"/>
            <a:ext cx="841248" cy="310896"/>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2920" y="3515868"/>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Poppins"/>
              </a:defRPr>
            </a:pPr>
            <a:r>
              <a:t>Defer</a:t>
            </a:r>
          </a:p>
        </p:txBody>
      </p:sp>
      <p:sp>
        <p:nvSpPr>
          <p:cNvPr id="27" name="TextBox 26"/>
          <p:cNvSpPr txBox="1"/>
          <p:nvPr/>
        </p:nvSpPr>
        <p:spPr>
          <a:xfrm>
            <a:off x="1463040" y="3456432"/>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S(h) &lt; −2% and P(down) ≥ 60%</a:t>
            </a:r>
          </a:p>
        </p:txBody>
      </p:sp>
      <p:sp>
        <p:nvSpPr>
          <p:cNvPr id="28" name="TextBox 27"/>
          <p:cNvSpPr txBox="1"/>
          <p:nvPr/>
        </p:nvSpPr>
        <p:spPr>
          <a:xfrm>
            <a:off x="1463040" y="3611879"/>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Poppins"/>
              </a:defRPr>
            </a:pPr>
            <a:r>
              <a:t>Minimum safety cover, 1 month</a:t>
            </a:r>
          </a:p>
        </p:txBody>
      </p:sp>
      <p:sp>
        <p:nvSpPr>
          <p:cNvPr id="29" name="TextBox 28"/>
          <p:cNvSpPr txBox="1"/>
          <p:nvPr/>
        </p:nvSpPr>
        <p:spPr>
          <a:xfrm>
            <a:off x="502920" y="3886200"/>
            <a:ext cx="5669280" cy="219456"/>
          </a:xfrm>
          <a:prstGeom prst="rect">
            <a:avLst/>
          </a:prstGeom>
          <a:noFill/>
        </p:spPr>
        <p:txBody>
          <a:bodyPr wrap="square" lIns="0" rIns="0" tIns="0" bIns="0">
            <a:spAutoFit/>
          </a:bodyPr>
          <a:lstStyle/>
          <a:p>
            <a:pPr algn="l">
              <a:lnSpc>
                <a:spcPct val="115000"/>
              </a:lnSpc>
              <a:defRPr sz="760" b="0" i="1">
                <a:solidFill>
                  <a:srgbClr val="7C8089"/>
                </a:solidFill>
                <a:latin typeface="Poppins"/>
              </a:defRPr>
            </a:pPr>
            <a:r>
              <a:t>c is carrying cost per month, set at 1.0% pending ACG Finance inputs.</a:t>
            </a:r>
          </a:p>
        </p:txBody>
      </p:sp>
      <p:cxnSp>
        <p:nvCxnSpPr>
          <p:cNvPr id="30" name="Connector 29"/>
          <p:cNvCxnSpPr/>
          <p:nvPr/>
        </p:nvCxnSpPr>
        <p:spPr>
          <a:xfrm>
            <a:off x="502920" y="4133087"/>
            <a:ext cx="56692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4261104"/>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Results over 78 months (2018–2024), both materials</a:t>
            </a:r>
          </a:p>
        </p:txBody>
      </p:sp>
      <p:graphicFrame>
        <p:nvGraphicFramePr>
          <p:cNvPr id="32" name="Table 31"/>
          <p:cNvGraphicFramePr>
            <a:graphicFrameLocks noGrp="1"/>
          </p:cNvGraphicFramePr>
          <p:nvPr/>
        </p:nvGraphicFramePr>
        <p:xfrm>
          <a:off x="502920" y="4535424"/>
          <a:ext cx="5669280" cy="1805940"/>
        </p:xfrm>
        <a:graphic>
          <a:graphicData uri="http://schemas.openxmlformats.org/drawingml/2006/table">
            <a:tbl>
              <a:tblPr>
                <a:tableStyleId>{5C22544A-7EE6-4342-B048-85BDC9FD1C3A}</a:tableStyleId>
              </a:tblPr>
              <a:tblGrid>
                <a:gridCol w="2926080"/>
                <a:gridCol w="1371600"/>
                <a:gridCol w="1371600"/>
              </a:tblGrid>
              <a:tr h="237744">
                <a:tc>
                  <a:txBody>
                    <a:bodyPr/>
                    <a:lstStyle/>
                    <a:p>
                      <a:pPr algn="l">
                        <a:defRPr sz="700" b="1">
                          <a:solidFill>
                            <a:srgbClr val="FFFFFF"/>
                          </a:solidFill>
                          <a:latin typeface="Poppins"/>
                        </a:defRPr>
                      </a:pPr>
                      <a:r>
                        <a:t>Metric</a:t>
                      </a:r>
                    </a:p>
                  </a:txBody>
                  <a:tcPr marL="54864" marR="54864" marT="18288" marB="18288" anchor="ctr">
                    <a:solidFill>
                      <a:srgbClr val="C8102E"/>
                    </a:solidFill>
                  </a:tcPr>
                </a:tc>
                <a:tc>
                  <a:txBody>
                    <a:bodyPr/>
                    <a:lstStyle/>
                    <a:p>
                      <a:pPr algn="r">
                        <a:defRPr sz="700" b="1">
                          <a:solidFill>
                            <a:srgbClr val="FFFFFF"/>
                          </a:solidFill>
                          <a:latin typeface="Poppins"/>
                        </a:defRPr>
                      </a:pPr>
                      <a:r>
                        <a:t>Aluminium</a:t>
                      </a:r>
                    </a:p>
                  </a:txBody>
                  <a:tcPr marL="54864" marR="54864" marT="18288" marB="18288" anchor="ctr">
                    <a:solidFill>
                      <a:srgbClr val="C8102E"/>
                    </a:solidFill>
                  </a:tcPr>
                </a:tc>
                <a:tc>
                  <a:txBody>
                    <a:bodyPr/>
                    <a:lstStyle/>
                    <a:p>
                      <a:pPr algn="r">
                        <a:defRPr sz="700" b="1">
                          <a:solidFill>
                            <a:srgbClr val="FFFFFF"/>
                          </a:solidFill>
                          <a:latin typeface="Poppins"/>
                        </a:defRPr>
                      </a:pPr>
                      <a:r>
                        <a:t>PVC proxy</a:t>
                      </a:r>
                    </a:p>
                  </a:txBody>
                  <a:tcPr marL="54864" marR="54864" marT="18288" marB="18288" anchor="ctr">
                    <a:solidFill>
                      <a:srgbClr val="C8102E"/>
                    </a:solidFill>
                  </a:tcPr>
                </a:tc>
              </a:tr>
              <a:tr h="224028">
                <a:tc>
                  <a:txBody>
                    <a:bodyPr/>
                    <a:lstStyle/>
                    <a:p>
                      <a:pPr algn="l">
                        <a:defRPr sz="760" b="0">
                          <a:solidFill>
                            <a:srgbClr val="4A4D55"/>
                          </a:solidFill>
                          <a:latin typeface="Poppins"/>
                        </a:defRPr>
                      </a:pPr>
                      <a:r>
                        <a:t>Signals: now / normal / defer</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1 / 72 / 5</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4 / 59 / 15</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Gross price saving</a:t>
                      </a:r>
                    </a:p>
                  </a:txBody>
                  <a:tcPr marL="54864" marR="54864" marT="13716" marB="13716" anchor="ctr">
                    <a:solidFill>
                      <a:srgbClr val="FFFFFF"/>
                    </a:solidFill>
                  </a:tcPr>
                </a:tc>
                <a:tc>
                  <a:txBody>
                    <a:bodyPr/>
                    <a:lstStyle/>
                    <a:p>
                      <a:pPr algn="r">
                        <a:defRPr sz="760" b="0">
                          <a:solidFill>
                            <a:srgbClr val="C8102E"/>
                          </a:solidFill>
                          <a:latin typeface="Poppins"/>
                        </a:defRPr>
                      </a:pPr>
                      <a:r>
                        <a:rPr sz="760" b="0">
                          <a:solidFill>
                            <a:srgbClr val="C8102E"/>
                          </a:solidFill>
                          <a:latin typeface="Poppins"/>
                        </a:rPr>
                        <a:t>−0.31%</a:t>
                      </a:r>
                    </a:p>
                  </a:txBody>
                  <a:tcPr marL="54864" marR="54864" marT="13716" marB="13716" anchor="ctr">
                    <a:solidFill>
                      <a:srgbClr val="FFFFFF"/>
                    </a:solidFill>
                  </a:tcPr>
                </a:tc>
                <a:tc>
                  <a:txBody>
                    <a:bodyPr/>
                    <a:lstStyle/>
                    <a:p>
                      <a:pPr algn="r">
                        <a:defRPr sz="760" b="0">
                          <a:solidFill>
                            <a:srgbClr val="0F6B3F"/>
                          </a:solidFill>
                          <a:latin typeface="Poppins"/>
                        </a:defRPr>
                      </a:pPr>
                      <a:r>
                        <a:rPr sz="760" b="0">
                          <a:solidFill>
                            <a:srgbClr val="0F6B3F"/>
                          </a:solidFill>
                          <a:latin typeface="Poppins"/>
                        </a:rPr>
                        <a:t>+0.46%</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Net saving after carrying cost</a:t>
                      </a:r>
                    </a:p>
                  </a:txBody>
                  <a:tcPr marL="54864" marR="54864" marT="13716" marB="13716" anchor="ctr">
                    <a:solidFill>
                      <a:srgbClr val="FFFFFF"/>
                    </a:solidFill>
                  </a:tcPr>
                </a:tc>
                <a:tc>
                  <a:txBody>
                    <a:bodyPr/>
                    <a:lstStyle/>
                    <a:p>
                      <a:pPr algn="r">
                        <a:defRPr sz="760" b="0">
                          <a:solidFill>
                            <a:srgbClr val="C8102E"/>
                          </a:solidFill>
                          <a:latin typeface="Poppins"/>
                        </a:defRPr>
                      </a:pPr>
                      <a:r>
                        <a:rPr sz="760" b="0">
                          <a:solidFill>
                            <a:srgbClr val="C8102E"/>
                          </a:solidFill>
                          <a:latin typeface="Poppins"/>
                        </a:rPr>
                        <a:t>−0.31%</a:t>
                      </a:r>
                    </a:p>
                  </a:txBody>
                  <a:tcPr marL="54864" marR="54864" marT="13716" marB="13716" anchor="ctr">
                    <a:solidFill>
                      <a:srgbClr val="FFFFFF"/>
                    </a:solidFill>
                  </a:tcPr>
                </a:tc>
                <a:tc>
                  <a:txBody>
                    <a:bodyPr/>
                    <a:lstStyle/>
                    <a:p>
                      <a:pPr algn="r">
                        <a:defRPr sz="760" b="0">
                          <a:solidFill>
                            <a:srgbClr val="0F6B3F"/>
                          </a:solidFill>
                          <a:latin typeface="Poppins"/>
                        </a:defRPr>
                      </a:pPr>
                      <a:r>
                        <a:rPr sz="760" b="0">
                          <a:solidFill>
                            <a:srgbClr val="0F6B3F"/>
                          </a:solidFill>
                          <a:latin typeface="Poppins"/>
                        </a:rPr>
                        <a:t>+0.45%</a:t>
                      </a:r>
                    </a:p>
                  </a:txBody>
                  <a:tcPr marL="54864" marR="54864" marT="13716" marB="13716" anchor="ctr">
                    <a:solidFill>
                      <a:srgbClr val="FFFFFF"/>
                    </a:solidFill>
                  </a:tcPr>
                </a:tc>
              </a:tr>
              <a:tr h="224028">
                <a:tc>
                  <a:txBody>
                    <a:bodyPr/>
                    <a:lstStyle/>
                    <a:p>
                      <a:pPr algn="l">
                        <a:defRPr sz="760" b="1">
                          <a:solidFill>
                            <a:srgbClr val="4A4D55"/>
                          </a:solidFill>
                          <a:latin typeface="Poppins"/>
                        </a:defRPr>
                      </a:pPr>
                      <a:r>
                        <a:t>Beats random timing? (permutation p)</a:t>
                      </a:r>
                    </a:p>
                  </a:txBody>
                  <a:tcPr marL="54864" marR="54864" marT="13716" marB="13716" anchor="ctr">
                    <a:solidFill>
                      <a:srgbClr val="FDF2F4"/>
                    </a:solidFill>
                  </a:tcPr>
                </a:tc>
                <a:tc>
                  <a:txBody>
                    <a:bodyPr/>
                    <a:lstStyle/>
                    <a:p>
                      <a:pPr algn="r">
                        <a:defRPr sz="760" b="1">
                          <a:solidFill>
                            <a:srgbClr val="C8102E"/>
                          </a:solidFill>
                          <a:latin typeface="Poppins"/>
                        </a:defRPr>
                      </a:pPr>
                      <a:r>
                        <a:rPr sz="760" b="1">
                          <a:solidFill>
                            <a:srgbClr val="C8102E"/>
                          </a:solidFill>
                          <a:latin typeface="Poppins"/>
                        </a:rPr>
                        <a:t>No (0.97)</a:t>
                      </a:r>
                    </a:p>
                  </a:txBody>
                  <a:tcPr marL="54864" marR="54864" marT="13716" marB="13716" anchor="ctr">
                    <a:solidFill>
                      <a:srgbClr val="FDF2F4"/>
                    </a:solidFill>
                  </a:tcPr>
                </a:tc>
                <a:tc>
                  <a:txBody>
                    <a:bodyPr/>
                    <a:lstStyle/>
                    <a:p>
                      <a:pPr algn="r">
                        <a:defRPr sz="760" b="1">
                          <a:solidFill>
                            <a:srgbClr val="0F6B3F"/>
                          </a:solidFill>
                          <a:latin typeface="Poppins"/>
                        </a:defRPr>
                      </a:pPr>
                      <a:r>
                        <a:rPr sz="760" b="1">
                          <a:solidFill>
                            <a:srgbClr val="0F6B3F"/>
                          </a:solidFill>
                          <a:latin typeface="Poppins"/>
                        </a:rPr>
                        <a:t>Yes (0.002)</a:t>
                      </a:r>
                    </a:p>
                  </a:txBody>
                  <a:tcPr marL="54864" marR="54864" marT="13716" marB="13716" anchor="ctr">
                    <a:solidFill>
                      <a:srgbClr val="FDF2F4"/>
                    </a:solidFill>
                  </a:tcPr>
                </a:tc>
              </a:tr>
              <a:tr h="224028">
                <a:tc>
                  <a:txBody>
                    <a:bodyPr/>
                    <a:lstStyle/>
                    <a:p>
                      <a:pPr algn="l">
                        <a:defRPr sz="760" b="0">
                          <a:solidFill>
                            <a:srgbClr val="4A4D55"/>
                          </a:solidFill>
                          <a:latin typeface="Poppins"/>
                        </a:defRPr>
                      </a:pPr>
                      <a:r>
                        <a:t>Perfect-foresight ceiling</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+2.93%</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+1.31%</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Inventory days vs baseline</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−0.2 d</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−0.2 d</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Working capital per ₹100 Cr (− = released)</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−0.05 Cr</a:t>
                      </a:r>
                    </a:p>
                  </a:txBody>
                  <a:tcPr marL="54864" marR="54864" marT="13716" marB="13716" anchor="ctr">
                    <a:solidFill>
                      <a:srgbClr val="FFFFFF"/>
                    </a:solidFill>
                  </a:tcPr>
                </a:tc>
                <a:tc>
                  <a:txBody>
                    <a:bodyPr/>
                    <a:lstStyle/>
                    <a:p>
                      <a:pPr algn="r">
                        <a:defRPr sz="760" b="0">
                          <a:solidFill>
                            <a:srgbClr val="4A4D55"/>
                          </a:solidFill>
                          <a:latin typeface="Poppins"/>
                        </a:defRPr>
                      </a:pPr>
                      <a:r>
                        <a:rPr sz="760" b="0">
                          <a:solidFill>
                            <a:srgbClr val="4A4D55"/>
                          </a:solidFill>
                          <a:latin typeface="Poppins"/>
                        </a:rPr>
                        <a:t>−0.05 Cr</a:t>
                      </a:r>
                    </a:p>
                  </a:txBody>
                  <a:tcPr marL="54864" marR="54864" marT="13716" marB="13716" anchor="ctr">
                    <a:solidFill>
                      <a:srgbClr val="FFFFFF"/>
                    </a:solidFill>
                  </a:tcPr>
                </a:tc>
              </a:tr>
            </a:tbl>
          </a:graphicData>
        </a:graphic>
      </p:graphicFrame>
      <p:sp>
        <p:nvSpPr>
          <p:cNvPr id="33" name="TextBox 32"/>
          <p:cNvSpPr txBox="1"/>
          <p:nvPr/>
        </p:nvSpPr>
        <p:spPr>
          <a:xfrm>
            <a:off x="6537960" y="173736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proxy — cumulative net saving and the signals that produced it</a:t>
            </a:r>
          </a:p>
        </p:txBody>
      </p:sp>
      <p:pic>
        <p:nvPicPr>
          <p:cNvPr id="34" name="Picture 33" descr="pvc_replay.png"/>
          <p:cNvPicPr>
            <a:picLocks noChangeAspect="1"/>
          </p:cNvPicPr>
          <p:nvPr/>
        </p:nvPicPr>
        <p:blipFill>
          <a:blip r:embed="rId2"/>
          <a:stretch>
            <a:fillRect/>
          </a:stretch>
        </p:blipFill>
        <p:spPr>
          <a:xfrm>
            <a:off x="6537960" y="1975104"/>
            <a:ext cx="5166360" cy="2514600"/>
          </a:xfrm>
          <a:prstGeom prst="rect">
            <a:avLst/>
          </a:prstGeom>
        </p:spPr>
      </p:pic>
      <p:cxnSp>
        <p:nvCxnSpPr>
          <p:cNvPr id="35" name="Connector 34"/>
          <p:cNvCxnSpPr/>
          <p:nvPr/>
        </p:nvCxnSpPr>
        <p:spPr>
          <a:xfrm>
            <a:off x="6537960" y="4434840"/>
            <a:ext cx="51663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537960" y="457200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this does and does not show</a:t>
            </a:r>
          </a:p>
        </p:txBody>
      </p:sp>
      <p:sp>
        <p:nvSpPr>
          <p:cNvPr id="37" name="TextBox 36"/>
          <p:cNvSpPr txBox="1"/>
          <p:nvPr/>
        </p:nvSpPr>
        <p:spPr>
          <a:xfrm>
            <a:off x="6537960" y="4846320"/>
            <a:ext cx="5166360" cy="128016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On PVC the rule captured about a third of the perfect-foresight ceiling with slightly less stock, and random placement of the same signals saves nothing (median −0.01%).</a:t>
            </a:r>
          </a:p>
          <a:p>
            <a:pPr algn="l">
              <a:lnSpc>
                <a:spcPct val="130000"/>
              </a:lnSpc>
              <a:defRPr sz="819" b="0" i="0">
                <a:solidFill>
                  <a:srgbClr val="4A4D55"/>
                </a:solidFill>
                <a:latin typeface="Poppins"/>
              </a:defRPr>
            </a:pPr>
            <a:r>
              <a:t/>
            </a:r>
          </a:p>
          <a:p>
            <a:pPr algn="l">
              <a:lnSpc>
                <a:spcPct val="130000"/>
              </a:lnSpc>
              <a:defRPr sz="819" b="0" i="0">
                <a:solidFill>
                  <a:srgbClr val="4A4D55"/>
                </a:solidFill>
                <a:latin typeface="Poppins"/>
              </a:defRPr>
            </a:pPr>
            <a:r>
              <a:t>On aluminium it acted 6 times in 78 months and lost 0.31%. In the 2025–26 PVC holdout it was flat: net −0.08%, p = 0.44.</a:t>
            </a:r>
          </a:p>
        </p:txBody>
      </p:sp>
      <p:sp>
        <p:nvSpPr>
          <p:cNvPr id="38" name="TextBox 37"/>
          <p:cNvSpPr txBox="1"/>
          <p:nvPr/>
        </p:nvSpPr>
        <p:spPr>
          <a:xfrm>
            <a:off x="6537960" y="6035040"/>
            <a:ext cx="5166360" cy="457200"/>
          </a:xfrm>
          <a:prstGeom prst="rect">
            <a:avLst/>
          </a:prstGeom>
          <a:noFill/>
        </p:spPr>
        <p:txBody>
          <a:bodyPr wrap="square" lIns="0" rIns="0" tIns="0" bIns="0">
            <a:spAutoFit/>
          </a:bodyPr>
          <a:lstStyle/>
          <a:p>
            <a:pPr algn="l">
              <a:lnSpc>
                <a:spcPct val="125000"/>
              </a:lnSpc>
              <a:defRPr sz="760" b="1" i="0">
                <a:solidFill>
                  <a:srgbClr val="C8102E"/>
                </a:solidFill>
                <a:latin typeface="Poppins"/>
              </a:defRPr>
            </a:pPr>
            <a:r>
              <a:t>The rule stays at BUY NORMAL 92% (Al) / 76% (PVC) of the time.</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Constant monthly requirement; purchases at next month's average price; leftover stock valued at the final price. Permutation test: same signals at random months, 2,000 draws. Rupee figures per ₹100 Cr of annual spend.</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3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A working decision desk, not a mock-up: every number on screen is a model output</a:t>
            </a:r>
          </a:p>
        </p:txBody>
      </p:sp>
      <p:sp>
        <p:nvSpPr>
          <p:cNvPr id="14" name="TextBox 13"/>
          <p:cNvSpPr txBox="1"/>
          <p:nvPr/>
        </p:nvSpPr>
        <p:spPr>
          <a:xfrm>
            <a:off x="502920" y="1783080"/>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procurement opens each month</a:t>
            </a:r>
          </a:p>
        </p:txBody>
      </p:sp>
      <p:sp>
        <p:nvSpPr>
          <p:cNvPr id="15" name="TextBox 14"/>
          <p:cNvSpPr txBox="1"/>
          <p:nvPr/>
        </p:nvSpPr>
        <p:spPr>
          <a:xfrm>
            <a:off x="502920" y="2084831"/>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Recommendation</a:t>
            </a:r>
          </a:p>
        </p:txBody>
      </p:sp>
      <p:sp>
        <p:nvSpPr>
          <p:cNvPr id="16" name="TextBox 15"/>
          <p:cNvSpPr txBox="1"/>
          <p:nvPr/>
        </p:nvSpPr>
        <p:spPr>
          <a:xfrm>
            <a:off x="2194560" y="2084831"/>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Signal, expected saving net of carry, P(up), recommended cover, and the P10–P90 range, for any horizon from one to six months.</a:t>
            </a:r>
          </a:p>
        </p:txBody>
      </p:sp>
      <p:sp>
        <p:nvSpPr>
          <p:cNvPr id="17" name="TextBox 16"/>
          <p:cNvSpPr txBox="1"/>
          <p:nvPr/>
        </p:nvSpPr>
        <p:spPr>
          <a:xfrm>
            <a:off x="502920" y="2660903"/>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Price and forecast</a:t>
            </a:r>
          </a:p>
        </p:txBody>
      </p:sp>
      <p:sp>
        <p:nvSpPr>
          <p:cNvPr id="18" name="TextBox 17"/>
          <p:cNvSpPr txBox="1"/>
          <p:nvPr/>
        </p:nvSpPr>
        <p:spPr>
          <a:xfrm>
            <a:off x="2194560" y="2660903"/>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Three years of actuals, the six-month fan, and the naïve path shown alongside so the comparison is always visible.</a:t>
            </a:r>
          </a:p>
        </p:txBody>
      </p:sp>
      <p:sp>
        <p:nvSpPr>
          <p:cNvPr id="19" name="TextBox 18"/>
          <p:cNvSpPr txBox="1"/>
          <p:nvPr/>
        </p:nvSpPr>
        <p:spPr>
          <a:xfrm>
            <a:off x="502920" y="3236975"/>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Purchase order</a:t>
            </a:r>
          </a:p>
        </p:txBody>
      </p:sp>
      <p:sp>
        <p:nvSpPr>
          <p:cNvPr id="20" name="TextBox 19"/>
          <p:cNvSpPr txBox="1"/>
          <p:nvPr/>
        </p:nvSpPr>
        <p:spPr>
          <a:xfrm>
            <a:off x="2194560" y="3236975"/>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Cover × BoM − on-hand − in-transit, computed live from the buyer's own numbers, with the arithmetic shown.</a:t>
            </a:r>
          </a:p>
        </p:txBody>
      </p:sp>
      <p:sp>
        <p:nvSpPr>
          <p:cNvPr id="21" name="TextBox 20"/>
          <p:cNvSpPr txBox="1"/>
          <p:nvPr/>
        </p:nvSpPr>
        <p:spPr>
          <a:xfrm>
            <a:off x="502920" y="3813048"/>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Accuracy scorecard</a:t>
            </a:r>
          </a:p>
        </p:txBody>
      </p:sp>
      <p:sp>
        <p:nvSpPr>
          <p:cNvPr id="22" name="TextBox 21"/>
          <p:cNvSpPr txBox="1"/>
          <p:nvPr/>
        </p:nvSpPr>
        <p:spPr>
          <a:xfrm>
            <a:off x="2194560" y="3813048"/>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Model against naïve at every horizon, development and holdout, with the pre-set gate marked pass or miss.</a:t>
            </a:r>
          </a:p>
        </p:txBody>
      </p:sp>
      <p:sp>
        <p:nvSpPr>
          <p:cNvPr id="23" name="TextBox 22"/>
          <p:cNvSpPr txBox="1"/>
          <p:nvPr/>
        </p:nvSpPr>
        <p:spPr>
          <a:xfrm>
            <a:off x="502920" y="4389120"/>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Drivers</a:t>
            </a:r>
          </a:p>
        </p:txBody>
      </p:sp>
      <p:sp>
        <p:nvSpPr>
          <p:cNvPr id="24" name="TextBox 23"/>
          <p:cNvSpPr txBox="1"/>
          <p:nvPr/>
        </p:nvSpPr>
        <p:spPr>
          <a:xfrm>
            <a:off x="2194560" y="4389120"/>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Which indicators lead and by how much, FDR-corrected Granger flags, and SHAP drivers for the live forecast.</a:t>
            </a:r>
          </a:p>
        </p:txBody>
      </p:sp>
      <p:sp>
        <p:nvSpPr>
          <p:cNvPr id="25" name="TextBox 24"/>
          <p:cNvSpPr txBox="1"/>
          <p:nvPr/>
        </p:nvSpPr>
        <p:spPr>
          <a:xfrm>
            <a:off x="502920" y="4965192"/>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Buying replay</a:t>
            </a:r>
          </a:p>
        </p:txBody>
      </p:sp>
      <p:sp>
        <p:nvSpPr>
          <p:cNvPr id="26" name="TextBox 25"/>
          <p:cNvSpPr txBox="1"/>
          <p:nvPr/>
        </p:nvSpPr>
        <p:spPr>
          <a:xfrm>
            <a:off x="2194560" y="4965192"/>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Net saving, a permutation test against random timing, the perfect-foresight ceiling, and every signal.</a:t>
            </a:r>
          </a:p>
        </p:txBody>
      </p:sp>
      <p:cxnSp>
        <p:nvCxnSpPr>
          <p:cNvPr id="27" name="Connector 26"/>
          <p:cNvCxnSpPr/>
          <p:nvPr/>
        </p:nvCxnSpPr>
        <p:spPr>
          <a:xfrm>
            <a:off x="502920" y="5449824"/>
            <a:ext cx="5577839"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5586983"/>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Built for the shadow pilot</a:t>
            </a:r>
          </a:p>
        </p:txBody>
      </p:sp>
      <p:sp>
        <p:nvSpPr>
          <p:cNvPr id="29" name="TextBox 28"/>
          <p:cNvSpPr txBox="1"/>
          <p:nvPr/>
        </p:nvSpPr>
        <p:spPr>
          <a:xfrm>
            <a:off x="502920" y="5861303"/>
            <a:ext cx="5577840" cy="73152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In the pilot, buyers decide exactly as today while we log each signal against actual buys. Nothing is risked; the value is measured first.</a:t>
            </a:r>
          </a:p>
        </p:txBody>
      </p:sp>
      <p:sp>
        <p:nvSpPr>
          <p:cNvPr id="30" name="Rectangle 29"/>
          <p:cNvSpPr/>
          <p:nvPr/>
        </p:nvSpPr>
        <p:spPr>
          <a:xfrm>
            <a:off x="6446520" y="1783080"/>
            <a:ext cx="5257800" cy="41605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dashboard_cropped.png"/>
          <p:cNvPicPr>
            <a:picLocks noChangeAspect="1"/>
          </p:cNvPicPr>
          <p:nvPr/>
        </p:nvPicPr>
        <p:blipFill>
          <a:blip r:embed="rId2"/>
          <a:stretch>
            <a:fillRect/>
          </a:stretch>
        </p:blipFill>
        <p:spPr>
          <a:xfrm>
            <a:off x="6446520" y="1783080"/>
            <a:ext cx="5257800" cy="3943350"/>
          </a:xfrm>
          <a:prstGeom prst="rect">
            <a:avLst/>
          </a:prstGeom>
        </p:spPr>
      </p:pic>
      <p:sp>
        <p:nvSpPr>
          <p:cNvPr id="32" name="TextBox 31"/>
          <p:cNvSpPr txBox="1"/>
          <p:nvPr/>
        </p:nvSpPr>
        <p:spPr>
          <a:xfrm>
            <a:off x="6446520" y="6053328"/>
            <a:ext cx="5257800" cy="457200"/>
          </a:xfrm>
          <a:prstGeom prst="rect">
            <a:avLst/>
          </a:prstGeom>
          <a:noFill/>
        </p:spPr>
        <p:txBody>
          <a:bodyPr wrap="square" lIns="0" rIns="0" tIns="0" bIns="0">
            <a:spAutoFit/>
          </a:bodyPr>
          <a:lstStyle/>
          <a:p>
            <a:pPr algn="l">
              <a:lnSpc>
                <a:spcPct val="125000"/>
              </a:lnSpc>
              <a:defRPr sz="760" b="1" i="0">
                <a:solidFill>
                  <a:srgbClr val="C8102E"/>
                </a:solidFill>
                <a:latin typeface="Poppins"/>
              </a:defRPr>
            </a:pPr>
            <a:r>
              <a:t>Forecast panels as shown on the desk, drawn from the same output files. Live view: dashboard/index.html. A stale-data banner shows until the data is refreshed.</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Delivery: Single-page dashboard, hosted and shareable by link. Excel export and a REST hook into the ERP requisition step are specified but not built in this round.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9" name="Rounded Rectangle 8"/>
          <p:cNvSpPr/>
          <p:nvPr/>
        </p:nvSpPr>
        <p:spPr>
          <a:xfrm>
            <a:off x="8520248"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4  ·  I M P L E M E N T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90-day zero-capex shadow pilot: phased timeline, operating model, and success gates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90-day shadow pilot — timeline and phases</a:t>
            </a:r>
          </a:p>
        </p:txBody>
      </p:sp>
      <p:sp>
        <p:nvSpPr>
          <p:cNvPr id="15" name="Rectangle 14"/>
          <p:cNvSpPr/>
          <p:nvPr/>
        </p:nvSpPr>
        <p:spPr>
          <a:xfrm>
            <a:off x="502920" y="2057400"/>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2057400"/>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130552"/>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Poppins"/>
              </a:defRPr>
            </a:pPr>
            <a:r>
              <a:t>Weeks 1–2</a:t>
            </a:r>
          </a:p>
        </p:txBody>
      </p:sp>
      <p:sp>
        <p:nvSpPr>
          <p:cNvPr id="18" name="TextBox 17"/>
          <p:cNvSpPr txBox="1"/>
          <p:nvPr/>
        </p:nvSpPr>
        <p:spPr>
          <a:xfrm>
            <a:off x="1828800" y="2130552"/>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Data Ingestion &amp; Pipeline Setup</a:t>
            </a:r>
          </a:p>
        </p:txBody>
      </p:sp>
      <p:sp>
        <p:nvSpPr>
          <p:cNvPr id="19" name="TextBox 18"/>
          <p:cNvSpPr txBox="1"/>
          <p:nvPr/>
        </p:nvSpPr>
        <p:spPr>
          <a:xfrm>
            <a:off x="640080" y="2350008"/>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Refresh public data (with ALFRED vintages); ingest 12–24 months of ACG PO history for aluminium and PVC resin.</a:t>
            </a:r>
          </a:p>
        </p:txBody>
      </p:sp>
      <p:sp>
        <p:nvSpPr>
          <p:cNvPr id="20" name="Rectangle 19"/>
          <p:cNvSpPr/>
          <p:nvPr/>
        </p:nvSpPr>
        <p:spPr>
          <a:xfrm>
            <a:off x="502920" y="2862072"/>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2920" y="2862072"/>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080" y="2935224"/>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Poppins"/>
              </a:defRPr>
            </a:pPr>
            <a:r>
              <a:t>Weeks 3–4</a:t>
            </a:r>
          </a:p>
        </p:txBody>
      </p:sp>
      <p:sp>
        <p:nvSpPr>
          <p:cNvPr id="23" name="TextBox 22"/>
          <p:cNvSpPr txBox="1"/>
          <p:nvPr/>
        </p:nvSpPr>
        <p:spPr>
          <a:xfrm>
            <a:off x="1828800" y="2935224"/>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Landed-Cost Overlay Calibration</a:t>
            </a:r>
          </a:p>
        </p:txBody>
      </p:sp>
      <p:sp>
        <p:nvSpPr>
          <p:cNvPr id="24" name="TextBox 23"/>
          <p:cNvSpPr txBox="1"/>
          <p:nvPr/>
        </p:nvSpPr>
        <p:spPr>
          <a:xfrm>
            <a:off x="640080" y="3154679"/>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Fit the landed-cost bridge (freight, FX, customs duty, port handling) against actual ACG invoice settlement prices.</a:t>
            </a:r>
          </a:p>
        </p:txBody>
      </p:sp>
      <p:sp>
        <p:nvSpPr>
          <p:cNvPr id="25" name="Rectangle 24"/>
          <p:cNvSpPr/>
          <p:nvPr/>
        </p:nvSpPr>
        <p:spPr>
          <a:xfrm>
            <a:off x="502920" y="3666744"/>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02920" y="3666744"/>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3739896"/>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Poppins"/>
              </a:defRPr>
            </a:pPr>
            <a:r>
              <a:t>Months 2–3</a:t>
            </a:r>
          </a:p>
        </p:txBody>
      </p:sp>
      <p:sp>
        <p:nvSpPr>
          <p:cNvPr id="28" name="TextBox 27"/>
          <p:cNvSpPr txBox="1"/>
          <p:nvPr/>
        </p:nvSpPr>
        <p:spPr>
          <a:xfrm>
            <a:off x="1828800" y="3739896"/>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Shadow Scoring &amp; Buyer Cadence</a:t>
            </a:r>
          </a:p>
        </p:txBody>
      </p:sp>
      <p:sp>
        <p:nvSpPr>
          <p:cNvPr id="29" name="TextBox 28"/>
          <p:cNvSpPr txBox="1"/>
          <p:nvPr/>
        </p:nvSpPr>
        <p:spPr>
          <a:xfrm>
            <a:off x="640080" y="3959352"/>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Bi-weekly forecast intelligence packs delivered to procurement; buyers decide as today while shadow P&amp;L savings are logged.</a:t>
            </a:r>
          </a:p>
        </p:txBody>
      </p:sp>
      <p:sp>
        <p:nvSpPr>
          <p:cNvPr id="30" name="Rectangle 29"/>
          <p:cNvSpPr/>
          <p:nvPr/>
        </p:nvSpPr>
        <p:spPr>
          <a:xfrm>
            <a:off x="502920" y="4471416"/>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02920" y="4471416"/>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4544568"/>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Poppins"/>
              </a:defRPr>
            </a:pPr>
            <a:r>
              <a:t>Month 4</a:t>
            </a:r>
          </a:p>
        </p:txBody>
      </p:sp>
      <p:sp>
        <p:nvSpPr>
          <p:cNvPr id="33" name="TextBox 32"/>
          <p:cNvSpPr txBox="1"/>
          <p:nvPr/>
        </p:nvSpPr>
        <p:spPr>
          <a:xfrm>
            <a:off x="1828800" y="4544568"/>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Executive Review &amp; Go/No-Go Gate</a:t>
            </a:r>
          </a:p>
        </p:txBody>
      </p:sp>
      <p:sp>
        <p:nvSpPr>
          <p:cNvPr id="34" name="TextBox 33"/>
          <p:cNvSpPr txBox="1"/>
          <p:nvPr/>
        </p:nvSpPr>
        <p:spPr>
          <a:xfrm>
            <a:off x="640080" y="4764024"/>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Formal leadership evaluation against pre-set criteria; if passed, connect REST hook into SAP/ERP purchase requisition.</a:t>
            </a:r>
          </a:p>
        </p:txBody>
      </p:sp>
      <p:sp>
        <p:nvSpPr>
          <p:cNvPr id="35" name="TextBox 34"/>
          <p:cNvSpPr txBox="1"/>
          <p:nvPr/>
        </p:nvSpPr>
        <p:spPr>
          <a:xfrm>
            <a:off x="502920" y="5349240"/>
            <a:ext cx="539496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Pilot cost: ₹0 capex. Runs entirely on open-source Python and free public macro data.</a:t>
            </a:r>
          </a:p>
          <a:p>
            <a:pPr algn="l">
              <a:lnSpc>
                <a:spcPct val="125000"/>
              </a:lnSpc>
              <a:defRPr sz="740" b="1" i="0">
                <a:solidFill>
                  <a:srgbClr val="C8102E"/>
                </a:solidFill>
                <a:latin typeface="Poppins"/>
              </a:defRPr>
            </a:pPr>
            <a:r>
              <a:t>People: 1 sourcing sponsor (~1 hr/month) + 1 buyer per commodity (~30 min/fortnight).</a:t>
            </a:r>
          </a:p>
        </p:txBody>
      </p:sp>
      <p:sp>
        <p:nvSpPr>
          <p:cNvPr id="36" name="TextBox 3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Pre-set success gates (all 4 must pass for go-live)</a:t>
            </a:r>
          </a:p>
        </p:txBody>
      </p:sp>
      <p:graphicFrame>
        <p:nvGraphicFramePr>
          <p:cNvPr id="37" name="Table 36"/>
          <p:cNvGraphicFramePr>
            <a:graphicFrameLocks noGrp="1"/>
          </p:cNvGraphicFramePr>
          <p:nvPr/>
        </p:nvGraphicFramePr>
        <p:xfrm>
          <a:off x="6263640" y="2057400"/>
          <a:ext cx="5440680" cy="1627632"/>
        </p:xfrm>
        <a:graphic>
          <a:graphicData uri="http://schemas.openxmlformats.org/drawingml/2006/table">
            <a:tbl>
              <a:tblPr>
                <a:tableStyleId>{5C22544A-7EE6-4342-B048-85BDC9FD1C3A}</a:tableStyleId>
              </a:tblPr>
              <a:tblGrid>
                <a:gridCol w="1280160"/>
                <a:gridCol w="4160520"/>
              </a:tblGrid>
              <a:tr h="237744">
                <a:tc>
                  <a:txBody>
                    <a:bodyPr/>
                    <a:lstStyle/>
                    <a:p>
                      <a:pPr algn="l">
                        <a:defRPr sz="700" b="1">
                          <a:solidFill>
                            <a:srgbClr val="FFFFFF"/>
                          </a:solidFill>
                          <a:latin typeface="Poppins"/>
                        </a:defRPr>
                      </a:pPr>
                      <a:r>
                        <a:t>Gate</a:t>
                      </a:r>
                    </a:p>
                  </a:txBody>
                  <a:tcPr marL="54864" marR="54864" marT="18288" marB="18288" anchor="ctr">
                    <a:solidFill>
                      <a:srgbClr val="C8102E"/>
                    </a:solidFill>
                  </a:tcPr>
                </a:tc>
                <a:tc>
                  <a:txBody>
                    <a:bodyPr/>
                    <a:lstStyle/>
                    <a:p>
                      <a:pPr algn="r">
                        <a:defRPr sz="700" b="1">
                          <a:solidFill>
                            <a:srgbClr val="FFFFFF"/>
                          </a:solidFill>
                          <a:latin typeface="Poppins"/>
                        </a:defRPr>
                      </a:pPr>
                      <a:r>
                        <a:t>Pass Criterion</a:t>
                      </a:r>
                    </a:p>
                  </a:txBody>
                  <a:tcPr marL="54864" marR="54864" marT="18288" marB="18288" anchor="ctr">
                    <a:solidFill>
                      <a:srgbClr val="C8102E"/>
                    </a:solidFill>
                  </a:tcPr>
                </a:tc>
              </a:tr>
              <a:tr h="347472">
                <a:tc>
                  <a:txBody>
                    <a:bodyPr/>
                    <a:lstStyle/>
                    <a:p>
                      <a:pPr algn="l">
                        <a:defRPr sz="740" b="0">
                          <a:solidFill>
                            <a:srgbClr val="4A4D55"/>
                          </a:solidFill>
                          <a:latin typeface="Poppins"/>
                        </a:defRPr>
                      </a:pPr>
                      <a:r>
                        <a:t>Accuracy</a:t>
                      </a:r>
                    </a:p>
                  </a:txBody>
                  <a:tcPr marL="54864" marR="54864" marT="13716" marB="13716" anchor="ctr">
                    <a:solidFill>
                      <a:srgbClr val="FFFFFF"/>
                    </a:solidFill>
                  </a:tcPr>
                </a:tc>
                <a:tc>
                  <a:txBody>
                    <a:bodyPr/>
                    <a:lstStyle/>
                    <a:p>
                      <a:pPr algn="r">
                        <a:defRPr sz="740" b="0">
                          <a:solidFill>
                            <a:srgbClr val="4A4D55"/>
                          </a:solidFill>
                          <a:latin typeface="Poppins"/>
                        </a:defRPr>
                      </a:pPr>
                      <a:r>
                        <a:t>Walk-forward MAPE ≤ naïve baseline for all 3 pilot months</a:t>
                      </a:r>
                    </a:p>
                  </a:txBody>
                  <a:tcPr marL="54864" marR="54864" marT="13716" marB="13716" anchor="ctr">
                    <a:solidFill>
                      <a:srgbClr val="FFFFFF"/>
                    </a:solidFill>
                  </a:tcPr>
                </a:tc>
              </a:tr>
              <a:tr h="347472">
                <a:tc>
                  <a:txBody>
                    <a:bodyPr/>
                    <a:lstStyle/>
                    <a:p>
                      <a:pPr algn="l">
                        <a:defRPr sz="740" b="0">
                          <a:solidFill>
                            <a:srgbClr val="4A4D55"/>
                          </a:solidFill>
                          <a:latin typeface="Poppins"/>
                        </a:defRPr>
                      </a:pPr>
                      <a:r>
                        <a:t>Basis risk</a:t>
                      </a:r>
                    </a:p>
                  </a:txBody>
                  <a:tcPr marL="54864" marR="54864" marT="13716" marB="13716" anchor="ctr">
                    <a:solidFill>
                      <a:srgbClr val="FFFFFF"/>
                    </a:solidFill>
                  </a:tcPr>
                </a:tc>
                <a:tc>
                  <a:txBody>
                    <a:bodyPr/>
                    <a:lstStyle/>
                    <a:p>
                      <a:pPr algn="r">
                        <a:defRPr sz="740" b="0">
                          <a:solidFill>
                            <a:srgbClr val="4A4D55"/>
                          </a:solidFill>
                          <a:latin typeface="Poppins"/>
                        </a:defRPr>
                      </a:pPr>
                      <a:r>
                        <a:t>Landed overlay vs ACG actual invoice: difference &lt; 2.5%</a:t>
                      </a:r>
                    </a:p>
                  </a:txBody>
                  <a:tcPr marL="54864" marR="54864" marT="13716" marB="13716" anchor="ctr">
                    <a:solidFill>
                      <a:srgbClr val="FFFFFF"/>
                    </a:solidFill>
                  </a:tcPr>
                </a:tc>
              </a:tr>
              <a:tr h="347472">
                <a:tc>
                  <a:txBody>
                    <a:bodyPr/>
                    <a:lstStyle/>
                    <a:p>
                      <a:pPr algn="l">
                        <a:defRPr sz="740" b="0">
                          <a:solidFill>
                            <a:srgbClr val="4A4D55"/>
                          </a:solidFill>
                          <a:latin typeface="Poppins"/>
                        </a:defRPr>
                      </a:pPr>
                      <a:r>
                        <a:t>Shadow value</a:t>
                      </a:r>
                    </a:p>
                  </a:txBody>
                  <a:tcPr marL="54864" marR="54864" marT="13716" marB="13716" anchor="ctr">
                    <a:solidFill>
                      <a:srgbClr val="FFFFFF"/>
                    </a:solidFill>
                  </a:tcPr>
                </a:tc>
                <a:tc>
                  <a:txBody>
                    <a:bodyPr/>
                    <a:lstStyle/>
                    <a:p>
                      <a:pPr algn="r">
                        <a:defRPr sz="740" b="0">
                          <a:solidFill>
                            <a:srgbClr val="4A4D55"/>
                          </a:solidFill>
                          <a:latin typeface="Poppins"/>
                        </a:defRPr>
                      </a:pPr>
                      <a:r>
                        <a:t>Signals beat random timing (permutation p &lt; 0.10), net saving &gt; 0 after carry</a:t>
                      </a:r>
                    </a:p>
                  </a:txBody>
                  <a:tcPr marL="54864" marR="54864" marT="13716" marB="13716" anchor="ctr">
                    <a:solidFill>
                      <a:srgbClr val="FFFFFF"/>
                    </a:solidFill>
                  </a:tcPr>
                </a:tc>
              </a:tr>
              <a:tr h="347472">
                <a:tc>
                  <a:txBody>
                    <a:bodyPr/>
                    <a:lstStyle/>
                    <a:p>
                      <a:pPr algn="l">
                        <a:defRPr sz="740" b="0">
                          <a:solidFill>
                            <a:srgbClr val="4A4D55"/>
                          </a:solidFill>
                          <a:latin typeface="Poppins"/>
                        </a:defRPr>
                      </a:pPr>
                      <a:r>
                        <a:t>Buyer trust</a:t>
                      </a:r>
                    </a:p>
                  </a:txBody>
                  <a:tcPr marL="54864" marR="54864" marT="13716" marB="13716" anchor="ctr">
                    <a:solidFill>
                      <a:srgbClr val="FFFFFF"/>
                    </a:solidFill>
                  </a:tcPr>
                </a:tc>
                <a:tc>
                  <a:txBody>
                    <a:bodyPr/>
                    <a:lstStyle/>
                    <a:p>
                      <a:pPr algn="r">
                        <a:defRPr sz="740" b="0">
                          <a:solidFill>
                            <a:srgbClr val="4A4D55"/>
                          </a:solidFill>
                          <a:latin typeface="Poppins"/>
                        </a:defRPr>
                      </a:pPr>
                      <a:r>
                        <a:t>≥ 80% buyer agreement on driver explanations &amp; signals</a:t>
                      </a:r>
                    </a:p>
                  </a:txBody>
                  <a:tcPr marL="54864" marR="54864" marT="13716" marB="13716" anchor="ctr">
                    <a:solidFill>
                      <a:srgbClr val="FFFFFF"/>
                    </a:solidFill>
                  </a:tcPr>
                </a:tc>
              </a:tr>
            </a:tbl>
          </a:graphicData>
        </a:graphic>
      </p:graphicFrame>
      <p:sp>
        <p:nvSpPr>
          <p:cNvPr id="38" name="TextBox 37"/>
          <p:cNvSpPr txBox="1"/>
          <p:nvPr/>
        </p:nvSpPr>
        <p:spPr>
          <a:xfrm>
            <a:off x="6263640" y="388620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Fail-safe kill switches (automated stop criteria)</a:t>
            </a:r>
          </a:p>
        </p:txBody>
      </p:sp>
      <p:graphicFrame>
        <p:nvGraphicFramePr>
          <p:cNvPr id="39" name="Table 38"/>
          <p:cNvGraphicFramePr>
            <a:graphicFrameLocks noGrp="1"/>
          </p:cNvGraphicFramePr>
          <p:nvPr/>
        </p:nvGraphicFramePr>
        <p:xfrm>
          <a:off x="6263640" y="4160520"/>
          <a:ext cx="5440680" cy="1389888"/>
        </p:xfrm>
        <a:graphic>
          <a:graphicData uri="http://schemas.openxmlformats.org/drawingml/2006/table">
            <a:tbl>
              <a:tblPr>
                <a:tableStyleId>{5C22544A-7EE6-4342-B048-85BDC9FD1C3A}</a:tableStyleId>
              </a:tblPr>
              <a:tblGrid>
                <a:gridCol w="1371600"/>
                <a:gridCol w="4069080"/>
              </a:tblGrid>
              <a:tr h="237744">
                <a:tc>
                  <a:txBody>
                    <a:bodyPr/>
                    <a:lstStyle/>
                    <a:p>
                      <a:pPr algn="l">
                        <a:defRPr sz="680" b="1">
                          <a:solidFill>
                            <a:srgbClr val="FFFFFF"/>
                          </a:solidFill>
                          <a:latin typeface="Poppins"/>
                        </a:defRPr>
                      </a:pPr>
                      <a:r>
                        <a:t>Trigger</a:t>
                      </a:r>
                    </a:p>
                  </a:txBody>
                  <a:tcPr marL="54864" marR="54864" marT="18288" marB="18288" anchor="ctr">
                    <a:solidFill>
                      <a:srgbClr val="C8102E"/>
                    </a:solidFill>
                  </a:tcPr>
                </a:tc>
                <a:tc>
                  <a:txBody>
                    <a:bodyPr/>
                    <a:lstStyle/>
                    <a:p>
                      <a:pPr algn="r">
                        <a:defRPr sz="680" b="1">
                          <a:solidFill>
                            <a:srgbClr val="FFFFFF"/>
                          </a:solidFill>
                          <a:latin typeface="Poppins"/>
                        </a:defRPr>
                      </a:pPr>
                      <a:r>
                        <a:t>Automated Action</a:t>
                      </a:r>
                    </a:p>
                  </a:txBody>
                  <a:tcPr marL="54864" marR="54864" marT="18288" marB="18288" anchor="ctr">
                    <a:solidFill>
                      <a:srgbClr val="C8102E"/>
                    </a:solidFill>
                  </a:tcPr>
                </a:tc>
              </a:tr>
              <a:tr h="384048">
                <a:tc>
                  <a:txBody>
                    <a:bodyPr/>
                    <a:lstStyle/>
                    <a:p>
                      <a:pPr algn="l">
                        <a:defRPr sz="720" b="0">
                          <a:solidFill>
                            <a:srgbClr val="4A4D55"/>
                          </a:solidFill>
                          <a:latin typeface="Poppins"/>
                        </a:defRPr>
                      </a:pPr>
                      <a:r>
                        <a:t>Accuracy failure</a:t>
                      </a:r>
                    </a:p>
                  </a:txBody>
                  <a:tcPr marL="54864" marR="54864" marT="13716" marB="13716" anchor="ctr">
                    <a:solidFill>
                      <a:srgbClr val="FFFFFF"/>
                    </a:solidFill>
                  </a:tcPr>
                </a:tc>
                <a:tc>
                  <a:txBody>
                    <a:bodyPr/>
                    <a:lstStyle/>
                    <a:p>
                      <a:pPr algn="r">
                        <a:defRPr sz="720" b="0">
                          <a:solidFill>
                            <a:srgbClr val="4A4D55"/>
                          </a:solidFill>
                          <a:latin typeface="Poppins"/>
                        </a:defRPr>
                      </a:pPr>
                      <a:r>
                        <a:t>Model MAPE &gt; naïve for 2 consecutive months → freeze signals, revert to baseline buying</a:t>
                      </a:r>
                    </a:p>
                  </a:txBody>
                  <a:tcPr marL="54864" marR="54864" marT="13716" marB="13716" anchor="ctr">
                    <a:solidFill>
                      <a:srgbClr val="FFFFFF"/>
                    </a:solidFill>
                  </a:tcPr>
                </a:tc>
              </a:tr>
              <a:tr h="384048">
                <a:tc>
                  <a:txBody>
                    <a:bodyPr/>
                    <a:lstStyle/>
                    <a:p>
                      <a:pPr algn="l">
                        <a:defRPr sz="720" b="0">
                          <a:solidFill>
                            <a:srgbClr val="4A4D55"/>
                          </a:solidFill>
                          <a:latin typeface="Poppins"/>
                        </a:defRPr>
                      </a:pPr>
                      <a:r>
                        <a:t>Basis divergence</a:t>
                      </a:r>
                    </a:p>
                  </a:txBody>
                  <a:tcPr marL="54864" marR="54864" marT="13716" marB="13716" anchor="ctr">
                    <a:solidFill>
                      <a:srgbClr val="FFFFFF"/>
                    </a:solidFill>
                  </a:tcPr>
                </a:tc>
                <a:tc>
                  <a:txBody>
                    <a:bodyPr/>
                    <a:lstStyle/>
                    <a:p>
                      <a:pPr algn="r">
                        <a:defRPr sz="720" b="0">
                          <a:solidFill>
                            <a:srgbClr val="4A4D55"/>
                          </a:solidFill>
                          <a:latin typeface="Poppins"/>
                        </a:defRPr>
                      </a:pPr>
                      <a:r>
                        <a:t>Supplier quotes diverge &gt; 5% from overlay → pause and recalibrate before resuming</a:t>
                      </a:r>
                    </a:p>
                  </a:txBody>
                  <a:tcPr marL="54864" marR="54864" marT="13716" marB="13716" anchor="ctr">
                    <a:solidFill>
                      <a:srgbClr val="FFFFFF"/>
                    </a:solidFill>
                  </a:tcPr>
                </a:tc>
              </a:tr>
              <a:tr h="384048">
                <a:tc>
                  <a:txBody>
                    <a:bodyPr/>
                    <a:lstStyle/>
                    <a:p>
                      <a:pPr algn="l">
                        <a:defRPr sz="720" b="0">
                          <a:solidFill>
                            <a:srgbClr val="4A4D55"/>
                          </a:solidFill>
                          <a:latin typeface="Poppins"/>
                        </a:defRPr>
                      </a:pPr>
                      <a:r>
                        <a:t>Regime break</a:t>
                      </a:r>
                    </a:p>
                  </a:txBody>
                  <a:tcPr marL="54864" marR="54864" marT="13716" marB="13716" anchor="ctr">
                    <a:solidFill>
                      <a:srgbClr val="FFFFFF"/>
                    </a:solidFill>
                  </a:tcPr>
                </a:tc>
                <a:tc>
                  <a:txBody>
                    <a:bodyPr/>
                    <a:lstStyle/>
                    <a:p>
                      <a:pPr algn="r">
                        <a:defRPr sz="720" b="0">
                          <a:solidFill>
                            <a:srgbClr val="4A4D55"/>
                          </a:solidFill>
                          <a:latin typeface="Poppins"/>
                        </a:defRPr>
                      </a:pPr>
                      <a:r>
                        <a:t>Band coverage drops &lt; 50% → force all signals to BUY NORMAL (capital preservation mode)</a:t>
                      </a:r>
                    </a:p>
                  </a:txBody>
                  <a:tcPr marL="54864" marR="54864" marT="13716" marB="13716" anchor="ctr">
                    <a:solidFill>
                      <a:srgbClr val="FFFFFF"/>
                    </a:solidFill>
                  </a:tcPr>
                </a:tc>
              </a:tr>
            </a:tbl>
          </a:graphicData>
        </a:graphic>
      </p:graphicFrame>
      <p:sp>
        <p:nvSpPr>
          <p:cNvPr id="40" name="TextBox 39"/>
          <p:cNvSpPr txBox="1"/>
          <p:nvPr/>
        </p:nvSpPr>
        <p:spPr>
          <a:xfrm>
            <a:off x="6263640" y="5715000"/>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Poppins"/>
              </a:defRPr>
            </a:pPr>
            <a:r>
              <a:t>ERP Integration: Shadow pilot operates out-of-band with zero systems risk. Requisition hook into SAP is activated only after Month 4 executive review passes all 4 gates.</a:t>
            </a:r>
          </a:p>
        </p:txBody>
      </p:sp>
      <p:sp>
        <p:nvSpPr>
          <p:cNvPr id="41" name="TextBox 40"/>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Governance: Phased 90-day shadow pilot with zero capital outlay. Live buyer decisions remain unchanged while shadow savings are benchmarked.</a:t>
            </a:r>
          </a:p>
        </p:txBody>
      </p:sp>
      <p:sp>
        <p:nvSpPr>
          <p:cNvPr id="42" name="TextBox 41"/>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9" name="TextBox 8"/>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0" name="Rounded Rectangle 9"/>
          <p:cNvSpPr/>
          <p:nvPr/>
        </p:nvSpPr>
        <p:spPr>
          <a:xfrm>
            <a:off x="10118227"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5  ·  R I S K S   &amp;   R O A D M A P</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Landed-cost model defense, residual risk mitigations, scaling roadmap, and leadership ask</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Landed-cost bridge: global index → ACG gate</a:t>
            </a:r>
          </a:p>
        </p:txBody>
      </p:sp>
      <p:sp>
        <p:nvSpPr>
          <p:cNvPr id="15" name="Rectangle 14"/>
          <p:cNvSpPr/>
          <p:nvPr/>
        </p:nvSpPr>
        <p:spPr>
          <a:xfrm>
            <a:off x="502920" y="2057400"/>
            <a:ext cx="5394960" cy="14173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48840"/>
            <a:ext cx="5120640" cy="1234440"/>
          </a:xfrm>
          <a:prstGeom prst="rect">
            <a:avLst/>
          </a:prstGeom>
          <a:noFill/>
        </p:spPr>
        <p:txBody>
          <a:bodyPr wrap="square" lIns="0" rIns="0" tIns="0" bIns="0">
            <a:spAutoFit/>
          </a:bodyPr>
          <a:lstStyle/>
          <a:p>
            <a:pPr algn="l">
              <a:lnSpc>
                <a:spcPct val="128000"/>
              </a:lnSpc>
              <a:defRPr sz="760" b="0" i="0">
                <a:solidFill>
                  <a:srgbClr val="4A4D55"/>
                </a:solidFill>
                <a:latin typeface="Poppins"/>
              </a:defRPr>
            </a:pPr>
            <a:r>
              <a:t>Global benchmark (LME Aluminium / Asia CFR PVC in US$)</a:t>
            </a:r>
          </a:p>
          <a:p>
            <a:pPr algn="l">
              <a:lnSpc>
                <a:spcPct val="128000"/>
              </a:lnSpc>
              <a:defRPr sz="760" b="0" i="0">
                <a:solidFill>
                  <a:srgbClr val="4A4D55"/>
                </a:solidFill>
                <a:latin typeface="Poppins"/>
              </a:defRPr>
            </a:pPr>
            <a:r>
              <a:t xml:space="preserve">  + Ocean freight and bunker surcharges (Nhava Sheva / Mundra)</a:t>
            </a:r>
          </a:p>
          <a:p>
            <a:pPr algn="l">
              <a:lnSpc>
                <a:spcPct val="128000"/>
              </a:lnSpc>
              <a:defRPr sz="760" b="0" i="0">
                <a:solidFill>
                  <a:srgbClr val="4A4D55"/>
                </a:solidFill>
                <a:latin typeface="Poppins"/>
              </a:defRPr>
            </a:pPr>
            <a:r>
              <a:t xml:space="preserve">  + Material grade premium (pharma blister 8011 foil / suspension PVC)</a:t>
            </a:r>
          </a:p>
          <a:p>
            <a:pPr algn="l">
              <a:lnSpc>
                <a:spcPct val="128000"/>
              </a:lnSpc>
              <a:defRPr sz="760" b="0" i="0">
                <a:solidFill>
                  <a:srgbClr val="4A4D55"/>
                </a:solidFill>
                <a:latin typeface="Poppins"/>
              </a:defRPr>
            </a:pPr>
            <a:r>
              <a:t xml:space="preserve">  × (1 + Basic Customs Duty 7.5–10%) × (1 + SWS 10%) + ADD</a:t>
            </a:r>
          </a:p>
          <a:p>
            <a:pPr algn="l">
              <a:lnSpc>
                <a:spcPct val="128000"/>
              </a:lnSpc>
              <a:defRPr sz="760" b="0" i="0">
                <a:solidFill>
                  <a:srgbClr val="4A4D55"/>
                </a:solidFill>
                <a:latin typeface="Poppins"/>
              </a:defRPr>
            </a:pPr>
            <a:r>
              <a:t xml:space="preserve">  × USD/INR (same-month, one-for-one pass-through; H4)</a:t>
            </a:r>
          </a:p>
          <a:p>
            <a:pPr algn="l">
              <a:lnSpc>
                <a:spcPct val="128000"/>
              </a:lnSpc>
              <a:defRPr sz="760" b="0" i="0">
                <a:solidFill>
                  <a:srgbClr val="4A4D55"/>
                </a:solidFill>
                <a:latin typeface="Poppins"/>
              </a:defRPr>
            </a:pPr>
            <a:r>
              <a:t xml:space="preserve">  + Port handling, clearance and domestic plant delivery</a:t>
            </a:r>
          </a:p>
          <a:p>
            <a:pPr algn="l">
              <a:lnSpc>
                <a:spcPct val="128000"/>
              </a:lnSpc>
              <a:defRPr sz="760" b="0" i="0">
                <a:solidFill>
                  <a:srgbClr val="4A4D55"/>
                </a:solidFill>
                <a:latin typeface="Poppins"/>
              </a:defRPr>
            </a:pPr>
            <a:r>
              <a:t xml:space="preserve">  = ACG landed cost in ₹/MT</a:t>
            </a:r>
          </a:p>
        </p:txBody>
      </p:sp>
      <p:sp>
        <p:nvSpPr>
          <p:cNvPr id="17" name="TextBox 16"/>
          <p:cNvSpPr txBox="1"/>
          <p:nvPr/>
        </p:nvSpPr>
        <p:spPr>
          <a:xfrm>
            <a:off x="502920" y="36118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Why the bridge is defensible</a:t>
            </a:r>
          </a:p>
        </p:txBody>
      </p:sp>
      <p:sp>
        <p:nvSpPr>
          <p:cNvPr id="18" name="TextBox 17"/>
          <p:cNvSpPr txBox="1"/>
          <p:nvPr/>
        </p:nvSpPr>
        <p:spPr>
          <a:xfrm>
            <a:off x="502920" y="3858768"/>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Poppins"/>
              </a:defRPr>
            </a:pPr>
            <a:r>
              <a:t>•</a:t>
            </a:r>
          </a:p>
        </p:txBody>
      </p:sp>
      <p:sp>
        <p:nvSpPr>
          <p:cNvPr id="19" name="TextBox 18"/>
          <p:cNvSpPr txBox="1"/>
          <p:nvPr/>
        </p:nvSpPr>
        <p:spPr>
          <a:xfrm>
            <a:off x="621792" y="3858768"/>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Import Parity Pricing (IPP): Domestic producers (Hindalco, Reliance) price strictly on import parity; when global index, freight or tariffs move, domestic list prices adjust within days.</a:t>
            </a:r>
          </a:p>
        </p:txBody>
      </p:sp>
      <p:sp>
        <p:nvSpPr>
          <p:cNvPr id="20" name="TextBox 19"/>
          <p:cNvSpPr txBox="1"/>
          <p:nvPr/>
        </p:nvSpPr>
        <p:spPr>
          <a:xfrm>
            <a:off x="502920" y="4206240"/>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Poppins"/>
              </a:defRPr>
            </a:pPr>
            <a:r>
              <a:t>•</a:t>
            </a:r>
          </a:p>
        </p:txBody>
      </p:sp>
      <p:sp>
        <p:nvSpPr>
          <p:cNvPr id="21" name="TextBox 20"/>
          <p:cNvSpPr txBox="1"/>
          <p:nvPr/>
        </p:nvSpPr>
        <p:spPr>
          <a:xfrm>
            <a:off x="621792" y="4206240"/>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Contemporaneous FX (H4): pass-through is one-for-one by construction; FX is ~1% of aluminium's monthly rupee-price variance and ~36% for the PVC index.</a:t>
            </a:r>
          </a:p>
        </p:txBody>
      </p:sp>
      <p:sp>
        <p:nvSpPr>
          <p:cNvPr id="22" name="TextBox 21"/>
          <p:cNvSpPr txBox="1"/>
          <p:nvPr/>
        </p:nvSpPr>
        <p:spPr>
          <a:xfrm>
            <a:off x="502920" y="4553712"/>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Poppins"/>
              </a:defRPr>
            </a:pPr>
            <a:r>
              <a:t>•</a:t>
            </a:r>
          </a:p>
        </p:txBody>
      </p:sp>
      <p:sp>
        <p:nvSpPr>
          <p:cNvPr id="23" name="TextBox 22"/>
          <p:cNvSpPr txBox="1"/>
          <p:nvPr/>
        </p:nvSpPr>
        <p:spPr>
          <a:xfrm>
            <a:off x="621792" y="4553712"/>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Protectionist Tariffs: BCD and Anti-Dumping Duties on PVC imports establish a structural domestic price floor.</a:t>
            </a:r>
          </a:p>
        </p:txBody>
      </p:sp>
      <p:sp>
        <p:nvSpPr>
          <p:cNvPr id="24" name="TextBox 23"/>
          <p:cNvSpPr txBox="1"/>
          <p:nvPr/>
        </p:nvSpPr>
        <p:spPr>
          <a:xfrm>
            <a:off x="502920" y="4901183"/>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Poppins"/>
              </a:defRPr>
            </a:pPr>
            <a:r>
              <a:t>•</a:t>
            </a:r>
          </a:p>
        </p:txBody>
      </p:sp>
      <p:sp>
        <p:nvSpPr>
          <p:cNvPr id="25" name="TextBox 24"/>
          <p:cNvSpPr txBox="1"/>
          <p:nvPr/>
        </p:nvSpPr>
        <p:spPr>
          <a:xfrm>
            <a:off x="621792" y="4901183"/>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Local basis is measured, not assumed: the gap between global index and ACG's price is fitted on ACG PO history in Phase 1.</a:t>
            </a:r>
          </a:p>
        </p:txBody>
      </p:sp>
      <p:sp>
        <p:nvSpPr>
          <p:cNvPr id="26" name="TextBox 2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Residual risks we carry &amp; proactive mitigations</a:t>
            </a:r>
          </a:p>
        </p:txBody>
      </p:sp>
      <p:graphicFrame>
        <p:nvGraphicFramePr>
          <p:cNvPr id="27" name="Table 26"/>
          <p:cNvGraphicFramePr>
            <a:graphicFrameLocks noGrp="1"/>
          </p:cNvGraphicFramePr>
          <p:nvPr/>
        </p:nvGraphicFramePr>
        <p:xfrm>
          <a:off x="6263640" y="2057400"/>
          <a:ext cx="5440680" cy="1517904"/>
        </p:xfrm>
        <a:graphic>
          <a:graphicData uri="http://schemas.openxmlformats.org/drawingml/2006/table">
            <a:tbl>
              <a:tblPr>
                <a:tableStyleId>{5C22544A-7EE6-4342-B048-85BDC9FD1C3A}</a:tableStyleId>
              </a:tblPr>
              <a:tblGrid>
                <a:gridCol w="1234440"/>
                <a:gridCol w="1554480"/>
                <a:gridCol w="2651760"/>
              </a:tblGrid>
              <a:tr h="237744">
                <a:tc>
                  <a:txBody>
                    <a:bodyPr/>
                    <a:lstStyle/>
                    <a:p>
                      <a:pPr algn="l">
                        <a:defRPr sz="660" b="1">
                          <a:solidFill>
                            <a:srgbClr val="FFFFFF"/>
                          </a:solidFill>
                          <a:latin typeface="Poppins"/>
                        </a:defRPr>
                      </a:pPr>
                      <a:r>
                        <a:t>Risk</a:t>
                      </a:r>
                    </a:p>
                  </a:txBody>
                  <a:tcPr marL="54864" marR="54864" marT="18288" marB="18288" anchor="ctr">
                    <a:solidFill>
                      <a:srgbClr val="C8102E"/>
                    </a:solidFill>
                  </a:tcPr>
                </a:tc>
                <a:tc>
                  <a:txBody>
                    <a:bodyPr/>
                    <a:lstStyle/>
                    <a:p>
                      <a:pPr algn="l">
                        <a:defRPr sz="660" b="1">
                          <a:solidFill>
                            <a:srgbClr val="FFFFFF"/>
                          </a:solidFill>
                          <a:latin typeface="Poppins"/>
                        </a:defRPr>
                      </a:pPr>
                      <a:r>
                        <a:t>Current State</a:t>
                      </a:r>
                    </a:p>
                  </a:txBody>
                  <a:tcPr marL="54864" marR="54864" marT="18288" marB="18288" anchor="ctr">
                    <a:solidFill>
                      <a:srgbClr val="C8102E"/>
                    </a:solidFill>
                  </a:tcPr>
                </a:tc>
                <a:tc>
                  <a:txBody>
                    <a:bodyPr/>
                    <a:lstStyle/>
                    <a:p>
                      <a:pPr algn="r">
                        <a:defRPr sz="660" b="1">
                          <a:solidFill>
                            <a:srgbClr val="FFFFFF"/>
                          </a:solidFill>
                          <a:latin typeface="Poppins"/>
                        </a:defRPr>
                      </a:pPr>
                      <a:r>
                        <a:t>Mitigation</a:t>
                      </a:r>
                    </a:p>
                  </a:txBody>
                  <a:tcPr marL="54864" marR="54864" marT="18288" marB="18288" anchor="ctr">
                    <a:solidFill>
                      <a:srgbClr val="C8102E"/>
                    </a:solidFill>
                  </a:tcPr>
                </a:tc>
              </a:tr>
              <a:tr h="320040">
                <a:tc>
                  <a:txBody>
                    <a:bodyPr/>
                    <a:lstStyle/>
                    <a:p>
                      <a:pPr algn="l">
                        <a:defRPr sz="680" b="0">
                          <a:solidFill>
                            <a:srgbClr val="4A4D55"/>
                          </a:solidFill>
                          <a:latin typeface="Poppins"/>
                        </a:defRPr>
                      </a:pPr>
                      <a:r>
                        <a:t>PVC proxy quality</a:t>
                      </a:r>
                    </a:p>
                  </a:txBody>
                  <a:tcPr marL="54864" marR="54864" marT="13716" marB="13716" anchor="ctr">
                    <a:solidFill>
                      <a:srgbClr val="FFFFFF"/>
                    </a:solidFill>
                  </a:tcPr>
                </a:tc>
                <a:tc>
                  <a:txBody>
                    <a:bodyPr/>
                    <a:lstStyle/>
                    <a:p>
                      <a:pPr algn="l">
                        <a:defRPr sz="680" b="0">
                          <a:solidFill>
                            <a:srgbClr val="4A4D55"/>
                          </a:solidFill>
                          <a:latin typeface="Poppins"/>
                        </a:defRPr>
                      </a:pPr>
                      <a:r>
                        <a:t>Real US PPI; no free Asian spot</a:t>
                      </a:r>
                    </a:p>
                  </a:txBody>
                  <a:tcPr marL="54864" marR="54864" marT="13716" marB="13716" anchor="ctr">
                    <a:solidFill>
                      <a:srgbClr val="FFFFFF"/>
                    </a:solidFill>
                  </a:tcPr>
                </a:tc>
                <a:tc>
                  <a:txBody>
                    <a:bodyPr/>
                    <a:lstStyle/>
                    <a:p>
                      <a:pPr algn="r">
                        <a:defRPr sz="680" b="0">
                          <a:solidFill>
                            <a:srgbClr val="4A4D55"/>
                          </a:solidFill>
                          <a:latin typeface="Poppins"/>
                        </a:defRPr>
                      </a:pPr>
                      <a:r>
                        <a:t>Licensed Asian feed; overlay fitted on ACG POs</a:t>
                      </a:r>
                    </a:p>
                  </a:txBody>
                  <a:tcPr marL="54864" marR="54864" marT="13716" marB="13716" anchor="ctr">
                    <a:solidFill>
                      <a:srgbClr val="FFFFFF"/>
                    </a:solidFill>
                  </a:tcPr>
                </a:tc>
              </a:tr>
              <a:tr h="320040">
                <a:tc>
                  <a:txBody>
                    <a:bodyPr/>
                    <a:lstStyle/>
                    <a:p>
                      <a:pPr algn="l">
                        <a:defRPr sz="680" b="0">
                          <a:solidFill>
                            <a:srgbClr val="4A4D55"/>
                          </a:solidFill>
                          <a:latin typeface="Poppins"/>
                        </a:defRPr>
                      </a:pPr>
                      <a:r>
                        <a:t>Band under-coverage</a:t>
                      </a:r>
                    </a:p>
                  </a:txBody>
                  <a:tcPr marL="54864" marR="54864" marT="13716" marB="13716" anchor="ctr">
                    <a:solidFill>
                      <a:srgbClr val="FFFFFF"/>
                    </a:solidFill>
                  </a:tcPr>
                </a:tc>
                <a:tc>
                  <a:txBody>
                    <a:bodyPr/>
                    <a:lstStyle/>
                    <a:p>
                      <a:pPr algn="l">
                        <a:defRPr sz="680" b="0">
                          <a:solidFill>
                            <a:srgbClr val="4A4D55"/>
                          </a:solidFill>
                          <a:latin typeface="Poppins"/>
                        </a:defRPr>
                      </a:pPr>
                      <a:r>
                        <a:t>64–78% vs 75–85% gate</a:t>
                      </a:r>
                    </a:p>
                  </a:txBody>
                  <a:tcPr marL="54864" marR="54864" marT="13716" marB="13716" anchor="ctr">
                    <a:solidFill>
                      <a:srgbClr val="FFFFFF"/>
                    </a:solidFill>
                  </a:tcPr>
                </a:tc>
                <a:tc>
                  <a:txBody>
                    <a:bodyPr/>
                    <a:lstStyle/>
                    <a:p>
                      <a:pPr algn="r">
                        <a:defRPr sz="680" b="0">
                          <a:solidFill>
                            <a:srgbClr val="4A4D55"/>
                          </a:solidFill>
                          <a:latin typeface="Poppins"/>
                        </a:defRPr>
                      </a:pPr>
                      <a:r>
                        <a:t>Regime-aware conformal; widen bands in shocks</a:t>
                      </a:r>
                    </a:p>
                  </a:txBody>
                  <a:tcPr marL="54864" marR="54864" marT="13716" marB="13716" anchor="ctr">
                    <a:solidFill>
                      <a:srgbClr val="FFFFFF"/>
                    </a:solidFill>
                  </a:tcPr>
                </a:tc>
              </a:tr>
              <a:tr h="320040">
                <a:tc>
                  <a:txBody>
                    <a:bodyPr/>
                    <a:lstStyle/>
                    <a:p>
                      <a:pPr algn="l">
                        <a:defRPr sz="680" b="0">
                          <a:solidFill>
                            <a:srgbClr val="4A4D55"/>
                          </a:solidFill>
                          <a:latin typeface="Poppins"/>
                        </a:defRPr>
                      </a:pPr>
                      <a:r>
                        <a:t>Stale public data</a:t>
                      </a:r>
                    </a:p>
                  </a:txBody>
                  <a:tcPr marL="54864" marR="54864" marT="13716" marB="13716" anchor="ctr">
                    <a:solidFill>
                      <a:srgbClr val="FFFFFF"/>
                    </a:solidFill>
                  </a:tcPr>
                </a:tc>
                <a:tc>
                  <a:txBody>
                    <a:bodyPr/>
                    <a:lstStyle/>
                    <a:p>
                      <a:pPr algn="l">
                        <a:defRPr sz="680" b="0">
                          <a:solidFill>
                            <a:srgbClr val="4A4D55"/>
                          </a:solidFill>
                          <a:latin typeface="Poppins"/>
                        </a:defRPr>
                      </a:pPr>
                      <a:r>
                        <a:t>Pink Sheet file ends Dec 2024</a:t>
                      </a:r>
                    </a:p>
                  </a:txBody>
                  <a:tcPr marL="54864" marR="54864" marT="13716" marB="13716" anchor="ctr">
                    <a:solidFill>
                      <a:srgbClr val="FFFFFF"/>
                    </a:solidFill>
                  </a:tcPr>
                </a:tc>
                <a:tc>
                  <a:txBody>
                    <a:bodyPr/>
                    <a:lstStyle/>
                    <a:p>
                      <a:pPr algn="r">
                        <a:defRPr sz="680" b="0">
                          <a:solidFill>
                            <a:srgbClr val="4A4D55"/>
                          </a:solidFill>
                          <a:latin typeface="Poppins"/>
                        </a:defRPr>
                      </a:pPr>
                      <a:r>
                        <a:t>Monthly refresh job; stale-input warnings live</a:t>
                      </a:r>
                    </a:p>
                  </a:txBody>
                  <a:tcPr marL="54864" marR="54864" marT="13716" marB="13716" anchor="ctr">
                    <a:solidFill>
                      <a:srgbClr val="FFFFFF"/>
                    </a:solidFill>
                  </a:tcPr>
                </a:tc>
              </a:tr>
              <a:tr h="320040">
                <a:tc>
                  <a:txBody>
                    <a:bodyPr/>
                    <a:lstStyle/>
                    <a:p>
                      <a:pPr algn="l">
                        <a:defRPr sz="680" b="0">
                          <a:solidFill>
                            <a:srgbClr val="4A4D55"/>
                          </a:solidFill>
                          <a:latin typeface="Poppins"/>
                        </a:defRPr>
                      </a:pPr>
                      <a:r>
                        <a:t>Regime breaks</a:t>
                      </a:r>
                    </a:p>
                  </a:txBody>
                  <a:tcPr marL="54864" marR="54864" marT="13716" marB="13716" anchor="ctr">
                    <a:solidFill>
                      <a:srgbClr val="FFFFFF"/>
                    </a:solidFill>
                  </a:tcPr>
                </a:tc>
                <a:tc>
                  <a:txBody>
                    <a:bodyPr/>
                    <a:lstStyle/>
                    <a:p>
                      <a:pPr algn="l">
                        <a:defRPr sz="680" b="0">
                          <a:solidFill>
                            <a:srgbClr val="4A4D55"/>
                          </a:solidFill>
                          <a:latin typeface="Poppins"/>
                        </a:defRPr>
                      </a:pPr>
                      <a:r>
                        <a:t>Coverage 42–67% in shocks</a:t>
                      </a:r>
                    </a:p>
                  </a:txBody>
                  <a:tcPr marL="54864" marR="54864" marT="13716" marB="13716" anchor="ctr">
                    <a:solidFill>
                      <a:srgbClr val="FFFFFF"/>
                    </a:solidFill>
                  </a:tcPr>
                </a:tc>
                <a:tc>
                  <a:txBody>
                    <a:bodyPr/>
                    <a:lstStyle/>
                    <a:p>
                      <a:pPr algn="r">
                        <a:defRPr sz="680" b="0">
                          <a:solidFill>
                            <a:srgbClr val="4A4D55"/>
                          </a:solidFill>
                          <a:latin typeface="Poppins"/>
                        </a:defRPr>
                      </a:pPr>
                      <a:r>
                        <a:t>Kill-switch forces BUY NORMAL (capital preservation)</a:t>
                      </a:r>
                    </a:p>
                  </a:txBody>
                  <a:tcPr marL="54864" marR="54864" marT="13716" marB="13716" anchor="ctr">
                    <a:solidFill>
                      <a:srgbClr val="FFFFFF"/>
                    </a:solidFill>
                  </a:tcPr>
                </a:tc>
              </a:tr>
            </a:tbl>
          </a:graphicData>
        </a:graphic>
      </p:graphicFrame>
      <p:sp>
        <p:nvSpPr>
          <p:cNvPr id="28" name="TextBox 27"/>
          <p:cNvSpPr txBox="1"/>
          <p:nvPr/>
        </p:nvSpPr>
        <p:spPr>
          <a:xfrm>
            <a:off x="6263640" y="37033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Post-pilot scalability roadmap</a:t>
            </a:r>
          </a:p>
        </p:txBody>
      </p:sp>
      <p:sp>
        <p:nvSpPr>
          <p:cNvPr id="29" name="Rectangle 28"/>
          <p:cNvSpPr/>
          <p:nvPr/>
        </p:nvSpPr>
        <p:spPr>
          <a:xfrm>
            <a:off x="6263640" y="3977639"/>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82512" y="3995927"/>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Poppins"/>
              </a:defRPr>
            </a:pPr>
            <a:r>
              <a:t>Months 5–6</a:t>
            </a:r>
          </a:p>
        </p:txBody>
      </p:sp>
      <p:sp>
        <p:nvSpPr>
          <p:cNvPr id="31" name="TextBox 30"/>
          <p:cNvSpPr txBox="1"/>
          <p:nvPr/>
        </p:nvSpPr>
        <p:spPr>
          <a:xfrm>
            <a:off x="7406640" y="3995927"/>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Futures curve and licensed PVC feed</a:t>
            </a:r>
          </a:p>
        </p:txBody>
      </p:sp>
      <p:sp>
        <p:nvSpPr>
          <p:cNvPr id="32" name="TextBox 31"/>
          <p:cNvSpPr txBox="1"/>
          <p:nvPr/>
        </p:nvSpPr>
        <p:spPr>
          <a:xfrm>
            <a:off x="7406640" y="4178807"/>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Poppins"/>
              </a:defRPr>
            </a:pPr>
            <a:r>
              <a:t>Add LME/SHFE futures as baseline and feature; licensed Asian PVC price.</a:t>
            </a:r>
          </a:p>
        </p:txBody>
      </p:sp>
      <p:sp>
        <p:nvSpPr>
          <p:cNvPr id="33" name="Rectangle 32"/>
          <p:cNvSpPr/>
          <p:nvPr/>
        </p:nvSpPr>
        <p:spPr>
          <a:xfrm>
            <a:off x="6263640" y="4453127"/>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2512" y="4471415"/>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Poppins"/>
              </a:defRPr>
            </a:pPr>
            <a:r>
              <a:t>Months 7–9</a:t>
            </a:r>
          </a:p>
        </p:txBody>
      </p:sp>
      <p:sp>
        <p:nvSpPr>
          <p:cNvPr id="35" name="TextBox 34"/>
          <p:cNvSpPr txBox="1"/>
          <p:nvPr/>
        </p:nvSpPr>
        <p:spPr>
          <a:xfrm>
            <a:off x="7406640" y="4471415"/>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ERP Requisition Integration</a:t>
            </a:r>
          </a:p>
        </p:txBody>
      </p:sp>
      <p:sp>
        <p:nvSpPr>
          <p:cNvPr id="36" name="TextBox 35"/>
          <p:cNvSpPr txBox="1"/>
          <p:nvPr/>
        </p:nvSpPr>
        <p:spPr>
          <a:xfrm>
            <a:off x="7406640" y="4654295"/>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Poppins"/>
              </a:defRPr>
            </a:pPr>
            <a:r>
              <a:t>Direct API hook into SAP/Oracle purchase requisition creation.</a:t>
            </a:r>
          </a:p>
        </p:txBody>
      </p:sp>
      <p:sp>
        <p:nvSpPr>
          <p:cNvPr id="37" name="Rectangle 36"/>
          <p:cNvSpPr/>
          <p:nvPr/>
        </p:nvSpPr>
        <p:spPr>
          <a:xfrm>
            <a:off x="6263640" y="4928616"/>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82512" y="4946903"/>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Poppins"/>
              </a:defRPr>
            </a:pPr>
            <a:r>
              <a:t>Months 10+</a:t>
            </a:r>
          </a:p>
        </p:txBody>
      </p:sp>
      <p:sp>
        <p:nvSpPr>
          <p:cNvPr id="39" name="TextBox 38"/>
          <p:cNvSpPr txBox="1"/>
          <p:nvPr/>
        </p:nvSpPr>
        <p:spPr>
          <a:xfrm>
            <a:off x="7406640" y="4946903"/>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Expand Packaging Materials</a:t>
            </a:r>
          </a:p>
        </p:txBody>
      </p:sp>
      <p:sp>
        <p:nvSpPr>
          <p:cNvPr id="40" name="TextBox 39"/>
          <p:cNvSpPr txBox="1"/>
          <p:nvPr/>
        </p:nvSpPr>
        <p:spPr>
          <a:xfrm>
            <a:off x="7406640" y="5129783"/>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Poppins"/>
              </a:defRPr>
            </a:pPr>
            <a:r>
              <a:t>Extend pipeline to cold-form laminates, PVDC, and auxiliary foils.</a:t>
            </a:r>
          </a:p>
        </p:txBody>
      </p:sp>
      <p:cxnSp>
        <p:nvCxnSpPr>
          <p:cNvPr id="41" name="Connector 40"/>
          <p:cNvCxnSpPr/>
          <p:nvPr/>
        </p:nvCxnSpPr>
        <p:spPr>
          <a:xfrm>
            <a:off x="502920" y="55321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2920" y="5632704"/>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Our clear ask to ACG leadership</a:t>
            </a:r>
          </a:p>
        </p:txBody>
      </p:sp>
      <p:sp>
        <p:nvSpPr>
          <p:cNvPr id="43" name="TextBox 42"/>
          <p:cNvSpPr txBox="1"/>
          <p:nvPr/>
        </p:nvSpPr>
        <p:spPr>
          <a:xfrm>
            <a:off x="502920"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1. Data access</a:t>
            </a:r>
          </a:p>
        </p:txBody>
      </p:sp>
      <p:sp>
        <p:nvSpPr>
          <p:cNvPr id="44" name="TextBox 43"/>
          <p:cNvSpPr txBox="1"/>
          <p:nvPr/>
        </p:nvSpPr>
        <p:spPr>
          <a:xfrm>
            <a:off x="502920"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Anonymised 12–24 month PO history for aluminium foil and PVC resin, to calibrate the overlay.</a:t>
            </a:r>
          </a:p>
        </p:txBody>
      </p:sp>
      <p:sp>
        <p:nvSpPr>
          <p:cNvPr id="45" name="TextBox 44"/>
          <p:cNvSpPr txBox="1"/>
          <p:nvPr/>
        </p:nvSpPr>
        <p:spPr>
          <a:xfrm>
            <a:off x="3364991"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2. Stakeholder time</a:t>
            </a:r>
          </a:p>
        </p:txBody>
      </p:sp>
      <p:sp>
        <p:nvSpPr>
          <p:cNvPr id="46" name="TextBox 45"/>
          <p:cNvSpPr txBox="1"/>
          <p:nvPr/>
        </p:nvSpPr>
        <p:spPr>
          <a:xfrm>
            <a:off x="3364991"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1 sourcing sponsor + 1 buyer per commodity for 90 days, about two hours a month each.</a:t>
            </a:r>
          </a:p>
        </p:txBody>
      </p:sp>
      <p:sp>
        <p:nvSpPr>
          <p:cNvPr id="47" name="TextBox 46"/>
          <p:cNvSpPr txBox="1"/>
          <p:nvPr/>
        </p:nvSpPr>
        <p:spPr>
          <a:xfrm>
            <a:off x="6227064"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3. Greenlight</a:t>
            </a:r>
          </a:p>
        </p:txBody>
      </p:sp>
      <p:sp>
        <p:nvSpPr>
          <p:cNvPr id="48" name="TextBox 47"/>
          <p:cNvSpPr txBox="1"/>
          <p:nvPr/>
        </p:nvSpPr>
        <p:spPr>
          <a:xfrm>
            <a:off x="6227064"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Approval for a zero-capex 90-day shadow pilot with pre-set gates and kill switches.</a:t>
            </a:r>
          </a:p>
        </p:txBody>
      </p:sp>
      <p:sp>
        <p:nvSpPr>
          <p:cNvPr id="49" name="TextBox 48"/>
          <p:cNvSpPr txBox="1"/>
          <p:nvPr/>
        </p:nvSpPr>
        <p:spPr>
          <a:xfrm>
            <a:off x="9089136"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4. Measurable outcome</a:t>
            </a:r>
          </a:p>
        </p:txBody>
      </p:sp>
      <p:sp>
        <p:nvSpPr>
          <p:cNvPr id="50" name="TextBox 49"/>
          <p:cNvSpPr txBox="1"/>
          <p:nvPr/>
        </p:nvSpPr>
        <p:spPr>
          <a:xfrm>
            <a:off x="9089136"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Measured net saving, a timing test against random, buyer trust and a go/no-go, before buying changes.</a:t>
            </a:r>
          </a:p>
        </p:txBody>
      </p:sp>
      <p:sp>
        <p:nvSpPr>
          <p:cNvPr id="51" name="TextBox 50"/>
          <p:cNvSpPr txBox="1"/>
          <p:nvPr/>
        </p:nvSpPr>
        <p:spPr>
          <a:xfrm>
            <a:off x="502920" y="660196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ACG problem statement: RM spend, inventory days, and working capital. [2] Rupee figures use a ₹100 Cr baseline spend and no confidential ACG data. [3] Audit trail: CHANGES.md in the submitted repository.</a:t>
            </a:r>
          </a:p>
        </p:txBody>
      </p:sp>
      <p:sp>
        <p:nvSpPr>
          <p:cNvPr id="52" name="TextBox 51"/>
          <p:cNvSpPr txBox="1"/>
          <p:nvPr/>
        </p:nvSpPr>
        <p:spPr>
          <a:xfrm>
            <a:off x="10957255" y="660196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